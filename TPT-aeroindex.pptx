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7" r:id="rId6"/>
    <p:sldId id="268" r:id="rId7"/>
    <p:sldId id="262" r:id="rId8"/>
    <p:sldId id="266" r:id="rId9"/>
    <p:sldId id="264" r:id="rId10"/>
    <p:sldId id="265" r:id="rId11"/>
  </p:sldIdLst>
  <p:sldSz cx="18288000" cy="10287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userDrawn="1">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874" y="43"/>
      </p:cViewPr>
      <p:guideLst>
        <p:guide orient="horz" pos="2174"/>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FFB590-A5A2-44ED-8BE7-0DA9540EA2F2}" type="datetimeFigureOut">
              <a:rPr lang="en-IN" smtClean="0"/>
              <a:t>21-09-2026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67BC97-5016-4F53-9528-948E6678FFDF}" type="slidenum">
              <a:rPr lang="en-IN" smtClean="0"/>
              <a:t>‹#›</a:t>
            </a:fld>
            <a:endParaRPr lang="en-IN"/>
          </a:p>
        </p:txBody>
      </p:sp>
    </p:spTree>
    <p:extLst>
      <p:ext uri="{BB962C8B-B14F-4D97-AF65-F5344CB8AC3E}">
        <p14:creationId xmlns:p14="http://schemas.microsoft.com/office/powerpoint/2010/main" val="1941458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546861" y="1077747"/>
            <a:ext cx="6957908" cy="7732452"/>
          </a:xfrm>
          <a:custGeom>
            <a:avLst/>
            <a:gdLst/>
            <a:ahLst/>
            <a:cxnLst/>
            <a:rect l="l" t="t" r="r" b="b"/>
            <a:pathLst>
              <a:path w="6957908" h="7732452">
                <a:moveTo>
                  <a:pt x="0" y="0"/>
                </a:moveTo>
                <a:lnTo>
                  <a:pt x="6957908" y="0"/>
                </a:lnTo>
                <a:lnTo>
                  <a:pt x="6957908" y="7732453"/>
                </a:lnTo>
                <a:lnTo>
                  <a:pt x="0" y="773245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2430511" y="3008659"/>
            <a:ext cx="4805267" cy="5139357"/>
            <a:chOff x="0" y="0"/>
            <a:chExt cx="6407023" cy="6852476"/>
          </a:xfrm>
        </p:grpSpPr>
        <p:sp>
          <p:nvSpPr>
            <p:cNvPr id="4" name="Freeform 4"/>
            <p:cNvSpPr/>
            <p:nvPr/>
          </p:nvSpPr>
          <p:spPr>
            <a:xfrm>
              <a:off x="0" y="0"/>
              <a:ext cx="6407023" cy="6852412"/>
            </a:xfrm>
            <a:custGeom>
              <a:avLst/>
              <a:gdLst/>
              <a:ahLst/>
              <a:cxnLst/>
              <a:rect l="l" t="t" r="r" b="b"/>
              <a:pathLst>
                <a:path w="6407023" h="6852412">
                  <a:moveTo>
                    <a:pt x="0" y="0"/>
                  </a:moveTo>
                  <a:lnTo>
                    <a:pt x="6407023" y="0"/>
                  </a:lnTo>
                  <a:lnTo>
                    <a:pt x="6407023" y="6852412"/>
                  </a:lnTo>
                  <a:lnTo>
                    <a:pt x="0" y="6852412"/>
                  </a:lnTo>
                  <a:lnTo>
                    <a:pt x="0" y="0"/>
                  </a:lnTo>
                  <a:close/>
                </a:path>
              </a:pathLst>
            </a:custGeom>
            <a:blipFill>
              <a:blip r:embed="rId3"/>
              <a:stretch>
                <a:fillRect r="-149475" b="-1"/>
              </a:stretch>
            </a:blipFill>
          </p:spPr>
        </p:sp>
      </p:grpSp>
      <p:sp>
        <p:nvSpPr>
          <p:cNvPr id="5" name="TextBox 5"/>
          <p:cNvSpPr txBox="1"/>
          <p:nvPr/>
        </p:nvSpPr>
        <p:spPr>
          <a:xfrm>
            <a:off x="1959969" y="990067"/>
            <a:ext cx="12618720" cy="2566035"/>
          </a:xfrm>
          <a:prstGeom prst="rect">
            <a:avLst/>
          </a:prstGeom>
        </p:spPr>
        <p:txBody>
          <a:bodyPr lIns="0" tIns="0" rIns="0" bIns="0" rtlCol="0" anchor="t">
            <a:spAutoFit/>
          </a:bodyPr>
          <a:lstStyle/>
          <a:p>
            <a:pPr algn="ctr">
              <a:lnSpc>
                <a:spcPts val="5759"/>
              </a:lnSpc>
            </a:pPr>
            <a:endParaRPr/>
          </a:p>
          <a:p>
            <a:pPr algn="ctr">
              <a:lnSpc>
                <a:spcPts val="5759"/>
              </a:lnSpc>
            </a:pPr>
            <a:r>
              <a:rPr lang="en-US" sz="4800" b="1">
                <a:solidFill>
                  <a:srgbClr val="000000"/>
                </a:solidFill>
                <a:latin typeface="Times New Roman Bold"/>
                <a:ea typeface="Times New Roman Bold"/>
                <a:cs typeface="Times New Roman Bold"/>
                <a:sym typeface="Times New Roman Bold"/>
              </a:rPr>
              <a:t>TITLE PAGE</a:t>
            </a:r>
          </a:p>
        </p:txBody>
      </p:sp>
      <p:grpSp>
        <p:nvGrpSpPr>
          <p:cNvPr id="6" name="Group 6"/>
          <p:cNvGrpSpPr/>
          <p:nvPr/>
        </p:nvGrpSpPr>
        <p:grpSpPr>
          <a:xfrm>
            <a:off x="1028700" y="-827303"/>
            <a:ext cx="15544800" cy="3114675"/>
            <a:chOff x="0" y="0"/>
            <a:chExt cx="20726400" cy="4152900"/>
          </a:xfrm>
        </p:grpSpPr>
        <p:sp>
          <p:nvSpPr>
            <p:cNvPr id="7" name="Freeform 7"/>
            <p:cNvSpPr/>
            <p:nvPr/>
          </p:nvSpPr>
          <p:spPr>
            <a:xfrm>
              <a:off x="0" y="0"/>
              <a:ext cx="20726400" cy="4152900"/>
            </a:xfrm>
            <a:custGeom>
              <a:avLst/>
              <a:gdLst/>
              <a:ahLst/>
              <a:cxnLst/>
              <a:rect l="l" t="t" r="r" b="b"/>
              <a:pathLst>
                <a:path w="20726400" h="4152900">
                  <a:moveTo>
                    <a:pt x="0" y="0"/>
                  </a:moveTo>
                  <a:lnTo>
                    <a:pt x="20726400" y="0"/>
                  </a:lnTo>
                  <a:lnTo>
                    <a:pt x="20726400" y="4152900"/>
                  </a:lnTo>
                  <a:lnTo>
                    <a:pt x="0" y="4152900"/>
                  </a:lnTo>
                  <a:close/>
                </a:path>
              </a:pathLst>
            </a:custGeom>
            <a:blipFill>
              <a:blip r:embed="rId4">
                <a:alphaModFix amt="0"/>
              </a:blip>
              <a:stretch>
                <a:fillRect t="-47246" b="-47246"/>
              </a:stretch>
            </a:blipFill>
          </p:spPr>
        </p:sp>
        <p:sp>
          <p:nvSpPr>
            <p:cNvPr id="8" name="TextBox 8"/>
            <p:cNvSpPr txBox="1"/>
            <p:nvPr/>
          </p:nvSpPr>
          <p:spPr>
            <a:xfrm>
              <a:off x="0" y="-19050"/>
              <a:ext cx="20726400" cy="4171950"/>
            </a:xfrm>
            <a:prstGeom prst="rect">
              <a:avLst/>
            </a:prstGeom>
          </p:spPr>
          <p:txBody>
            <a:bodyPr lIns="0" tIns="0" rIns="0" bIns="0" rtlCol="0" anchor="ctr"/>
            <a:lstStyle/>
            <a:p>
              <a:pPr algn="ctr">
                <a:lnSpc>
                  <a:spcPts val="7200"/>
                </a:lnSpc>
              </a:pPr>
              <a:r>
                <a:rPr lang="en-US" sz="6000" b="1">
                  <a:solidFill>
                    <a:srgbClr val="1F497D"/>
                  </a:solidFill>
                  <a:latin typeface="Garamond Bold"/>
                  <a:ea typeface="Garamond Bold"/>
                  <a:cs typeface="Garamond Bold"/>
                  <a:sym typeface="Garamond Bold"/>
                </a:rPr>
                <a:t>SMART INDIA HACKATHON 2026</a:t>
              </a:r>
            </a:p>
          </p:txBody>
        </p:sp>
      </p:grpSp>
      <p:sp>
        <p:nvSpPr>
          <p:cNvPr id="9" name="Freeform 9"/>
          <p:cNvSpPr/>
          <p:nvPr/>
        </p:nvSpPr>
        <p:spPr>
          <a:xfrm>
            <a:off x="15087600" y="8075"/>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5"/>
            <a:stretch>
              <a:fillRect/>
            </a:stretch>
          </a:blipFill>
        </p:spPr>
      </p:sp>
      <p:sp>
        <p:nvSpPr>
          <p:cNvPr id="10" name="TextBox 10"/>
          <p:cNvSpPr txBox="1"/>
          <p:nvPr/>
        </p:nvSpPr>
        <p:spPr>
          <a:xfrm>
            <a:off x="603609" y="1877640"/>
            <a:ext cx="8703945" cy="8100872"/>
          </a:xfrm>
          <a:prstGeom prst="rect">
            <a:avLst/>
          </a:prstGeom>
        </p:spPr>
        <p:txBody>
          <a:bodyPr lIns="0" tIns="0" rIns="0" bIns="0" rtlCol="0" anchor="t">
            <a:spAutoFit/>
          </a:bodyPr>
          <a:lstStyle/>
          <a:p>
            <a:pPr algn="l">
              <a:lnSpc>
                <a:spcPts val="4320"/>
              </a:lnSpc>
            </a:pPr>
            <a:endParaRPr dirty="0"/>
          </a:p>
          <a:p>
            <a:pPr marL="651510" lvl="1" indent="-325755" algn="just">
              <a:lnSpc>
                <a:spcPts val="8640"/>
              </a:lnSpc>
              <a:buFont typeface="Arial"/>
              <a:buChar char="•"/>
            </a:pPr>
            <a:r>
              <a:rPr lang="en-US" sz="3600" b="1" dirty="0">
                <a:solidFill>
                  <a:srgbClr val="000000"/>
                </a:solidFill>
                <a:latin typeface="Arial Bold"/>
                <a:ea typeface="Arial Bold"/>
                <a:cs typeface="Arial Bold"/>
                <a:sym typeface="Arial Bold"/>
              </a:rPr>
              <a:t>Problem Statement ID – </a:t>
            </a:r>
            <a:r>
              <a:rPr lang="en-US" sz="2800" b="1" dirty="0">
                <a:solidFill>
                  <a:srgbClr val="000000"/>
                </a:solidFill>
                <a:latin typeface="Arial Bold"/>
                <a:ea typeface="Arial Bold"/>
                <a:cs typeface="Arial Bold"/>
                <a:sym typeface="Arial Bold"/>
              </a:rPr>
              <a:t>SIH26056</a:t>
            </a:r>
            <a:endParaRPr lang="en-US" sz="3600" b="1" dirty="0">
              <a:solidFill>
                <a:srgbClr val="000000"/>
              </a:solidFill>
              <a:latin typeface="Arial Bold"/>
              <a:ea typeface="Arial Bold"/>
              <a:cs typeface="Arial Bold"/>
              <a:sym typeface="Arial Bold"/>
            </a:endParaRPr>
          </a:p>
          <a:p>
            <a:pPr marL="651510" lvl="1" indent="-325755">
              <a:lnSpc>
                <a:spcPts val="8640"/>
              </a:lnSpc>
              <a:buFont typeface="Arial"/>
              <a:buChar char="•"/>
            </a:pPr>
            <a:r>
              <a:rPr lang="en-US" sz="3600" b="1" dirty="0">
                <a:solidFill>
                  <a:srgbClr val="000000"/>
                </a:solidFill>
                <a:latin typeface="Arial Bold"/>
                <a:ea typeface="Arial Bold"/>
                <a:cs typeface="Arial Bold"/>
                <a:sym typeface="Arial Bold"/>
              </a:rPr>
              <a:t>Problem Statement Title- </a:t>
            </a:r>
            <a:r>
              <a:rPr lang="en-US" sz="2800" b="1" dirty="0">
                <a:solidFill>
                  <a:srgbClr val="000000"/>
                </a:solidFill>
                <a:latin typeface="Arial Bold"/>
                <a:ea typeface="Arial Bold"/>
                <a:cs typeface="Arial Bold"/>
                <a:sym typeface="Arial Bold"/>
              </a:rPr>
              <a:t>Development of a Real-time Airfare Price Index for India</a:t>
            </a:r>
          </a:p>
          <a:p>
            <a:pPr marL="651510" lvl="1" indent="-325755" algn="just">
              <a:lnSpc>
                <a:spcPts val="8640"/>
              </a:lnSpc>
              <a:buFont typeface="Arial"/>
              <a:buChar char="•"/>
            </a:pPr>
            <a:r>
              <a:rPr lang="en-US" sz="3600" b="1" dirty="0">
                <a:solidFill>
                  <a:srgbClr val="000000"/>
                </a:solidFill>
                <a:latin typeface="Arial Bold"/>
                <a:ea typeface="Arial Bold"/>
                <a:cs typeface="Arial Bold"/>
                <a:sym typeface="Arial Bold"/>
              </a:rPr>
              <a:t>Theme- </a:t>
            </a:r>
            <a:r>
              <a:rPr lang="en-US" sz="2800" b="1" dirty="0">
                <a:solidFill>
                  <a:srgbClr val="000000"/>
                </a:solidFill>
                <a:latin typeface="Arial Bold"/>
                <a:ea typeface="Arial Bold"/>
                <a:cs typeface="Arial Bold"/>
                <a:sym typeface="Arial Bold"/>
              </a:rPr>
              <a:t>Travel and Tourism</a:t>
            </a:r>
            <a:endParaRPr lang="en-US" sz="3600" b="1" dirty="0">
              <a:solidFill>
                <a:srgbClr val="000000"/>
              </a:solidFill>
              <a:latin typeface="Arial Bold"/>
              <a:ea typeface="Arial Bold"/>
              <a:cs typeface="Arial Bold"/>
              <a:sym typeface="Arial Bold"/>
            </a:endParaRPr>
          </a:p>
          <a:p>
            <a:pPr marL="651510" lvl="1" indent="-325755" algn="just">
              <a:lnSpc>
                <a:spcPts val="8640"/>
              </a:lnSpc>
              <a:buFont typeface="Arial"/>
              <a:buChar char="•"/>
            </a:pPr>
            <a:r>
              <a:rPr lang="en-US" sz="3600" b="1" dirty="0">
                <a:solidFill>
                  <a:srgbClr val="000000"/>
                </a:solidFill>
                <a:latin typeface="Arial Bold"/>
                <a:ea typeface="Arial Bold"/>
                <a:cs typeface="Arial Bold"/>
                <a:sym typeface="Arial Bold"/>
              </a:rPr>
              <a:t>PS Category- Software</a:t>
            </a:r>
          </a:p>
          <a:p>
            <a:pPr marL="651510" lvl="1" indent="-325755" algn="just">
              <a:lnSpc>
                <a:spcPts val="8640"/>
              </a:lnSpc>
              <a:buFont typeface="Arial"/>
              <a:buChar char="•"/>
            </a:pPr>
            <a:r>
              <a:rPr lang="en-US" sz="3600" b="1" dirty="0">
                <a:solidFill>
                  <a:srgbClr val="000000"/>
                </a:solidFill>
                <a:latin typeface="Arial Bold"/>
                <a:ea typeface="Arial Bold"/>
                <a:cs typeface="Arial Bold"/>
                <a:sym typeface="Arial Bold"/>
              </a:rPr>
              <a:t>Team ID-</a:t>
            </a:r>
          </a:p>
          <a:p>
            <a:pPr marL="651510" lvl="1" indent="-325755" algn="just">
              <a:lnSpc>
                <a:spcPts val="8640"/>
              </a:lnSpc>
              <a:buFont typeface="Arial"/>
              <a:buChar char="•"/>
            </a:pPr>
            <a:r>
              <a:rPr lang="en-US" sz="3600" b="1" dirty="0">
                <a:solidFill>
                  <a:srgbClr val="000000"/>
                </a:solidFill>
                <a:latin typeface="Arial Bold"/>
                <a:ea typeface="Arial Bold"/>
                <a:cs typeface="Arial Bold"/>
                <a:sym typeface="Arial Bold"/>
              </a:rPr>
              <a:t>Team Name – </a:t>
            </a:r>
            <a:r>
              <a:rPr lang="en-US" sz="3200" b="1" dirty="0">
                <a:solidFill>
                  <a:srgbClr val="000000"/>
                </a:solidFill>
                <a:latin typeface="Arial Bold"/>
                <a:ea typeface="Arial Bold"/>
                <a:cs typeface="Arial Bold"/>
                <a:sym typeface="Arial Bold"/>
              </a:rPr>
              <a:t>The Phantom Troupe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274501" y="0"/>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endParaRPr/>
            </a:p>
            <a:p>
              <a:pPr algn="ctr">
                <a:lnSpc>
                  <a:spcPts val="6480"/>
                </a:lnSpc>
              </a:pPr>
              <a:r>
                <a:rPr lang="en-US" sz="5400" b="1">
                  <a:solidFill>
                    <a:srgbClr val="000000"/>
                  </a:solidFill>
                  <a:latin typeface="Times New Roman Bold"/>
                  <a:ea typeface="Times New Roman Bold"/>
                  <a:cs typeface="Times New Roman Bold"/>
                  <a:sym typeface="Times New Roman Bold"/>
                </a:rPr>
                <a:t>IDEA TITLE</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2</a:t>
              </a:r>
            </a:p>
          </p:txBody>
        </p:sp>
      </p:grpSp>
      <p:grpSp>
        <p:nvGrpSpPr>
          <p:cNvPr id="10" name="Group 10"/>
          <p:cNvGrpSpPr/>
          <p:nvPr/>
        </p:nvGrpSpPr>
        <p:grpSpPr>
          <a:xfrm>
            <a:off x="6972300"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3" name="Group 13"/>
          <p:cNvGrpSpPr/>
          <p:nvPr/>
        </p:nvGrpSpPr>
        <p:grpSpPr>
          <a:xfrm>
            <a:off x="475612" y="359321"/>
            <a:ext cx="1915887" cy="1249099"/>
            <a:chOff x="0" y="0"/>
            <a:chExt cx="2554516" cy="1665465"/>
          </a:xfrm>
        </p:grpSpPr>
        <p:sp>
          <p:nvSpPr>
            <p:cNvPr id="14" name="Freeform 14"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sp>
        <p:sp>
          <p:nvSpPr>
            <p:cNvPr id="15" name="TextBox 15"/>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 Phantom Troupe</a:t>
              </a:r>
            </a:p>
          </p:txBody>
        </p:sp>
      </p:grpSp>
      <p:sp>
        <p:nvSpPr>
          <p:cNvPr id="16" name="Freeform 16"/>
          <p:cNvSpPr/>
          <p:nvPr/>
        </p:nvSpPr>
        <p:spPr>
          <a:xfrm>
            <a:off x="15003633" y="135291"/>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3"/>
            <a:stretch>
              <a:fillRect/>
            </a:stretch>
          </a:blipFill>
        </p:spPr>
      </p:sp>
      <p:sp>
        <p:nvSpPr>
          <p:cNvPr id="20" name="TextBox 19">
            <a:extLst>
              <a:ext uri="{FF2B5EF4-FFF2-40B4-BE49-F238E27FC236}">
                <a16:creationId xmlns:a16="http://schemas.microsoft.com/office/drawing/2014/main" id="{204AC984-2C9F-0382-98AD-33D322FFB2EA}"/>
              </a:ext>
            </a:extLst>
          </p:cNvPr>
          <p:cNvSpPr txBox="1"/>
          <p:nvPr/>
        </p:nvSpPr>
        <p:spPr>
          <a:xfrm>
            <a:off x="723900" y="1735931"/>
            <a:ext cx="8618220" cy="7478970"/>
          </a:xfrm>
          <a:prstGeom prst="rect">
            <a:avLst/>
          </a:prstGeom>
          <a:noFill/>
        </p:spPr>
        <p:txBody>
          <a:bodyPr wrap="square" rtlCol="0">
            <a:spAutoFit/>
          </a:bodyPr>
          <a:lstStyle/>
          <a:p>
            <a:r>
              <a:rPr lang="en-IN" sz="2800" b="1" u="sng" dirty="0"/>
              <a:t>Proposed Solution</a:t>
            </a:r>
            <a:r>
              <a:rPr lang="en-IN" sz="3200" b="1" u="sng" dirty="0"/>
              <a:t> </a:t>
            </a:r>
            <a:r>
              <a:rPr lang="en-IN" sz="3200" b="1" dirty="0"/>
              <a:t>- </a:t>
            </a:r>
          </a:p>
          <a:p>
            <a:pPr marL="457200" indent="-457200">
              <a:buFont typeface="Arial" panose="020B0604020202020204" pitchFamily="34" charset="0"/>
              <a:buChar char="•"/>
            </a:pPr>
            <a:r>
              <a:rPr lang="en-US" sz="2800" dirty="0"/>
              <a:t>An automated, high-frequency data pipeline that extracts volatile flight prices to compute a drift-free, real-time macroeconomic inflation index.</a:t>
            </a:r>
          </a:p>
          <a:p>
            <a:endParaRPr lang="en-US" sz="2800" b="1" u="sng" dirty="0"/>
          </a:p>
          <a:p>
            <a:r>
              <a:rPr lang="en-US" sz="2800" b="1" u="sng" dirty="0"/>
              <a:t>How it Addresses the Problem</a:t>
            </a:r>
            <a:r>
              <a:rPr lang="en-US" sz="2800" b="1" dirty="0"/>
              <a:t> – </a:t>
            </a:r>
          </a:p>
          <a:p>
            <a:pPr marL="457200" indent="-457200">
              <a:buFont typeface="Arial" panose="020B0604020202020204" pitchFamily="34" charset="0"/>
              <a:buChar char="•"/>
            </a:pPr>
            <a:r>
              <a:rPr lang="en-US" sz="2800" dirty="0"/>
              <a:t>Replaces </a:t>
            </a:r>
            <a:r>
              <a:rPr lang="en-US" sz="2800" dirty="0" err="1"/>
              <a:t>MoSPI's</a:t>
            </a:r>
            <a:r>
              <a:rPr lang="en-US" sz="2800" dirty="0"/>
              <a:t> lagging manual data collection with automated scraping. It neutralizes the mathematical "chain drift" caused by extreme airline pricing volatility.</a:t>
            </a:r>
          </a:p>
          <a:p>
            <a:endParaRPr lang="en-US" sz="2800" b="1" u="sng" dirty="0"/>
          </a:p>
          <a:p>
            <a:r>
              <a:rPr lang="en-US" sz="2800" b="1" u="sng" dirty="0"/>
              <a:t>Innovation and Uniqueness</a:t>
            </a:r>
            <a:r>
              <a:rPr lang="en-US" sz="2800" b="1" dirty="0"/>
              <a:t> - </a:t>
            </a:r>
          </a:p>
          <a:p>
            <a:pPr marL="457200" indent="-457200">
              <a:buFont typeface="Arial" panose="020B0604020202020204" pitchFamily="34" charset="0"/>
              <a:buChar char="•"/>
            </a:pPr>
            <a:r>
              <a:rPr lang="en-US" sz="2800" dirty="0"/>
              <a:t>Completely bypasses enterprise Web Application Firewalls (WAFs) using TLS fingerprint impersonation. Uses the Rolling Year GEKS-</a:t>
            </a:r>
            <a:r>
              <a:rPr lang="en-US" sz="2800" dirty="0" err="1"/>
              <a:t>Törnqvist</a:t>
            </a:r>
            <a:r>
              <a:rPr lang="en-US" sz="2800" dirty="0"/>
              <a:t> (RYGEKS-T) formula, the exact standard used by Eurostat and the UK ONS, rather than flawed basic averages.</a:t>
            </a:r>
          </a:p>
        </p:txBody>
      </p:sp>
      <p:pic>
        <p:nvPicPr>
          <p:cNvPr id="22" name="Picture 21">
            <a:extLst>
              <a:ext uri="{FF2B5EF4-FFF2-40B4-BE49-F238E27FC236}">
                <a16:creationId xmlns:a16="http://schemas.microsoft.com/office/drawing/2014/main" id="{C294C55A-3413-361E-4829-C109CF3F32D0}"/>
              </a:ext>
            </a:extLst>
          </p:cNvPr>
          <p:cNvPicPr>
            <a:picLocks noChangeAspect="1"/>
          </p:cNvPicPr>
          <p:nvPr/>
        </p:nvPicPr>
        <p:blipFill>
          <a:blip r:embed="rId4"/>
          <a:stretch>
            <a:fillRect/>
          </a:stretch>
        </p:blipFill>
        <p:spPr>
          <a:xfrm>
            <a:off x="10294801" y="2245103"/>
            <a:ext cx="6438900" cy="515765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662625" y="126621"/>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TECHNICAL APPROACH</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3</a:t>
              </a:r>
            </a:p>
          </p:txBody>
        </p:sp>
      </p:grpSp>
      <p:grpSp>
        <p:nvGrpSpPr>
          <p:cNvPr id="10" name="Group 10"/>
          <p:cNvGrpSpPr/>
          <p:nvPr/>
        </p:nvGrpSpPr>
        <p:grpSpPr>
          <a:xfrm>
            <a:off x="6972300"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3" name="Group 13"/>
          <p:cNvGrpSpPr/>
          <p:nvPr/>
        </p:nvGrpSpPr>
        <p:grpSpPr>
          <a:xfrm>
            <a:off x="475612" y="359321"/>
            <a:ext cx="1915887" cy="1249099"/>
            <a:chOff x="0" y="0"/>
            <a:chExt cx="2554516" cy="1665465"/>
          </a:xfrm>
        </p:grpSpPr>
        <p:sp>
          <p:nvSpPr>
            <p:cNvPr id="14" name="Freeform 14"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sp>
        <p:sp>
          <p:nvSpPr>
            <p:cNvPr id="15" name="TextBox 15"/>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 Phantom Troupe</a:t>
              </a:r>
            </a:p>
          </p:txBody>
        </p:sp>
      </p:grpSp>
      <p:sp>
        <p:nvSpPr>
          <p:cNvPr id="16" name="Freeform 16"/>
          <p:cNvSpPr/>
          <p:nvPr/>
        </p:nvSpPr>
        <p:spPr>
          <a:xfrm>
            <a:off x="14703684" y="164502"/>
            <a:ext cx="3290239" cy="1557071"/>
          </a:xfrm>
          <a:custGeom>
            <a:avLst/>
            <a:gdLst/>
            <a:ahLst/>
            <a:cxnLst/>
            <a:rect l="l" t="t" r="r" b="b"/>
            <a:pathLst>
              <a:path w="3290239" h="1557071">
                <a:moveTo>
                  <a:pt x="0" y="0"/>
                </a:moveTo>
                <a:lnTo>
                  <a:pt x="3290239" y="0"/>
                </a:lnTo>
                <a:lnTo>
                  <a:pt x="3290239" y="1557071"/>
                </a:lnTo>
                <a:lnTo>
                  <a:pt x="0" y="1557071"/>
                </a:lnTo>
                <a:lnTo>
                  <a:pt x="0" y="0"/>
                </a:lnTo>
                <a:close/>
              </a:path>
            </a:pathLst>
          </a:custGeom>
          <a:blipFill>
            <a:blip r:embed="rId3"/>
            <a:stretch>
              <a:fillRect/>
            </a:stretch>
          </a:blipFill>
        </p:spPr>
      </p:sp>
      <p:sp>
        <p:nvSpPr>
          <p:cNvPr id="20" name="TextBox 19">
            <a:extLst>
              <a:ext uri="{FF2B5EF4-FFF2-40B4-BE49-F238E27FC236}">
                <a16:creationId xmlns:a16="http://schemas.microsoft.com/office/drawing/2014/main" id="{04B9156C-99B4-747D-7D9A-C3F319802AA6}"/>
              </a:ext>
            </a:extLst>
          </p:cNvPr>
          <p:cNvSpPr txBox="1"/>
          <p:nvPr/>
        </p:nvSpPr>
        <p:spPr>
          <a:xfrm>
            <a:off x="662625" y="2030958"/>
            <a:ext cx="6309675" cy="1077218"/>
          </a:xfrm>
          <a:prstGeom prst="rect">
            <a:avLst/>
          </a:prstGeom>
          <a:noFill/>
        </p:spPr>
        <p:txBody>
          <a:bodyPr wrap="square" rtlCol="0">
            <a:spAutoFit/>
          </a:bodyPr>
          <a:lstStyle/>
          <a:p>
            <a:r>
              <a:rPr lang="en-IN" sz="3200" b="1" u="sng" dirty="0">
                <a:solidFill>
                  <a:schemeClr val="tx2"/>
                </a:solidFill>
              </a:rPr>
              <a:t>Technologies to be used </a:t>
            </a:r>
            <a:r>
              <a:rPr lang="en-IN" sz="3200" b="1" dirty="0">
                <a:solidFill>
                  <a:schemeClr val="tx2"/>
                </a:solidFill>
              </a:rPr>
              <a:t>–</a:t>
            </a:r>
          </a:p>
          <a:p>
            <a:endParaRPr lang="en-IN" sz="3200" b="1" u="sng" dirty="0">
              <a:solidFill>
                <a:schemeClr val="tx2"/>
              </a:solidFill>
            </a:endParaRPr>
          </a:p>
        </p:txBody>
      </p:sp>
      <p:sp>
        <p:nvSpPr>
          <p:cNvPr id="22" name="Rectangle: Rounded Corners 21">
            <a:extLst>
              <a:ext uri="{FF2B5EF4-FFF2-40B4-BE49-F238E27FC236}">
                <a16:creationId xmlns:a16="http://schemas.microsoft.com/office/drawing/2014/main" id="{2AED682A-D994-F85C-D894-B2D0E4B76271}"/>
              </a:ext>
            </a:extLst>
          </p:cNvPr>
          <p:cNvSpPr/>
          <p:nvPr/>
        </p:nvSpPr>
        <p:spPr>
          <a:xfrm>
            <a:off x="662625" y="2779910"/>
            <a:ext cx="4145280" cy="1356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u="sng" dirty="0"/>
              <a:t>Extraction</a:t>
            </a:r>
            <a:r>
              <a:rPr lang="en-IN" sz="2400" b="1" dirty="0"/>
              <a:t> –</a:t>
            </a:r>
          </a:p>
          <a:p>
            <a:pPr algn="ctr"/>
            <a:r>
              <a:rPr lang="en-IN" sz="2000" dirty="0" err="1"/>
              <a:t>curl_cffi</a:t>
            </a:r>
            <a:r>
              <a:rPr lang="en-IN" sz="2000" dirty="0"/>
              <a:t> (Chrome TLS impersonation) and </a:t>
            </a:r>
            <a:r>
              <a:rPr lang="en-IN" sz="2000" dirty="0" err="1"/>
              <a:t>camoufox</a:t>
            </a:r>
            <a:r>
              <a:rPr lang="en-IN" sz="2000" dirty="0"/>
              <a:t> (OS-level JavaScript bypass).</a:t>
            </a:r>
          </a:p>
        </p:txBody>
      </p:sp>
      <p:sp>
        <p:nvSpPr>
          <p:cNvPr id="23" name="Rectangle: Rounded Corners 22">
            <a:extLst>
              <a:ext uri="{FF2B5EF4-FFF2-40B4-BE49-F238E27FC236}">
                <a16:creationId xmlns:a16="http://schemas.microsoft.com/office/drawing/2014/main" id="{750745BF-D2A5-0160-3374-A188D75435B6}"/>
              </a:ext>
            </a:extLst>
          </p:cNvPr>
          <p:cNvSpPr/>
          <p:nvPr/>
        </p:nvSpPr>
        <p:spPr>
          <a:xfrm>
            <a:off x="662625" y="4465320"/>
            <a:ext cx="4145280" cy="1356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u="sng" dirty="0"/>
              <a:t>Pipeline and Storages</a:t>
            </a:r>
            <a:r>
              <a:rPr lang="en-IN" sz="2400" b="1" dirty="0"/>
              <a:t> –</a:t>
            </a:r>
          </a:p>
          <a:p>
            <a:pPr algn="ctr"/>
            <a:r>
              <a:rPr lang="en-US" dirty="0"/>
              <a:t>Polars (multithreaded cleaning) and </a:t>
            </a:r>
            <a:r>
              <a:rPr lang="en-US" dirty="0" err="1"/>
              <a:t>TimescaleDB</a:t>
            </a:r>
            <a:r>
              <a:rPr lang="en-US" dirty="0"/>
              <a:t> (</a:t>
            </a:r>
            <a:r>
              <a:rPr lang="en-US" dirty="0" err="1"/>
              <a:t>hypertables</a:t>
            </a:r>
            <a:r>
              <a:rPr lang="en-US" dirty="0"/>
              <a:t> and continuous aggregates for speed).</a:t>
            </a:r>
            <a:endParaRPr lang="en-IN" dirty="0"/>
          </a:p>
        </p:txBody>
      </p:sp>
      <p:sp>
        <p:nvSpPr>
          <p:cNvPr id="24" name="Rectangle: Rounded Corners 23">
            <a:extLst>
              <a:ext uri="{FF2B5EF4-FFF2-40B4-BE49-F238E27FC236}">
                <a16:creationId xmlns:a16="http://schemas.microsoft.com/office/drawing/2014/main" id="{BE4482EF-D223-966E-AF9A-E5FEC90F2D61}"/>
              </a:ext>
            </a:extLst>
          </p:cNvPr>
          <p:cNvSpPr/>
          <p:nvPr/>
        </p:nvSpPr>
        <p:spPr>
          <a:xfrm>
            <a:off x="662625" y="6140460"/>
            <a:ext cx="4145280" cy="1356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u="sng" dirty="0"/>
              <a:t>Math and Backend</a:t>
            </a:r>
            <a:r>
              <a:rPr lang="en-IN" sz="2400" b="1" dirty="0"/>
              <a:t> –</a:t>
            </a:r>
          </a:p>
          <a:p>
            <a:pPr algn="ctr"/>
            <a:r>
              <a:rPr lang="en-US" dirty="0"/>
              <a:t>Python (custom RYGEKS-T script + traditional ARIMA forecasting), </a:t>
            </a:r>
            <a:r>
              <a:rPr lang="en-US" dirty="0" err="1"/>
              <a:t>FastAPI</a:t>
            </a:r>
            <a:r>
              <a:rPr lang="en-US" dirty="0"/>
              <a:t>.</a:t>
            </a:r>
            <a:endParaRPr lang="en-IN" dirty="0"/>
          </a:p>
        </p:txBody>
      </p:sp>
      <p:sp>
        <p:nvSpPr>
          <p:cNvPr id="25" name="Rectangle: Rounded Corners 24">
            <a:extLst>
              <a:ext uri="{FF2B5EF4-FFF2-40B4-BE49-F238E27FC236}">
                <a16:creationId xmlns:a16="http://schemas.microsoft.com/office/drawing/2014/main" id="{08F3C5F4-A659-324A-6233-9D1A4A0FF7DB}"/>
              </a:ext>
            </a:extLst>
          </p:cNvPr>
          <p:cNvSpPr/>
          <p:nvPr/>
        </p:nvSpPr>
        <p:spPr>
          <a:xfrm>
            <a:off x="662625" y="7815600"/>
            <a:ext cx="4145280" cy="1356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u="sng" dirty="0"/>
              <a:t>Frontend</a:t>
            </a:r>
            <a:r>
              <a:rPr lang="en-IN" sz="2400" b="1" dirty="0"/>
              <a:t> –</a:t>
            </a:r>
          </a:p>
          <a:p>
            <a:pPr algn="ctr"/>
            <a:r>
              <a:rPr lang="en-IN" dirty="0"/>
              <a:t>React 18 + TypeScript + Vite + Tailwind CSS</a:t>
            </a:r>
          </a:p>
          <a:p>
            <a:pPr algn="ctr"/>
            <a:endParaRPr lang="en-IN" sz="2400" b="1" u="sng" dirty="0"/>
          </a:p>
        </p:txBody>
      </p:sp>
      <p:cxnSp>
        <p:nvCxnSpPr>
          <p:cNvPr id="27" name="Straight Arrow Connector 26">
            <a:extLst>
              <a:ext uri="{FF2B5EF4-FFF2-40B4-BE49-F238E27FC236}">
                <a16:creationId xmlns:a16="http://schemas.microsoft.com/office/drawing/2014/main" id="{AADB8BA4-DCC2-39FC-DD88-C76341A7520E}"/>
              </a:ext>
            </a:extLst>
          </p:cNvPr>
          <p:cNvCxnSpPr>
            <a:stCxn id="22" idx="2"/>
            <a:endCxn id="23" idx="0"/>
          </p:cNvCxnSpPr>
          <p:nvPr/>
        </p:nvCxnSpPr>
        <p:spPr>
          <a:xfrm>
            <a:off x="2735265" y="4136270"/>
            <a:ext cx="0" cy="3290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275FDDD1-A814-A138-00DB-2E8727373ACE}"/>
              </a:ext>
            </a:extLst>
          </p:cNvPr>
          <p:cNvCxnSpPr>
            <a:stCxn id="23" idx="2"/>
            <a:endCxn id="24" idx="0"/>
          </p:cNvCxnSpPr>
          <p:nvPr/>
        </p:nvCxnSpPr>
        <p:spPr>
          <a:xfrm>
            <a:off x="2735265" y="5821680"/>
            <a:ext cx="0" cy="318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7AE8BE23-2862-B3CA-5CC8-C0278F5A7E1B}"/>
              </a:ext>
            </a:extLst>
          </p:cNvPr>
          <p:cNvCxnSpPr>
            <a:stCxn id="24" idx="2"/>
            <a:endCxn id="25" idx="0"/>
          </p:cNvCxnSpPr>
          <p:nvPr/>
        </p:nvCxnSpPr>
        <p:spPr>
          <a:xfrm>
            <a:off x="2735265" y="7496820"/>
            <a:ext cx="0" cy="318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45DB44FB-C2C7-2160-C501-43E736E19E40}"/>
              </a:ext>
            </a:extLst>
          </p:cNvPr>
          <p:cNvSpPr txBox="1"/>
          <p:nvPr/>
        </p:nvSpPr>
        <p:spPr>
          <a:xfrm>
            <a:off x="6035039" y="2030958"/>
            <a:ext cx="11590333" cy="3231654"/>
          </a:xfrm>
          <a:prstGeom prst="rect">
            <a:avLst/>
          </a:prstGeom>
          <a:noFill/>
        </p:spPr>
        <p:txBody>
          <a:bodyPr wrap="square" rtlCol="0">
            <a:spAutoFit/>
          </a:bodyPr>
          <a:lstStyle/>
          <a:p>
            <a:r>
              <a:rPr lang="en-IN" sz="3200" b="1" u="sng" dirty="0">
                <a:solidFill>
                  <a:schemeClr val="tx2"/>
                </a:solidFill>
              </a:rPr>
              <a:t>Methodology and Process</a:t>
            </a:r>
            <a:r>
              <a:rPr lang="en-IN" sz="3200" b="1" dirty="0">
                <a:solidFill>
                  <a:schemeClr val="tx2"/>
                </a:solidFill>
              </a:rPr>
              <a:t> –</a:t>
            </a:r>
          </a:p>
          <a:p>
            <a:endParaRPr lang="en-IN" sz="3200" b="1" u="sng" dirty="0">
              <a:solidFill>
                <a:schemeClr val="tx2"/>
              </a:solidFill>
            </a:endParaRPr>
          </a:p>
          <a:p>
            <a:pPr marL="457200" indent="-457200">
              <a:buFont typeface="Arial" panose="020B0604020202020204" pitchFamily="34" charset="0"/>
              <a:buChar char="•"/>
            </a:pPr>
            <a:r>
              <a:rPr lang="en-US" sz="2800" dirty="0"/>
              <a:t>Ingest T+1 to T+45 prices across DGCA-weighted routes via our evasion layer.</a:t>
            </a:r>
          </a:p>
          <a:p>
            <a:pPr marL="457200" indent="-457200">
              <a:buFont typeface="Arial" panose="020B0604020202020204" pitchFamily="34" charset="0"/>
              <a:buChar char="•"/>
            </a:pPr>
            <a:r>
              <a:rPr lang="en-US" sz="2800" dirty="0"/>
              <a:t>Clean data via Polars and insert into </a:t>
            </a:r>
            <a:r>
              <a:rPr lang="en-US" sz="2800" dirty="0" err="1"/>
              <a:t>TimescaleDB</a:t>
            </a:r>
            <a:r>
              <a:rPr lang="en-US" sz="2800" dirty="0"/>
              <a:t>.</a:t>
            </a:r>
          </a:p>
          <a:p>
            <a:pPr marL="457200" indent="-457200">
              <a:buFont typeface="Arial" panose="020B0604020202020204" pitchFamily="34" charset="0"/>
              <a:buChar char="•"/>
            </a:pPr>
            <a:r>
              <a:rPr lang="en-US" sz="2800" dirty="0"/>
              <a:t>Calculate the RYGEKS-T index with a Mean Splice.</a:t>
            </a:r>
          </a:p>
          <a:p>
            <a:pPr marL="457200" indent="-457200">
              <a:buFont typeface="Arial" panose="020B0604020202020204" pitchFamily="34" charset="0"/>
              <a:buChar char="•"/>
            </a:pPr>
            <a:r>
              <a:rPr lang="en-US" sz="2800" dirty="0"/>
              <a:t>Serve data to a React UI featuring a deterministic policy simulator.</a:t>
            </a: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63040" y="1616040"/>
            <a:ext cx="15819120" cy="6322914"/>
          </a:xfrm>
          <a:prstGeom prst="rect">
            <a:avLst/>
          </a:prstGeom>
        </p:spPr>
        <p:txBody>
          <a:bodyPr lIns="0" tIns="0" rIns="0" bIns="0" rtlCol="0" anchor="t">
            <a:spAutoFit/>
          </a:bodyPr>
          <a:lstStyle/>
          <a:p>
            <a:pPr algn="l">
              <a:lnSpc>
                <a:spcPts val="5759"/>
              </a:lnSpc>
            </a:pPr>
            <a:r>
              <a:rPr lang="en-US" sz="4800" dirty="0">
                <a:solidFill>
                  <a:srgbClr val="000000"/>
                </a:solidFill>
                <a:latin typeface="Arimo"/>
                <a:ea typeface="Arimo"/>
                <a:cs typeface="Arimo"/>
                <a:sym typeface="Arimo"/>
              </a:rPr>
              <a:t>Screenshots of app/website/hardware simulation.	</a:t>
            </a:r>
          </a:p>
          <a:p>
            <a:pPr algn="l">
              <a:lnSpc>
                <a:spcPts val="5759"/>
              </a:lnSpc>
            </a:pPr>
            <a:r>
              <a:rPr lang="en-US" sz="4800" dirty="0">
                <a:solidFill>
                  <a:srgbClr val="000000"/>
                </a:solidFill>
                <a:latin typeface="Arimo"/>
                <a:ea typeface="Arimo"/>
                <a:cs typeface="Arimo"/>
                <a:sym typeface="Arimo"/>
              </a:rPr>
              <a:t>•	Show before vs after effect.	•	If possible, add QR code linking to your prototype/demo video.</a:t>
            </a:r>
          </a:p>
          <a:p>
            <a:pPr algn="l">
              <a:lnSpc>
                <a:spcPts val="5759"/>
              </a:lnSpc>
            </a:pPr>
            <a:r>
              <a:rPr lang="en-US" sz="4800" dirty="0">
                <a:solidFill>
                  <a:srgbClr val="000000"/>
                </a:solidFill>
                <a:latin typeface="Arimo"/>
                <a:ea typeface="Arimo"/>
                <a:cs typeface="Arimo"/>
                <a:sym typeface="Arimo"/>
              </a:rPr>
              <a:t>Social Impact	</a:t>
            </a:r>
          </a:p>
          <a:p>
            <a:pPr algn="l">
              <a:lnSpc>
                <a:spcPts val="5759"/>
              </a:lnSpc>
            </a:pPr>
            <a:r>
              <a:rPr lang="en-US" sz="4800" dirty="0">
                <a:solidFill>
                  <a:srgbClr val="000000"/>
                </a:solidFill>
                <a:latin typeface="Arimo"/>
                <a:ea typeface="Arimo"/>
                <a:cs typeface="Arimo"/>
                <a:sym typeface="Arimo"/>
              </a:rPr>
              <a:t>•	Highlight how it improves lives at scale:</a:t>
            </a:r>
          </a:p>
          <a:p>
            <a:pPr algn="l">
              <a:lnSpc>
                <a:spcPts val="5759"/>
              </a:lnSpc>
            </a:pPr>
            <a:r>
              <a:rPr lang="en-US" sz="4800" dirty="0">
                <a:solidFill>
                  <a:srgbClr val="000000"/>
                </a:solidFill>
                <a:latin typeface="Arimo"/>
                <a:ea typeface="Arimo"/>
                <a:cs typeface="Arimo"/>
                <a:sym typeface="Arimo"/>
              </a:rPr>
              <a:t>	•	Rural accessibility	</a:t>
            </a:r>
          </a:p>
          <a:p>
            <a:pPr algn="l">
              <a:lnSpc>
                <a:spcPts val="5759"/>
              </a:lnSpc>
            </a:pPr>
            <a:r>
              <a:rPr lang="en-US" sz="4800" dirty="0">
                <a:solidFill>
                  <a:srgbClr val="000000"/>
                </a:solidFill>
                <a:latin typeface="Arimo"/>
                <a:ea typeface="Arimo"/>
                <a:cs typeface="Arimo"/>
                <a:sym typeface="Arimo"/>
              </a:rPr>
              <a:t>•	Education, healthcare, agriculture support	</a:t>
            </a:r>
          </a:p>
          <a:p>
            <a:pPr algn="l">
              <a:lnSpc>
                <a:spcPts val="5759"/>
              </a:lnSpc>
            </a:pPr>
            <a:r>
              <a:rPr lang="en-US" sz="4800" dirty="0">
                <a:solidFill>
                  <a:srgbClr val="000000"/>
                </a:solidFill>
                <a:latin typeface="Arimo"/>
                <a:ea typeface="Arimo"/>
                <a:cs typeface="Arimo"/>
                <a:sym typeface="Arimo"/>
              </a:rPr>
              <a:t>•	Women empowerment, inclusivity for differently-abled	</a:t>
            </a:r>
          </a:p>
          <a:p>
            <a:pPr algn="l">
              <a:lnSpc>
                <a:spcPts val="5759"/>
              </a:lnSpc>
            </a:pPr>
            <a:r>
              <a:rPr lang="en-US" sz="4800" dirty="0">
                <a:solidFill>
                  <a:srgbClr val="000000"/>
                </a:solidFill>
                <a:latin typeface="Arimo"/>
                <a:ea typeface="Arimo"/>
                <a:cs typeface="Arimo"/>
                <a:sym typeface="Arimo"/>
              </a:rPr>
              <a:t>•	Judges love solutions that are not only techy but human-centered.</a:t>
            </a:r>
          </a:p>
        </p:txBody>
      </p:sp>
      <p:grpSp>
        <p:nvGrpSpPr>
          <p:cNvPr id="3" name="Group 3"/>
          <p:cNvGrpSpPr/>
          <p:nvPr/>
        </p:nvGrpSpPr>
        <p:grpSpPr>
          <a:xfrm>
            <a:off x="6248400" y="9534525"/>
            <a:ext cx="5791200" cy="547688"/>
            <a:chOff x="0" y="0"/>
            <a:chExt cx="7721600" cy="730250"/>
          </a:xfrm>
        </p:grpSpPr>
        <p:sp>
          <p:nvSpPr>
            <p:cNvPr id="4" name="Freeform 4"/>
            <p:cNvSpPr/>
            <p:nvPr/>
          </p:nvSpPr>
          <p:spPr>
            <a:xfrm>
              <a:off x="0" y="0"/>
              <a:ext cx="7721600" cy="730250"/>
            </a:xfrm>
            <a:custGeom>
              <a:avLst/>
              <a:gdLst/>
              <a:ahLst/>
              <a:cxnLst/>
              <a:rect l="l" t="t" r="r" b="b"/>
              <a:pathLst>
                <a:path w="7721600" h="730250">
                  <a:moveTo>
                    <a:pt x="0" y="0"/>
                  </a:moveTo>
                  <a:lnTo>
                    <a:pt x="7721600" y="0"/>
                  </a:lnTo>
                  <a:lnTo>
                    <a:pt x="7721600" y="730250"/>
                  </a:lnTo>
                  <a:lnTo>
                    <a:pt x="0" y="730250"/>
                  </a:lnTo>
                  <a:close/>
                </a:path>
              </a:pathLst>
            </a:custGeom>
            <a:blipFill>
              <a:blip r:embed="rId2">
                <a:alphaModFix amt="0"/>
              </a:blip>
              <a:stretch>
                <a:fillRect t="-156033" b="-156033"/>
              </a:stretch>
            </a:blipFill>
          </p:spPr>
        </p:sp>
        <p:sp>
          <p:nvSpPr>
            <p:cNvPr id="5" name="TextBox 5"/>
            <p:cNvSpPr txBox="1"/>
            <p:nvPr/>
          </p:nvSpPr>
          <p:spPr>
            <a:xfrm>
              <a:off x="0" y="-19050"/>
              <a:ext cx="7721600" cy="749300"/>
            </a:xfrm>
            <a:prstGeom prst="rect">
              <a:avLst/>
            </a:prstGeom>
          </p:spPr>
          <p:txBody>
            <a:bodyPr lIns="0" tIns="0" rIns="0" bIns="0" rtlCol="0" anchor="ctr"/>
            <a:lstStyle/>
            <a:p>
              <a:pPr algn="ctr">
                <a:lnSpc>
                  <a:spcPts val="2160"/>
                </a:lnSpc>
              </a:pPr>
              <a:r>
                <a:rPr lang="en-US" sz="1800">
                  <a:solidFill>
                    <a:srgbClr val="898989"/>
                  </a:solidFill>
                  <a:latin typeface="Arimo"/>
                  <a:ea typeface="Arimo"/>
                  <a:cs typeface="Arimo"/>
                  <a:sym typeface="Arimo"/>
                </a:rPr>
                <a:t>@SIH Idea submission- Template</a:t>
              </a:r>
            </a:p>
          </p:txBody>
        </p:sp>
      </p:grpSp>
      <p:grpSp>
        <p:nvGrpSpPr>
          <p:cNvPr id="6" name="Group 6"/>
          <p:cNvGrpSpPr/>
          <p:nvPr/>
        </p:nvGrpSpPr>
        <p:grpSpPr>
          <a:xfrm>
            <a:off x="13106400" y="9534525"/>
            <a:ext cx="4267200" cy="547688"/>
            <a:chOff x="0" y="0"/>
            <a:chExt cx="5689600" cy="730250"/>
          </a:xfrm>
        </p:grpSpPr>
        <p:sp>
          <p:nvSpPr>
            <p:cNvPr id="7" name="Freeform 7"/>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8" name="TextBox 8"/>
            <p:cNvSpPr txBox="1"/>
            <p:nvPr/>
          </p:nvSpPr>
          <p:spPr>
            <a:xfrm>
              <a:off x="0" y="-19050"/>
              <a:ext cx="5689600" cy="749300"/>
            </a:xfrm>
            <a:prstGeom prst="rect">
              <a:avLst/>
            </a:prstGeom>
          </p:spPr>
          <p:txBody>
            <a:bodyPr lIns="0" tIns="0" rIns="0" bIns="0" rtlCol="0" anchor="ctr"/>
            <a:lstStyle/>
            <a:p>
              <a:pPr algn="r">
                <a:lnSpc>
                  <a:spcPts val="2160"/>
                </a:lnSpc>
              </a:pPr>
              <a:r>
                <a:rPr lang="en-US" sz="1800">
                  <a:solidFill>
                    <a:srgbClr val="898989"/>
                  </a:solidFill>
                  <a:latin typeface="Arimo"/>
                  <a:ea typeface="Arimo"/>
                  <a:cs typeface="Arimo"/>
                  <a:sym typeface="Arimo"/>
                </a:rPr>
                <a:t>4</a:t>
              </a:r>
            </a:p>
          </p:txBody>
        </p:sp>
      </p:grpSp>
      <p:grpSp>
        <p:nvGrpSpPr>
          <p:cNvPr id="9" name="Group 9"/>
          <p:cNvGrpSpPr/>
          <p:nvPr/>
        </p:nvGrpSpPr>
        <p:grpSpPr>
          <a:xfrm>
            <a:off x="0" y="9532144"/>
            <a:ext cx="18288000" cy="754856"/>
            <a:chOff x="0" y="0"/>
            <a:chExt cx="24384000" cy="1006475"/>
          </a:xfrm>
        </p:grpSpPr>
        <p:sp>
          <p:nvSpPr>
            <p:cNvPr id="10" name="Freeform 10"/>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sp>
          <p:nvSpPr>
            <p:cNvPr id="11" name="TextBox 11"/>
            <p:cNvSpPr txBox="1"/>
            <p:nvPr/>
          </p:nvSpPr>
          <p:spPr>
            <a:xfrm>
              <a:off x="0" y="-19050"/>
              <a:ext cx="24384000" cy="1025525"/>
            </a:xfrm>
            <a:prstGeom prst="rect">
              <a:avLst/>
            </a:prstGeom>
          </p:spPr>
          <p:txBody>
            <a:bodyPr lIns="50800" tIns="50800" rIns="50800" bIns="50800" rtlCol="0" anchor="ctr"/>
            <a:lstStyle/>
            <a:p>
              <a:pPr algn="ctr">
                <a:lnSpc>
                  <a:spcPts val="3240"/>
                </a:lnSpc>
              </a:pPr>
              <a:r>
                <a:rPr lang="en-US" sz="2700">
                  <a:solidFill>
                    <a:srgbClr val="FFFFFF"/>
                  </a:solidFill>
                  <a:latin typeface="Arimo"/>
                  <a:ea typeface="Arimo"/>
                  <a:cs typeface="Arimo"/>
                  <a:sym typeface="Arimo"/>
                </a:rPr>
                <a:t>@SIH Idea submission- Template</a:t>
              </a:r>
            </a:p>
          </p:txBody>
        </p:sp>
      </p:grpSp>
      <p:grpSp>
        <p:nvGrpSpPr>
          <p:cNvPr id="12" name="Group 12"/>
          <p:cNvGrpSpPr/>
          <p:nvPr/>
        </p:nvGrpSpPr>
        <p:grpSpPr>
          <a:xfrm>
            <a:off x="475612" y="359321"/>
            <a:ext cx="1915887" cy="1249099"/>
            <a:chOff x="0" y="0"/>
            <a:chExt cx="2554516" cy="1665465"/>
          </a:xfrm>
        </p:grpSpPr>
        <p:sp>
          <p:nvSpPr>
            <p:cNvPr id="13" name="Freeform 13"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sp>
        <p:sp>
          <p:nvSpPr>
            <p:cNvPr id="14" name="TextBox 14"/>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 Phantom Troupe</a:t>
              </a:r>
            </a:p>
          </p:txBody>
        </p:sp>
      </p:grpSp>
      <p:sp>
        <p:nvSpPr>
          <p:cNvPr id="15" name="Freeform 15"/>
          <p:cNvSpPr/>
          <p:nvPr/>
        </p:nvSpPr>
        <p:spPr>
          <a:xfrm>
            <a:off x="14988565" y="0"/>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3"/>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9737" y="0"/>
            <a:ext cx="16459200" cy="1714500"/>
            <a:chOff x="0" y="0"/>
            <a:chExt cx="21945600" cy="2286000"/>
          </a:xfrm>
        </p:grpSpPr>
        <p:sp>
          <p:nvSpPr>
            <p:cNvPr id="3" name="Freeform 3"/>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txBody>
            <a:bodyPr/>
            <a:lstStyle/>
            <a:p>
              <a:endParaRPr lang="en-IN" dirty="0"/>
            </a:p>
          </p:txBody>
        </p:sp>
        <p:sp>
          <p:nvSpPr>
            <p:cNvPr id="4" name="TextBox 4"/>
            <p:cNvSpPr txBox="1"/>
            <p:nvPr/>
          </p:nvSpPr>
          <p:spPr>
            <a:xfrm>
              <a:off x="0" y="-38100"/>
              <a:ext cx="21945600" cy="2324100"/>
            </a:xfrm>
            <a:prstGeom prst="rect">
              <a:avLst/>
            </a:prstGeom>
          </p:spPr>
          <p:txBody>
            <a:bodyPr lIns="0" tIns="0" rIns="0" bIns="0" rtlCol="0" anchor="ctr"/>
            <a:lstStyle/>
            <a:p>
              <a:pPr algn="ctr">
                <a:lnSpc>
                  <a:spcPts val="7920"/>
                </a:lnSpc>
              </a:pPr>
              <a:r>
                <a:rPr lang="en-US" sz="6600" b="1" dirty="0">
                  <a:solidFill>
                    <a:srgbClr val="00B050"/>
                  </a:solidFill>
                  <a:latin typeface="Arimo Bold"/>
                  <a:ea typeface="Arimo Bold"/>
                  <a:cs typeface="Arimo Bold"/>
                  <a:sym typeface="Arimo Bold"/>
                </a:rPr>
                <a:t>Proof of Concept</a:t>
              </a:r>
            </a:p>
          </p:txBody>
        </p:sp>
      </p:grpSp>
      <p:sp>
        <p:nvSpPr>
          <p:cNvPr id="5" name="TextBox 5"/>
          <p:cNvSpPr txBox="1"/>
          <p:nvPr/>
        </p:nvSpPr>
        <p:spPr>
          <a:xfrm>
            <a:off x="475612" y="2110154"/>
            <a:ext cx="16276320" cy="7817525"/>
          </a:xfrm>
          <a:prstGeom prst="rect">
            <a:avLst/>
          </a:prstGeom>
        </p:spPr>
        <p:txBody>
          <a:bodyPr lIns="0" tIns="0" rIns="0" bIns="0" rtlCol="0" anchor="t">
            <a:spAutoFit/>
          </a:bodyPr>
          <a:lstStyle/>
          <a:p>
            <a:pPr marL="1085850" lvl="1" indent="-542925" algn="l">
              <a:buFont typeface="Arial"/>
              <a:buChar char="•"/>
            </a:pPr>
            <a:r>
              <a:rPr lang="en-US" sz="3200" b="1" u="sng" dirty="0">
                <a:solidFill>
                  <a:srgbClr val="000000"/>
                </a:solidFill>
                <a:latin typeface="Arimo Bold"/>
                <a:ea typeface="Arimo Bold"/>
                <a:cs typeface="Arimo Bold"/>
                <a:sym typeface="Arimo Bold"/>
              </a:rPr>
              <a:t>Define Problem &amp; Objective</a:t>
            </a:r>
            <a:r>
              <a:rPr lang="en-US" sz="3200" b="1" dirty="0">
                <a:solidFill>
                  <a:srgbClr val="000000"/>
                </a:solidFill>
                <a:latin typeface="Arimo Bold"/>
                <a:ea typeface="Arimo Bold"/>
                <a:cs typeface="Arimo Bold"/>
                <a:sym typeface="Arimo Bold"/>
              </a:rPr>
              <a:t>: </a:t>
            </a:r>
            <a:r>
              <a:rPr lang="en-US" sz="3200" dirty="0">
                <a:solidFill>
                  <a:srgbClr val="000000"/>
                </a:solidFill>
                <a:latin typeface="Arimo Bold"/>
                <a:ea typeface="Arimo Bold"/>
                <a:cs typeface="Arimo Bold"/>
                <a:sym typeface="Arimo Bold"/>
              </a:rPr>
              <a:t>Automate airfare CPI collection for MoSPI without triggering WAF blocks or creating statistical chain drift.</a:t>
            </a:r>
          </a:p>
          <a:p>
            <a:pPr marL="1085850" lvl="1" indent="-542925" algn="l">
              <a:buFont typeface="Arial"/>
              <a:buChar char="•"/>
            </a:pPr>
            <a:endParaRPr lang="en-US" sz="3200" b="1" dirty="0">
              <a:solidFill>
                <a:srgbClr val="000000"/>
              </a:solidFill>
              <a:latin typeface="Arimo Bold"/>
              <a:ea typeface="Arimo Bold"/>
              <a:cs typeface="Arimo Bold"/>
              <a:sym typeface="Arimo Bold"/>
            </a:endParaRPr>
          </a:p>
          <a:p>
            <a:pPr marL="1085850" lvl="1" indent="-542925" algn="l">
              <a:buFont typeface="Arial"/>
              <a:buChar char="•"/>
            </a:pPr>
            <a:r>
              <a:rPr lang="en-US" sz="3200" b="1" dirty="0">
                <a:solidFill>
                  <a:srgbClr val="000000"/>
                </a:solidFill>
                <a:latin typeface="Arimo Bold"/>
                <a:ea typeface="Arimo Bold"/>
                <a:cs typeface="Arimo Bold"/>
                <a:sym typeface="Arimo Bold"/>
              </a:rPr>
              <a:t>​</a:t>
            </a:r>
            <a:r>
              <a:rPr lang="en-US" sz="3200" b="1" u="sng" dirty="0">
                <a:solidFill>
                  <a:srgbClr val="000000"/>
                </a:solidFill>
                <a:latin typeface="Arimo Bold"/>
                <a:ea typeface="Arimo Bold"/>
                <a:cs typeface="Arimo Bold"/>
                <a:sym typeface="Arimo Bold"/>
              </a:rPr>
              <a:t>Set Success Criteria</a:t>
            </a:r>
            <a:r>
              <a:rPr lang="en-US" sz="3200" b="1" dirty="0">
                <a:solidFill>
                  <a:srgbClr val="000000"/>
                </a:solidFill>
                <a:latin typeface="Arimo Bold"/>
                <a:ea typeface="Arimo Bold"/>
                <a:cs typeface="Arimo Bold"/>
                <a:sym typeface="Arimo Bold"/>
              </a:rPr>
              <a:t>: </a:t>
            </a:r>
            <a:r>
              <a:rPr lang="en-US" sz="3200" dirty="0">
                <a:solidFill>
                  <a:srgbClr val="000000"/>
                </a:solidFill>
                <a:latin typeface="Arimo Bold"/>
                <a:ea typeface="Arimo Bold"/>
                <a:cs typeface="Arimo Bold"/>
                <a:sym typeface="Arimo Bold"/>
              </a:rPr>
              <a:t>Zero 403 network blocks; 0% chain drift over a 25-month rolling window; sub-second dashboard query speeds.</a:t>
            </a:r>
            <a:r>
              <a:rPr lang="en-US" sz="3200" b="1" dirty="0">
                <a:solidFill>
                  <a:srgbClr val="000000"/>
                </a:solidFill>
                <a:latin typeface="Arimo Bold"/>
                <a:ea typeface="Arimo Bold"/>
                <a:cs typeface="Arimo Bold"/>
                <a:sym typeface="Arimo Bold"/>
              </a:rPr>
              <a:t>​</a:t>
            </a:r>
          </a:p>
          <a:p>
            <a:pPr marL="1085850" lvl="1" indent="-542925" algn="l">
              <a:buFont typeface="Arial"/>
              <a:buChar char="•"/>
            </a:pPr>
            <a:endParaRPr lang="en-US" sz="3200" b="1" dirty="0">
              <a:solidFill>
                <a:srgbClr val="000000"/>
              </a:solidFill>
              <a:latin typeface="Arimo Bold"/>
              <a:ea typeface="Arimo Bold"/>
              <a:cs typeface="Arimo Bold"/>
              <a:sym typeface="Arimo Bold"/>
            </a:endParaRPr>
          </a:p>
          <a:p>
            <a:pPr marL="1085850" lvl="1" indent="-542925" algn="l">
              <a:buFont typeface="Arial"/>
              <a:buChar char="•"/>
            </a:pPr>
            <a:r>
              <a:rPr lang="en-US" sz="3200" b="1" u="sng" dirty="0">
                <a:solidFill>
                  <a:srgbClr val="000000"/>
                </a:solidFill>
                <a:latin typeface="Arimo Bold"/>
                <a:ea typeface="Arimo Bold"/>
                <a:cs typeface="Arimo Bold"/>
                <a:sym typeface="Arimo Bold"/>
              </a:rPr>
              <a:t>Build Prototype</a:t>
            </a:r>
            <a:r>
              <a:rPr lang="en-US" sz="3200" b="1" dirty="0">
                <a:solidFill>
                  <a:srgbClr val="000000"/>
                </a:solidFill>
                <a:latin typeface="Arimo Bold"/>
                <a:ea typeface="Arimo Bold"/>
                <a:cs typeface="Arimo Bold"/>
                <a:sym typeface="Arimo Bold"/>
              </a:rPr>
              <a:t>: </a:t>
            </a:r>
            <a:r>
              <a:rPr lang="en-US" sz="3200" dirty="0">
                <a:solidFill>
                  <a:srgbClr val="000000"/>
                </a:solidFill>
                <a:latin typeface="Arimo Bold"/>
                <a:ea typeface="Arimo Bold"/>
                <a:cs typeface="Arimo Bold"/>
                <a:sym typeface="Arimo Bold"/>
              </a:rPr>
              <a:t>Deploy curl_cffi routing; configure TimescaleDB; code the RYGEKS-T algorithm; build the React dashboard.</a:t>
            </a:r>
          </a:p>
          <a:p>
            <a:pPr marL="1085850" lvl="1" indent="-542925" algn="l">
              <a:buFont typeface="Arial"/>
              <a:buChar char="•"/>
            </a:pPr>
            <a:endParaRPr lang="en-US" sz="3200" dirty="0">
              <a:solidFill>
                <a:srgbClr val="000000"/>
              </a:solidFill>
              <a:latin typeface="Arimo Bold"/>
              <a:ea typeface="Arimo Bold"/>
              <a:cs typeface="Arimo Bold"/>
              <a:sym typeface="Arimo Bold"/>
            </a:endParaRPr>
          </a:p>
          <a:p>
            <a:pPr marL="1085850" lvl="1" indent="-542925" algn="l">
              <a:buFont typeface="Arial"/>
              <a:buChar char="•"/>
            </a:pPr>
            <a:r>
              <a:rPr lang="en-US" sz="3200" b="1" u="sng" dirty="0">
                <a:solidFill>
                  <a:srgbClr val="000000"/>
                </a:solidFill>
                <a:latin typeface="Arimo Bold"/>
                <a:ea typeface="Arimo Bold"/>
                <a:cs typeface="Arimo Bold"/>
                <a:sym typeface="Arimo Bold"/>
              </a:rPr>
              <a:t>​Test &amp; Validate</a:t>
            </a:r>
            <a:r>
              <a:rPr lang="en-US" sz="3200" b="1" dirty="0">
                <a:solidFill>
                  <a:srgbClr val="000000"/>
                </a:solidFill>
                <a:latin typeface="Arimo Bold"/>
                <a:ea typeface="Arimo Bold"/>
                <a:cs typeface="Arimo Bold"/>
                <a:sym typeface="Arimo Bold"/>
              </a:rPr>
              <a:t>: </a:t>
            </a:r>
            <a:r>
              <a:rPr lang="en-US" sz="3200" dirty="0">
                <a:solidFill>
                  <a:srgbClr val="000000"/>
                </a:solidFill>
                <a:latin typeface="Arimo Bold"/>
                <a:ea typeface="Arimo Bold"/>
                <a:cs typeface="Arimo Bold"/>
                <a:sym typeface="Arimo Bold"/>
              </a:rPr>
              <a:t>Backtest our mathematical index against official MoSPI historical data; stress-test WAF evasion against live Cloudflare-protected OTA endpoints.​</a:t>
            </a:r>
          </a:p>
          <a:p>
            <a:pPr marL="1085850" lvl="1" indent="-542925" algn="l">
              <a:buFont typeface="Arial"/>
              <a:buChar char="•"/>
            </a:pPr>
            <a:endParaRPr lang="en-US" sz="3200" b="1" dirty="0">
              <a:solidFill>
                <a:srgbClr val="000000"/>
              </a:solidFill>
              <a:latin typeface="Arimo Bold"/>
              <a:ea typeface="Arimo Bold"/>
              <a:cs typeface="Arimo Bold"/>
              <a:sym typeface="Arimo Bold"/>
            </a:endParaRPr>
          </a:p>
          <a:p>
            <a:pPr marL="1085850" lvl="1" indent="-542925" algn="l">
              <a:buFont typeface="Arial"/>
              <a:buChar char="•"/>
            </a:pPr>
            <a:r>
              <a:rPr lang="en-US" sz="3200" b="1" u="sng" dirty="0">
                <a:solidFill>
                  <a:srgbClr val="000000"/>
                </a:solidFill>
                <a:latin typeface="Arimo Bold"/>
                <a:ea typeface="Arimo Bold"/>
                <a:cs typeface="Arimo Bold"/>
                <a:sym typeface="Arimo Bold"/>
              </a:rPr>
              <a:t>Decide Next Steps</a:t>
            </a:r>
            <a:r>
              <a:rPr lang="en-US" sz="3200" b="1" dirty="0">
                <a:solidFill>
                  <a:srgbClr val="000000"/>
                </a:solidFill>
                <a:latin typeface="Arimo Bold"/>
                <a:ea typeface="Arimo Bold"/>
                <a:cs typeface="Arimo Bold"/>
                <a:sym typeface="Arimo Bold"/>
              </a:rPr>
              <a:t>: </a:t>
            </a:r>
            <a:r>
              <a:rPr lang="en-US" sz="3200" dirty="0">
                <a:solidFill>
                  <a:srgbClr val="000000"/>
                </a:solidFill>
                <a:latin typeface="Arimo Bold"/>
                <a:ea typeface="Arimo Bold"/>
                <a:cs typeface="Arimo Bold"/>
                <a:sym typeface="Arimo Bold"/>
              </a:rPr>
              <a:t>Expand the DGCA route matrix; prep the API for secure government deployment.</a:t>
            </a:r>
          </a:p>
          <a:p>
            <a:pPr marL="1085850" lvl="1" indent="-542925" algn="l">
              <a:lnSpc>
                <a:spcPts val="7200"/>
              </a:lnSpc>
            </a:pPr>
            <a:endParaRPr lang="en-US" sz="6000" b="1" dirty="0">
              <a:solidFill>
                <a:srgbClr val="000000"/>
              </a:solidFill>
              <a:latin typeface="Arimo Bold"/>
              <a:ea typeface="Arimo Bold"/>
              <a:cs typeface="Arimo Bold"/>
              <a:sym typeface="Arimo Bold"/>
            </a:endParaRPr>
          </a:p>
        </p:txBody>
      </p:sp>
      <p:grpSp>
        <p:nvGrpSpPr>
          <p:cNvPr id="6" name="Group 6"/>
          <p:cNvGrpSpPr/>
          <p:nvPr/>
        </p:nvGrpSpPr>
        <p:grpSpPr>
          <a:xfrm>
            <a:off x="6248400" y="9534525"/>
            <a:ext cx="5791200" cy="547688"/>
            <a:chOff x="0" y="0"/>
            <a:chExt cx="7721600" cy="730250"/>
          </a:xfrm>
        </p:grpSpPr>
        <p:sp>
          <p:nvSpPr>
            <p:cNvPr id="7" name="Freeform 7"/>
            <p:cNvSpPr/>
            <p:nvPr/>
          </p:nvSpPr>
          <p:spPr>
            <a:xfrm>
              <a:off x="0" y="0"/>
              <a:ext cx="7721600" cy="730250"/>
            </a:xfrm>
            <a:custGeom>
              <a:avLst/>
              <a:gdLst/>
              <a:ahLst/>
              <a:cxnLst/>
              <a:rect l="l" t="t" r="r" b="b"/>
              <a:pathLst>
                <a:path w="7721600" h="730250">
                  <a:moveTo>
                    <a:pt x="0" y="0"/>
                  </a:moveTo>
                  <a:lnTo>
                    <a:pt x="7721600" y="0"/>
                  </a:lnTo>
                  <a:lnTo>
                    <a:pt x="7721600" y="730250"/>
                  </a:lnTo>
                  <a:lnTo>
                    <a:pt x="0" y="730250"/>
                  </a:lnTo>
                  <a:close/>
                </a:path>
              </a:pathLst>
            </a:custGeom>
            <a:blipFill>
              <a:blip r:embed="rId2">
                <a:alphaModFix amt="0"/>
              </a:blip>
              <a:stretch>
                <a:fillRect t="-156033" b="-156033"/>
              </a:stretch>
            </a:blipFill>
          </p:spPr>
          <p:txBody>
            <a:bodyPr/>
            <a:lstStyle/>
            <a:p>
              <a:endParaRPr lang="en-IN" dirty="0"/>
            </a:p>
          </p:txBody>
        </p:sp>
        <p:sp>
          <p:nvSpPr>
            <p:cNvPr id="8" name="TextBox 8"/>
            <p:cNvSpPr txBox="1"/>
            <p:nvPr/>
          </p:nvSpPr>
          <p:spPr>
            <a:xfrm>
              <a:off x="0" y="-19050"/>
              <a:ext cx="7721600" cy="749300"/>
            </a:xfrm>
            <a:prstGeom prst="rect">
              <a:avLst/>
            </a:prstGeom>
          </p:spPr>
          <p:txBody>
            <a:bodyPr lIns="0" tIns="0" rIns="0" bIns="0" rtlCol="0" anchor="ctr"/>
            <a:lstStyle/>
            <a:p>
              <a:pPr algn="ctr">
                <a:lnSpc>
                  <a:spcPts val="2160"/>
                </a:lnSpc>
              </a:pPr>
              <a:r>
                <a:rPr lang="en-US" sz="1800" dirty="0">
                  <a:solidFill>
                    <a:srgbClr val="898989"/>
                  </a:solidFill>
                  <a:latin typeface="Arimo"/>
                  <a:ea typeface="Arimo"/>
                  <a:cs typeface="Arimo"/>
                  <a:sym typeface="Arimo"/>
                </a:rPr>
                <a:t>@SIH Idea submission- Template</a:t>
              </a:r>
            </a:p>
          </p:txBody>
        </p:sp>
      </p:grpSp>
      <p:grpSp>
        <p:nvGrpSpPr>
          <p:cNvPr id="9" name="Group 9"/>
          <p:cNvGrpSpPr/>
          <p:nvPr/>
        </p:nvGrpSpPr>
        <p:grpSpPr>
          <a:xfrm>
            <a:off x="13106400" y="9534525"/>
            <a:ext cx="4267200" cy="547688"/>
            <a:chOff x="0" y="0"/>
            <a:chExt cx="5689600" cy="730250"/>
          </a:xfrm>
        </p:grpSpPr>
        <p:sp>
          <p:nvSpPr>
            <p:cNvPr id="10" name="Freeform 10"/>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txBody>
            <a:bodyPr/>
            <a:lstStyle/>
            <a:p>
              <a:endParaRPr lang="en-IN" dirty="0"/>
            </a:p>
          </p:txBody>
        </p:sp>
        <p:sp>
          <p:nvSpPr>
            <p:cNvPr id="11" name="TextBox 11"/>
            <p:cNvSpPr txBox="1"/>
            <p:nvPr/>
          </p:nvSpPr>
          <p:spPr>
            <a:xfrm>
              <a:off x="0" y="-19050"/>
              <a:ext cx="5689600" cy="749300"/>
            </a:xfrm>
            <a:prstGeom prst="rect">
              <a:avLst/>
            </a:prstGeom>
          </p:spPr>
          <p:txBody>
            <a:bodyPr lIns="0" tIns="0" rIns="0" bIns="0" rtlCol="0" anchor="ctr"/>
            <a:lstStyle/>
            <a:p>
              <a:pPr algn="r">
                <a:lnSpc>
                  <a:spcPts val="2160"/>
                </a:lnSpc>
              </a:pPr>
              <a:r>
                <a:rPr lang="en-US" sz="1800" dirty="0">
                  <a:solidFill>
                    <a:srgbClr val="898989"/>
                  </a:solidFill>
                  <a:latin typeface="Arimo"/>
                  <a:ea typeface="Arimo"/>
                  <a:cs typeface="Arimo"/>
                  <a:sym typeface="Arimo"/>
                </a:rPr>
                <a:t>5</a:t>
              </a:r>
            </a:p>
          </p:txBody>
        </p:sp>
      </p:grpSp>
      <p:grpSp>
        <p:nvGrpSpPr>
          <p:cNvPr id="12" name="Group 12"/>
          <p:cNvGrpSpPr/>
          <p:nvPr/>
        </p:nvGrpSpPr>
        <p:grpSpPr>
          <a:xfrm>
            <a:off x="0" y="9532144"/>
            <a:ext cx="18288000" cy="754856"/>
            <a:chOff x="0" y="0"/>
            <a:chExt cx="24384000" cy="1006475"/>
          </a:xfrm>
        </p:grpSpPr>
        <p:sp>
          <p:nvSpPr>
            <p:cNvPr id="13" name="Freeform 1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dirty="0"/>
            </a:p>
          </p:txBody>
        </p:sp>
        <p:sp>
          <p:nvSpPr>
            <p:cNvPr id="14" name="TextBox 14"/>
            <p:cNvSpPr txBox="1"/>
            <p:nvPr/>
          </p:nvSpPr>
          <p:spPr>
            <a:xfrm>
              <a:off x="0" y="-19050"/>
              <a:ext cx="24384000" cy="1025525"/>
            </a:xfrm>
            <a:prstGeom prst="rect">
              <a:avLst/>
            </a:prstGeom>
          </p:spPr>
          <p:txBody>
            <a:bodyPr lIns="50800" tIns="50800" rIns="50800" bIns="50800" rtlCol="0" anchor="ctr"/>
            <a:lstStyle/>
            <a:p>
              <a:pPr algn="ctr">
                <a:lnSpc>
                  <a:spcPts val="3240"/>
                </a:lnSpc>
              </a:pPr>
              <a:r>
                <a:rPr lang="en-US" sz="2700" dirty="0">
                  <a:solidFill>
                    <a:srgbClr val="FFFFFF"/>
                  </a:solidFill>
                  <a:latin typeface="Arimo"/>
                  <a:ea typeface="Arimo"/>
                  <a:cs typeface="Arimo"/>
                  <a:sym typeface="Arimo"/>
                </a:rPr>
                <a:t>@SIH Idea submission- Template</a:t>
              </a:r>
            </a:p>
          </p:txBody>
        </p:sp>
      </p:grpSp>
      <p:grpSp>
        <p:nvGrpSpPr>
          <p:cNvPr id="15" name="Group 15"/>
          <p:cNvGrpSpPr/>
          <p:nvPr/>
        </p:nvGrpSpPr>
        <p:grpSpPr>
          <a:xfrm>
            <a:off x="475612" y="359321"/>
            <a:ext cx="1915887" cy="1249099"/>
            <a:chOff x="0" y="0"/>
            <a:chExt cx="2554516" cy="1665465"/>
          </a:xfrm>
        </p:grpSpPr>
        <p:sp>
          <p:nvSpPr>
            <p:cNvPr id="16" name="Freeform 16"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txBody>
            <a:bodyPr/>
            <a:lstStyle/>
            <a:p>
              <a:endParaRPr lang="en-IN" dirty="0"/>
            </a:p>
          </p:txBody>
        </p:sp>
        <p:sp>
          <p:nvSpPr>
            <p:cNvPr id="17" name="TextBox 17"/>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a:t>
              </a:r>
            </a:p>
            <a:p>
              <a:pPr algn="ctr">
                <a:lnSpc>
                  <a:spcPts val="3240"/>
                </a:lnSpc>
              </a:pPr>
              <a:r>
                <a:rPr lang="en-US" sz="2800" dirty="0">
                  <a:solidFill>
                    <a:srgbClr val="000000"/>
                  </a:solidFill>
                  <a:latin typeface="Calibri (MS)"/>
                  <a:ea typeface="Calibri (MS)"/>
                  <a:cs typeface="Calibri (MS)"/>
                  <a:sym typeface="Calibri (MS)"/>
                </a:rPr>
                <a:t>Phantom</a:t>
              </a:r>
            </a:p>
            <a:p>
              <a:pPr algn="ctr">
                <a:lnSpc>
                  <a:spcPts val="3240"/>
                </a:lnSpc>
              </a:pPr>
              <a:r>
                <a:rPr lang="en-US" sz="2800" dirty="0">
                  <a:solidFill>
                    <a:srgbClr val="000000"/>
                  </a:solidFill>
                  <a:latin typeface="Calibri (MS)"/>
                  <a:ea typeface="Calibri (MS)"/>
                  <a:cs typeface="Calibri (MS)"/>
                  <a:sym typeface="Calibri (MS)"/>
                </a:rPr>
                <a:t>Troupe</a:t>
              </a:r>
            </a:p>
          </p:txBody>
        </p:sp>
      </p:grpSp>
      <p:sp>
        <p:nvSpPr>
          <p:cNvPr id="18" name="Freeform 18"/>
          <p:cNvSpPr/>
          <p:nvPr/>
        </p:nvSpPr>
        <p:spPr>
          <a:xfrm>
            <a:off x="15011453" y="15240"/>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3"/>
            <a:stretch>
              <a:fillRect/>
            </a:stretch>
          </a:blipFill>
        </p:spPr>
        <p:txBody>
          <a:bodyPr/>
          <a:lstStyle/>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8"/>
          <p:cNvSpPr txBox="1"/>
          <p:nvPr/>
        </p:nvSpPr>
        <p:spPr>
          <a:xfrm>
            <a:off x="670559" y="1811659"/>
            <a:ext cx="7802881" cy="7632859"/>
          </a:xfrm>
          <a:prstGeom prst="rect">
            <a:avLst/>
          </a:prstGeom>
        </p:spPr>
        <p:txBody>
          <a:bodyPr wrap="square" lIns="0" tIns="0" rIns="0" bIns="0" rtlCol="0" anchor="t">
            <a:spAutoFit/>
          </a:bodyPr>
          <a:lstStyle/>
          <a:p>
            <a:pPr marL="380047" lvl="1" algn="just"/>
            <a:r>
              <a:rPr lang="en-US" sz="2800" b="1" dirty="0">
                <a:solidFill>
                  <a:srgbClr val="000000"/>
                </a:solidFill>
                <a:latin typeface="Arial"/>
                <a:ea typeface="Arial"/>
                <a:cs typeface="Arial"/>
                <a:sym typeface="Arial"/>
              </a:rPr>
              <a:t>1. </a:t>
            </a:r>
            <a:r>
              <a:rPr lang="en-US" sz="3600" b="1" u="sng" dirty="0">
                <a:solidFill>
                  <a:srgbClr val="000000"/>
                </a:solidFill>
                <a:latin typeface="Arial"/>
                <a:ea typeface="Arial"/>
                <a:cs typeface="Arial"/>
                <a:sym typeface="Arial"/>
              </a:rPr>
              <a:t>Feasibility</a:t>
            </a:r>
          </a:p>
          <a:p>
            <a:pPr marL="380047" lvl="1" algn="just"/>
            <a:endParaRPr lang="en-US" sz="2000" dirty="0">
              <a:solidFill>
                <a:srgbClr val="000000"/>
              </a:solidFill>
              <a:latin typeface="Arial"/>
              <a:ea typeface="Arial"/>
              <a:cs typeface="Arial"/>
              <a:sym typeface="Arial"/>
            </a:endParaRPr>
          </a:p>
          <a:p>
            <a:pPr marL="722947" lvl="1" indent="-342900" algn="just">
              <a:buFont typeface="Arial" panose="020B0604020202020204" pitchFamily="34" charset="0"/>
              <a:buChar char="•"/>
            </a:pPr>
            <a:r>
              <a:rPr lang="en-US" sz="2800" b="1" dirty="0">
                <a:solidFill>
                  <a:srgbClr val="000000"/>
                </a:solidFill>
                <a:latin typeface="Arial"/>
                <a:ea typeface="Arial"/>
                <a:cs typeface="Arial"/>
                <a:sym typeface="Arial"/>
              </a:rPr>
              <a:t>WAF Penetration</a:t>
            </a:r>
            <a:r>
              <a:rPr lang="en-US" sz="2400" dirty="0">
                <a:solidFill>
                  <a:srgbClr val="000000"/>
                </a:solidFill>
                <a:latin typeface="Arial"/>
                <a:ea typeface="Arial"/>
                <a:cs typeface="Arial"/>
                <a:sym typeface="Arial"/>
              </a:rPr>
              <a:t>: Achieving high-frequency data extraction is entirely technically feasible. By </a:t>
            </a:r>
            <a:r>
              <a:rPr lang="en-US" sz="2400" b="1" dirty="0">
                <a:solidFill>
                  <a:srgbClr val="000000"/>
                </a:solidFill>
                <a:latin typeface="Arial"/>
                <a:ea typeface="Arial"/>
                <a:cs typeface="Arial"/>
                <a:sym typeface="Arial"/>
              </a:rPr>
              <a:t>bypassing standard HTTP client limitations </a:t>
            </a:r>
            <a:r>
              <a:rPr lang="en-US" sz="2400" dirty="0">
                <a:solidFill>
                  <a:srgbClr val="000000"/>
                </a:solidFill>
                <a:latin typeface="Arial"/>
                <a:ea typeface="Arial"/>
                <a:cs typeface="Arial"/>
                <a:sym typeface="Arial"/>
              </a:rPr>
              <a:t>and utilizing curl_cffi for TLS impersonation, the system penetrates enterprise firewalls at the cryptographic level.</a:t>
            </a:r>
          </a:p>
          <a:p>
            <a:pPr marL="722947" lvl="1" indent="-342900" algn="just">
              <a:buFont typeface="Arial" panose="020B0604020202020204" pitchFamily="34" charset="0"/>
              <a:buChar char="•"/>
            </a:pPr>
            <a:r>
              <a:rPr lang="en-US" sz="2800" b="1" dirty="0">
                <a:solidFill>
                  <a:srgbClr val="000000"/>
                </a:solidFill>
                <a:latin typeface="Arial"/>
                <a:ea typeface="Arial"/>
                <a:cs typeface="Arial"/>
                <a:sym typeface="Arial"/>
              </a:rPr>
              <a:t>High-Velocity Processing</a:t>
            </a:r>
            <a:r>
              <a:rPr lang="en-US" sz="2800" dirty="0">
                <a:solidFill>
                  <a:srgbClr val="000000"/>
                </a:solidFill>
                <a:latin typeface="Arial"/>
                <a:ea typeface="Arial"/>
                <a:cs typeface="Arial"/>
                <a:sym typeface="Arial"/>
              </a:rPr>
              <a:t>: </a:t>
            </a:r>
            <a:r>
              <a:rPr lang="en-US" sz="2400" dirty="0">
                <a:solidFill>
                  <a:srgbClr val="000000"/>
                </a:solidFill>
                <a:latin typeface="Arial"/>
                <a:ea typeface="Arial"/>
                <a:cs typeface="Arial"/>
                <a:sym typeface="Arial"/>
              </a:rPr>
              <a:t>Handling millions of flight pricing records without system bloat is resolved via </a:t>
            </a:r>
            <a:r>
              <a:rPr lang="en-US" sz="2400" b="1" dirty="0">
                <a:solidFill>
                  <a:srgbClr val="000000"/>
                </a:solidFill>
                <a:latin typeface="Arial"/>
                <a:ea typeface="Arial"/>
                <a:cs typeface="Arial"/>
                <a:sym typeface="Arial"/>
              </a:rPr>
              <a:t>TimescaleDB hypertables </a:t>
            </a:r>
            <a:r>
              <a:rPr lang="en-US" sz="2400" dirty="0">
                <a:solidFill>
                  <a:srgbClr val="000000"/>
                </a:solidFill>
                <a:latin typeface="Arial"/>
                <a:ea typeface="Arial"/>
                <a:cs typeface="Arial"/>
                <a:sym typeface="Arial"/>
              </a:rPr>
              <a:t>and continuous aggregates, ensuring the database scales infinitely while dashboard queries remain instantaneous.</a:t>
            </a:r>
          </a:p>
          <a:p>
            <a:pPr marL="722947" lvl="1" indent="-342900" algn="just">
              <a:buFont typeface="Arial" panose="020B0604020202020204" pitchFamily="34" charset="0"/>
              <a:buChar char="•"/>
            </a:pPr>
            <a:r>
              <a:rPr lang="en-US" sz="2800" b="1" dirty="0">
                <a:solidFill>
                  <a:srgbClr val="000000"/>
                </a:solidFill>
                <a:latin typeface="Arial"/>
                <a:ea typeface="Arial"/>
                <a:cs typeface="Arial"/>
                <a:sym typeface="Arial"/>
              </a:rPr>
              <a:t>Econometric Computation</a:t>
            </a:r>
            <a:r>
              <a:rPr lang="en-US" sz="2800" dirty="0">
                <a:solidFill>
                  <a:srgbClr val="000000"/>
                </a:solidFill>
                <a:latin typeface="Arial"/>
                <a:ea typeface="Arial"/>
                <a:cs typeface="Arial"/>
                <a:sym typeface="Arial"/>
              </a:rPr>
              <a:t>: </a:t>
            </a:r>
            <a:r>
              <a:rPr lang="en-US" sz="2400" dirty="0">
                <a:solidFill>
                  <a:srgbClr val="000000"/>
                </a:solidFill>
                <a:latin typeface="Arial"/>
                <a:ea typeface="Arial"/>
                <a:cs typeface="Arial"/>
                <a:sym typeface="Arial"/>
              </a:rPr>
              <a:t>Implementing the Rolling Year GEKS-Törnqvist (RYGEKS-T) formula in standard Python requires very low compute power compared to heavy machine learning, meaning the real-time index can be generated deterministically on standard government servers.</a:t>
            </a:r>
          </a:p>
        </p:txBody>
      </p:sp>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dirty="0"/>
            </a:p>
          </p:txBody>
        </p:sp>
      </p:grpSp>
      <p:grpSp>
        <p:nvGrpSpPr>
          <p:cNvPr id="4" name="Group 4"/>
          <p:cNvGrpSpPr/>
          <p:nvPr/>
        </p:nvGrpSpPr>
        <p:grpSpPr>
          <a:xfrm>
            <a:off x="1341120" y="32193"/>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txBody>
            <a:bodyPr/>
            <a:lstStyle/>
            <a:p>
              <a:endParaRPr lang="en-IN" dirty="0"/>
            </a:p>
          </p:txBody>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dirty="0">
                  <a:solidFill>
                    <a:srgbClr val="000000"/>
                  </a:solidFill>
                  <a:latin typeface="Times New Roman Bold"/>
                  <a:ea typeface="Times New Roman Bold"/>
                  <a:cs typeface="Times New Roman Bold"/>
                  <a:sym typeface="Times New Roman Bold"/>
                </a:rPr>
                <a:t>FEASIBILITY AND VIABILITY</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txBody>
            <a:bodyPr/>
            <a:lstStyle/>
            <a:p>
              <a:endParaRPr lang="en-IN" dirty="0"/>
            </a:p>
          </p:txBody>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dirty="0">
                  <a:solidFill>
                    <a:srgbClr val="FFFFFF"/>
                  </a:solidFill>
                  <a:latin typeface="Arimo Bold"/>
                  <a:ea typeface="Arimo Bold"/>
                  <a:cs typeface="Arimo Bold"/>
                  <a:sym typeface="Arimo Bold"/>
                </a:rPr>
                <a:t>6</a:t>
              </a:r>
            </a:p>
          </p:txBody>
        </p:sp>
      </p:grpSp>
      <p:grpSp>
        <p:nvGrpSpPr>
          <p:cNvPr id="10" name="Group 10"/>
          <p:cNvGrpSpPr/>
          <p:nvPr/>
        </p:nvGrpSpPr>
        <p:grpSpPr>
          <a:xfrm>
            <a:off x="6740999"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txBody>
            <a:bodyPr/>
            <a:lstStyle/>
            <a:p>
              <a:endParaRPr lang="en-IN" dirty="0"/>
            </a:p>
          </p:txBody>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dirty="0">
                  <a:solidFill>
                    <a:srgbClr val="FFFFFF"/>
                  </a:solidFill>
                  <a:latin typeface="Arimo"/>
                  <a:ea typeface="Arimo"/>
                  <a:cs typeface="Arimo"/>
                  <a:sym typeface="Arimo"/>
                </a:rPr>
                <a:t>@SIH Idea submission- Template</a:t>
              </a:r>
            </a:p>
          </p:txBody>
        </p:sp>
      </p:grpSp>
      <p:grpSp>
        <p:nvGrpSpPr>
          <p:cNvPr id="13" name="Group 13"/>
          <p:cNvGrpSpPr/>
          <p:nvPr/>
        </p:nvGrpSpPr>
        <p:grpSpPr>
          <a:xfrm>
            <a:off x="475612" y="359321"/>
            <a:ext cx="1915887" cy="1249099"/>
            <a:chOff x="0" y="0"/>
            <a:chExt cx="2554516" cy="1665465"/>
          </a:xfrm>
        </p:grpSpPr>
        <p:sp>
          <p:nvSpPr>
            <p:cNvPr id="14" name="Freeform 14"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txBody>
            <a:bodyPr/>
            <a:lstStyle/>
            <a:p>
              <a:endParaRPr lang="en-IN" dirty="0"/>
            </a:p>
          </p:txBody>
        </p:sp>
        <p:sp>
          <p:nvSpPr>
            <p:cNvPr id="15" name="TextBox 15"/>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a:t>
              </a:r>
            </a:p>
            <a:p>
              <a:pPr algn="ctr">
                <a:lnSpc>
                  <a:spcPts val="3240"/>
                </a:lnSpc>
              </a:pPr>
              <a:r>
                <a:rPr lang="en-US" sz="2800" dirty="0">
                  <a:solidFill>
                    <a:srgbClr val="000000"/>
                  </a:solidFill>
                  <a:latin typeface="Calibri (MS)"/>
                  <a:ea typeface="Calibri (MS)"/>
                  <a:cs typeface="Calibri (MS)"/>
                  <a:sym typeface="Calibri (MS)"/>
                </a:rPr>
                <a:t>Phantom</a:t>
              </a:r>
            </a:p>
            <a:p>
              <a:pPr algn="ctr">
                <a:lnSpc>
                  <a:spcPts val="3240"/>
                </a:lnSpc>
              </a:pPr>
              <a:r>
                <a:rPr lang="en-US" sz="2800" dirty="0">
                  <a:solidFill>
                    <a:srgbClr val="000000"/>
                  </a:solidFill>
                  <a:latin typeface="Calibri (MS)"/>
                  <a:ea typeface="Calibri (MS)"/>
                  <a:cs typeface="Calibri (MS)"/>
                  <a:sym typeface="Calibri (MS)"/>
                </a:rPr>
                <a:t>Troupe</a:t>
              </a:r>
            </a:p>
          </p:txBody>
        </p:sp>
      </p:grpSp>
      <p:sp>
        <p:nvSpPr>
          <p:cNvPr id="17" name="Freeform 17"/>
          <p:cNvSpPr/>
          <p:nvPr/>
        </p:nvSpPr>
        <p:spPr>
          <a:xfrm>
            <a:off x="14942787" y="111671"/>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3"/>
            <a:stretch>
              <a:fillRect/>
            </a:stretch>
          </a:blipFill>
        </p:spPr>
        <p:txBody>
          <a:bodyPr/>
          <a:lstStyle/>
          <a:p>
            <a:endParaRPr lang="en-IN" dirty="0"/>
          </a:p>
        </p:txBody>
      </p:sp>
      <p:sp>
        <p:nvSpPr>
          <p:cNvPr id="19" name="TextBox 19"/>
          <p:cNvSpPr txBox="1"/>
          <p:nvPr/>
        </p:nvSpPr>
        <p:spPr>
          <a:xfrm>
            <a:off x="9338948" y="1394936"/>
            <a:ext cx="7802880" cy="8125301"/>
          </a:xfrm>
          <a:prstGeom prst="rect">
            <a:avLst/>
          </a:prstGeom>
        </p:spPr>
        <p:txBody>
          <a:bodyPr wrap="square" lIns="0" tIns="0" rIns="0" bIns="0" rtlCol="0" anchor="t">
            <a:spAutoFit/>
          </a:bodyPr>
          <a:lstStyle/>
          <a:p>
            <a:pPr marL="380047" lvl="1" algn="just"/>
            <a:r>
              <a:rPr lang="en-US" sz="2800" b="1" dirty="0">
                <a:solidFill>
                  <a:srgbClr val="000000"/>
                </a:solidFill>
                <a:latin typeface="Arial"/>
                <a:ea typeface="Arial"/>
                <a:cs typeface="Arial"/>
                <a:sym typeface="Arial"/>
              </a:rPr>
              <a:t>2. </a:t>
            </a:r>
            <a:r>
              <a:rPr lang="en-US" sz="3600" b="1" u="sng" dirty="0">
                <a:solidFill>
                  <a:srgbClr val="000000"/>
                </a:solidFill>
                <a:latin typeface="Arial"/>
                <a:ea typeface="Arial"/>
                <a:cs typeface="Arial"/>
                <a:sym typeface="Arial"/>
              </a:rPr>
              <a:t>Viability</a:t>
            </a:r>
          </a:p>
          <a:p>
            <a:pPr marL="380047" lvl="1" algn="just"/>
            <a:endParaRPr lang="en-US" sz="2000" dirty="0">
              <a:solidFill>
                <a:srgbClr val="000000"/>
              </a:solidFill>
              <a:latin typeface="Arial"/>
              <a:ea typeface="Arial"/>
              <a:cs typeface="Arial"/>
              <a:sym typeface="Arial"/>
            </a:endParaRPr>
          </a:p>
          <a:p>
            <a:pPr marL="722947" lvl="1" indent="-342900" algn="just">
              <a:buFont typeface="Arial" panose="020B0604020202020204" pitchFamily="34" charset="0"/>
              <a:buChar char="•"/>
            </a:pPr>
            <a:r>
              <a:rPr lang="en-US" sz="2800" b="1" dirty="0">
                <a:solidFill>
                  <a:srgbClr val="000000"/>
                </a:solidFill>
                <a:latin typeface="Arial"/>
                <a:ea typeface="Arial"/>
                <a:cs typeface="Arial"/>
                <a:sym typeface="Arial"/>
              </a:rPr>
              <a:t>Challenge: </a:t>
            </a:r>
            <a:r>
              <a:rPr lang="en-US" sz="2400" dirty="0">
                <a:solidFill>
                  <a:srgbClr val="000000"/>
                </a:solidFill>
                <a:latin typeface="Arial"/>
                <a:ea typeface="Arial"/>
                <a:cs typeface="Arial"/>
                <a:sym typeface="Arial"/>
              </a:rPr>
              <a:t>Continuous WAF Evolution. Airlines constantly deploy updates to bot-mitigation software (e.g., Cloudflare, Akamai).</a:t>
            </a:r>
          </a:p>
          <a:p>
            <a:pPr marL="722947" lvl="1" indent="-342900" algn="just">
              <a:buFont typeface="Arial" panose="020B0604020202020204" pitchFamily="34" charset="0"/>
              <a:buChar char="•"/>
            </a:pPr>
            <a:r>
              <a:rPr lang="en-US" sz="2800" b="1" dirty="0">
                <a:solidFill>
                  <a:srgbClr val="000000"/>
                </a:solidFill>
                <a:latin typeface="Arial"/>
                <a:ea typeface="Arial"/>
                <a:cs typeface="Arial"/>
                <a:sym typeface="Arial"/>
              </a:rPr>
              <a:t>Overcoming Strategy: </a:t>
            </a:r>
            <a:r>
              <a:rPr lang="en-US" sz="2400" dirty="0">
                <a:solidFill>
                  <a:srgbClr val="000000"/>
                </a:solidFill>
                <a:latin typeface="Arial"/>
                <a:ea typeface="Arial"/>
                <a:cs typeface="Arial"/>
                <a:sym typeface="Arial"/>
              </a:rPr>
              <a:t>The impersonation layer is designed to be easily patched. As WAFs evolve, the cryptographic profiles are simply updated to match the exact TLS handshakes of the newest consumer web browsers, maintaining permanent network access.</a:t>
            </a:r>
          </a:p>
          <a:p>
            <a:pPr marL="722947" lvl="1" indent="-342900" algn="just">
              <a:buFont typeface="Arial" panose="020B0604020202020204" pitchFamily="34" charset="0"/>
              <a:buChar char="•"/>
            </a:pPr>
            <a:r>
              <a:rPr lang="en-US" sz="2800" b="1" dirty="0">
                <a:solidFill>
                  <a:srgbClr val="000000"/>
                </a:solidFill>
                <a:latin typeface="Arial"/>
                <a:ea typeface="Arial"/>
                <a:cs typeface="Arial"/>
                <a:sym typeface="Arial"/>
              </a:rPr>
              <a:t>Challenge: </a:t>
            </a:r>
            <a:r>
              <a:rPr lang="en-US" sz="2400" dirty="0">
                <a:solidFill>
                  <a:srgbClr val="000000"/>
                </a:solidFill>
                <a:latin typeface="Arial"/>
                <a:ea typeface="Arial"/>
                <a:cs typeface="Arial"/>
                <a:sym typeface="Arial"/>
              </a:rPr>
              <a:t>Network Infrastructure &amp; IP Bans. Monitoring the entire national DGCA route network requires massive request volume, leading to standard data-center IP bans.</a:t>
            </a:r>
          </a:p>
          <a:p>
            <a:pPr marL="722947" lvl="1" indent="-342900" algn="just">
              <a:buFont typeface="Arial" panose="020B0604020202020204" pitchFamily="34" charset="0"/>
              <a:buChar char="•"/>
            </a:pPr>
            <a:r>
              <a:rPr lang="en-US" sz="2800" b="1" dirty="0">
                <a:solidFill>
                  <a:srgbClr val="000000"/>
                </a:solidFill>
                <a:latin typeface="Arial"/>
                <a:ea typeface="Arial"/>
                <a:cs typeface="Arial"/>
                <a:sym typeface="Arial"/>
              </a:rPr>
              <a:t>Overcoming Strategy: </a:t>
            </a:r>
            <a:r>
              <a:rPr lang="en-US" sz="2400" dirty="0">
                <a:solidFill>
                  <a:srgbClr val="000000"/>
                </a:solidFill>
                <a:latin typeface="Arial"/>
                <a:ea typeface="Arial"/>
                <a:cs typeface="Arial"/>
                <a:sym typeface="Arial"/>
              </a:rPr>
              <a:t>Integrating the extraction router with a commercially scaled, session-sticky residential proxy network. This mathematically neutralizes rate-limits by matching the IP geolocation directly to the browser TLS fingerprint.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1145700" y="-67356"/>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IMPACT AND BENEFITS</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7</a:t>
              </a:r>
            </a:p>
          </p:txBody>
        </p:sp>
      </p:grpSp>
      <p:grpSp>
        <p:nvGrpSpPr>
          <p:cNvPr id="10" name="Group 10"/>
          <p:cNvGrpSpPr/>
          <p:nvPr/>
        </p:nvGrpSpPr>
        <p:grpSpPr>
          <a:xfrm>
            <a:off x="6972300"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3" name="Group 13"/>
          <p:cNvGrpSpPr/>
          <p:nvPr/>
        </p:nvGrpSpPr>
        <p:grpSpPr>
          <a:xfrm>
            <a:off x="475612" y="359321"/>
            <a:ext cx="1915887" cy="1249099"/>
            <a:chOff x="0" y="0"/>
            <a:chExt cx="2554516" cy="1665465"/>
          </a:xfrm>
        </p:grpSpPr>
        <p:sp>
          <p:nvSpPr>
            <p:cNvPr id="14" name="Freeform 14"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sp>
        <p:sp>
          <p:nvSpPr>
            <p:cNvPr id="15" name="TextBox 15"/>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 Phantom Troupe</a:t>
              </a:r>
            </a:p>
          </p:txBody>
        </p:sp>
      </p:grpSp>
      <p:sp>
        <p:nvSpPr>
          <p:cNvPr id="16" name="Freeform 16"/>
          <p:cNvSpPr/>
          <p:nvPr/>
        </p:nvSpPr>
        <p:spPr>
          <a:xfrm>
            <a:off x="14933150" y="203226"/>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3"/>
            <a:stretch>
              <a:fillRect/>
            </a:stretch>
          </a:blipFill>
        </p:spPr>
      </p:sp>
      <p:sp>
        <p:nvSpPr>
          <p:cNvPr id="17" name="TextBox 17"/>
          <p:cNvSpPr txBox="1"/>
          <p:nvPr/>
        </p:nvSpPr>
        <p:spPr>
          <a:xfrm>
            <a:off x="956853" y="2395985"/>
            <a:ext cx="6985359" cy="641201"/>
          </a:xfrm>
          <a:prstGeom prst="rect">
            <a:avLst/>
          </a:prstGeom>
        </p:spPr>
        <p:txBody>
          <a:bodyPr lIns="0" tIns="0" rIns="0" bIns="0" rtlCol="0" anchor="t">
            <a:spAutoFit/>
          </a:bodyPr>
          <a:lstStyle/>
          <a:p>
            <a:pPr marL="760095" lvl="1" indent="-380048" algn="just">
              <a:lnSpc>
                <a:spcPts val="5040"/>
              </a:lnSpc>
              <a:buFont typeface="Arial"/>
              <a:buChar char="•"/>
            </a:pPr>
            <a:endParaRPr lang="en-US" sz="4200" dirty="0">
              <a:solidFill>
                <a:srgbClr val="000000"/>
              </a:solidFill>
              <a:latin typeface="Arial"/>
              <a:ea typeface="Arial"/>
              <a:cs typeface="Arial"/>
              <a:sym typeface="Arial"/>
            </a:endParaRPr>
          </a:p>
        </p:txBody>
      </p:sp>
      <p:sp>
        <p:nvSpPr>
          <p:cNvPr id="18" name="TextBox 18"/>
          <p:cNvSpPr txBox="1"/>
          <p:nvPr/>
        </p:nvSpPr>
        <p:spPr>
          <a:xfrm>
            <a:off x="9023166" y="2489976"/>
            <a:ext cx="6985359" cy="7694414"/>
          </a:xfrm>
          <a:prstGeom prst="rect">
            <a:avLst/>
          </a:prstGeom>
        </p:spPr>
        <p:txBody>
          <a:bodyPr wrap="square" lIns="0" tIns="0" rIns="0" bIns="0" rtlCol="0" anchor="t">
            <a:spAutoFit/>
          </a:bodyPr>
          <a:lstStyle/>
          <a:p>
            <a:pPr marL="380047" lvl="1" algn="just">
              <a:lnSpc>
                <a:spcPts val="5040"/>
              </a:lnSpc>
            </a:pPr>
            <a:r>
              <a:rPr lang="en-US" sz="2800" b="1" u="sng" dirty="0">
                <a:solidFill>
                  <a:srgbClr val="244D7D"/>
                </a:solidFill>
                <a:uFill>
                  <a:solidFill>
                    <a:srgbClr val="244D7D"/>
                  </a:solidFill>
                </a:uFill>
                <a:latin typeface="Arial" pitchFamily="34" charset="0"/>
                <a:ea typeface="Arial" pitchFamily="34" charset="-122"/>
                <a:cs typeface="Arial" pitchFamily="34" charset="-120"/>
              </a:rPr>
              <a:t>Benefits of the solution</a:t>
            </a:r>
          </a:p>
          <a:p>
            <a:pPr marL="837247" lvl="1" indent="-457200" algn="just">
              <a:lnSpc>
                <a:spcPts val="5040"/>
              </a:lnSpc>
              <a:buFont typeface="Arial" panose="020B0604020202020204" pitchFamily="34" charset="0"/>
              <a:buChar char="•"/>
            </a:pPr>
            <a:r>
              <a:rPr lang="en-US" sz="2800" b="1" dirty="0">
                <a:solidFill>
                  <a:srgbClr val="000000"/>
                </a:solidFill>
                <a:ea typeface="Arial"/>
                <a:cs typeface="Arial"/>
                <a:sym typeface="Arial"/>
              </a:rPr>
              <a:t>Economic:</a:t>
            </a:r>
            <a:r>
              <a:rPr lang="en-US" sz="2800" dirty="0">
                <a:solidFill>
                  <a:srgbClr val="000000"/>
                </a:solidFill>
                <a:ea typeface="Arial"/>
                <a:cs typeface="Arial"/>
                <a:sym typeface="Arial"/>
              </a:rPr>
              <a:t> Upgrades inflation tracking to international apex statistical standards.</a:t>
            </a:r>
          </a:p>
          <a:p>
            <a:pPr marL="837247" lvl="1" indent="-457200" algn="just">
              <a:lnSpc>
                <a:spcPts val="5040"/>
              </a:lnSpc>
              <a:buFont typeface="Arial" panose="020B0604020202020204" pitchFamily="34" charset="0"/>
              <a:buChar char="•"/>
            </a:pPr>
            <a:endParaRPr lang="en-US" sz="2800" dirty="0">
              <a:solidFill>
                <a:srgbClr val="000000"/>
              </a:solidFill>
              <a:ea typeface="Arial"/>
              <a:cs typeface="Arial"/>
              <a:sym typeface="Arial"/>
            </a:endParaRPr>
          </a:p>
          <a:p>
            <a:pPr marL="837247" lvl="1" indent="-457200" algn="just">
              <a:lnSpc>
                <a:spcPts val="5040"/>
              </a:lnSpc>
              <a:buFont typeface="Arial" panose="020B0604020202020204" pitchFamily="34" charset="0"/>
              <a:buChar char="•"/>
            </a:pPr>
            <a:r>
              <a:rPr lang="en-US" sz="2800" b="1" dirty="0">
                <a:solidFill>
                  <a:srgbClr val="000000"/>
                </a:solidFill>
                <a:ea typeface="Arial"/>
                <a:cs typeface="Arial"/>
                <a:sym typeface="Arial"/>
              </a:rPr>
              <a:t>Analytical:</a:t>
            </a:r>
            <a:r>
              <a:rPr lang="en-US" sz="2800" dirty="0">
                <a:solidFill>
                  <a:srgbClr val="000000"/>
                </a:solidFill>
                <a:ea typeface="Arial"/>
                <a:cs typeface="Arial"/>
                <a:sym typeface="Arial"/>
              </a:rPr>
              <a:t> Features a deterministic algebraic simulator. You can input a 10% aviation fuel tax hike and instantly see the proportional mathematical transmission into the base fare index.</a:t>
            </a:r>
          </a:p>
          <a:p>
            <a:pPr marL="837247" lvl="1" indent="-457200" algn="just">
              <a:lnSpc>
                <a:spcPts val="5040"/>
              </a:lnSpc>
              <a:buFont typeface="Arial" panose="020B0604020202020204" pitchFamily="34" charset="0"/>
              <a:buChar char="•"/>
            </a:pPr>
            <a:endParaRPr lang="en-US" sz="2800" dirty="0">
              <a:solidFill>
                <a:srgbClr val="000000"/>
              </a:solidFill>
              <a:ea typeface="Arial"/>
              <a:cs typeface="Arial"/>
              <a:sym typeface="Arial"/>
            </a:endParaRPr>
          </a:p>
          <a:p>
            <a:pPr marL="837247" lvl="1" indent="-457200" algn="just">
              <a:lnSpc>
                <a:spcPts val="5040"/>
              </a:lnSpc>
              <a:buFont typeface="Arial" panose="020B0604020202020204" pitchFamily="34" charset="0"/>
              <a:buChar char="•"/>
            </a:pPr>
            <a:endParaRPr lang="en-US" sz="2800" dirty="0"/>
          </a:p>
          <a:p>
            <a:pPr marL="760095" lvl="1" indent="-380048" algn="just">
              <a:lnSpc>
                <a:spcPts val="5040"/>
              </a:lnSpc>
              <a:buFont typeface="Arial"/>
              <a:buChar char="•"/>
            </a:pPr>
            <a:endParaRPr lang="en-US" sz="4200" dirty="0">
              <a:solidFill>
                <a:srgbClr val="000000"/>
              </a:solidFill>
              <a:latin typeface="Arial"/>
              <a:ea typeface="Arial"/>
              <a:cs typeface="Arial"/>
              <a:sym typeface="Arial"/>
            </a:endParaRPr>
          </a:p>
        </p:txBody>
      </p:sp>
      <p:sp>
        <p:nvSpPr>
          <p:cNvPr id="19" name="TextBox 18">
            <a:extLst>
              <a:ext uri="{FF2B5EF4-FFF2-40B4-BE49-F238E27FC236}">
                <a16:creationId xmlns:a16="http://schemas.microsoft.com/office/drawing/2014/main" id="{EBD2E6FA-475A-7E23-1DAE-957918BB1F89}"/>
              </a:ext>
            </a:extLst>
          </p:cNvPr>
          <p:cNvSpPr txBox="1"/>
          <p:nvPr/>
        </p:nvSpPr>
        <p:spPr>
          <a:xfrm>
            <a:off x="475612" y="2562871"/>
            <a:ext cx="7175340" cy="6401753"/>
          </a:xfrm>
          <a:prstGeom prst="rect">
            <a:avLst/>
          </a:prstGeom>
          <a:noFill/>
        </p:spPr>
        <p:txBody>
          <a:bodyPr wrap="square" rtlCol="0">
            <a:spAutoFit/>
          </a:bodyPr>
          <a:lstStyle/>
          <a:p>
            <a:r>
              <a:rPr lang="en-US" sz="2800" b="1" u="sng" dirty="0">
                <a:solidFill>
                  <a:srgbClr val="244D7D"/>
                </a:solidFill>
                <a:uFill>
                  <a:solidFill>
                    <a:srgbClr val="244D7D"/>
                  </a:solidFill>
                </a:uFill>
                <a:latin typeface="Arial" pitchFamily="34" charset="0"/>
                <a:ea typeface="Arial" pitchFamily="34" charset="-122"/>
                <a:cs typeface="Arial" pitchFamily="34" charset="-120"/>
              </a:rPr>
              <a:t>Potential impact on the target audience</a:t>
            </a:r>
          </a:p>
          <a:p>
            <a:endParaRPr lang="en-US" sz="2800" b="1" u="sng" dirty="0">
              <a:solidFill>
                <a:srgbClr val="244D7D"/>
              </a:solidFill>
              <a:uFill>
                <a:solidFill>
                  <a:srgbClr val="244D7D"/>
                </a:solidFill>
              </a:uFill>
              <a:latin typeface="Arial" pitchFamily="34" charset="0"/>
              <a:ea typeface="Arial" pitchFamily="34" charset="-122"/>
              <a:cs typeface="Arial" pitchFamily="34" charset="-120"/>
            </a:endParaRPr>
          </a:p>
          <a:p>
            <a:pPr marL="457200" indent="-457200">
              <a:buFont typeface="Arial" panose="020B0604020202020204" pitchFamily="34" charset="0"/>
              <a:buChar char="•"/>
            </a:pPr>
            <a:r>
              <a:rPr lang="en-US" sz="2800" dirty="0" err="1"/>
              <a:t>MoSPI</a:t>
            </a:r>
            <a:r>
              <a:rPr lang="en-US" sz="2800" dirty="0"/>
              <a:t> and RBI economists gain a real-time, non-revisable inflation indicator and a deterministic 14-day statistical outlook with zero manual collection effort.</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solidFill>
                  <a:srgbClr val="111111"/>
                </a:solidFill>
                <a:ea typeface="Arial" pitchFamily="34" charset="-122"/>
                <a:cs typeface="Arial" pitchFamily="34" charset="-120"/>
              </a:rPr>
              <a:t>Policymakers can track price manipulation and accessibility on remote routes.</a:t>
            </a:r>
          </a:p>
          <a:p>
            <a:pPr marL="457200" indent="-457200">
              <a:buFont typeface="Arial" panose="020B0604020202020204" pitchFamily="34" charset="0"/>
              <a:buChar char="•"/>
            </a:pPr>
            <a:endParaRPr lang="en-US" sz="2800" dirty="0">
              <a:solidFill>
                <a:srgbClr val="111111"/>
              </a:solidFill>
              <a:cs typeface="Arial" pitchFamily="34" charset="-120"/>
            </a:endParaRPr>
          </a:p>
          <a:p>
            <a:pPr marL="457200" indent="-457200">
              <a:buFont typeface="Arial" panose="020B0604020202020204" pitchFamily="34" charset="0"/>
              <a:buChar char="•"/>
            </a:pPr>
            <a:r>
              <a:rPr lang="en-US" sz="2800" dirty="0">
                <a:solidFill>
                  <a:srgbClr val="111111"/>
                </a:solidFill>
                <a:ea typeface="Arial" pitchFamily="34" charset="-122"/>
                <a:cs typeface="Arial" pitchFamily="34" charset="-120"/>
              </a:rPr>
              <a:t>Reactive, evidence-based monetary policy strengthens broader economic stability.</a:t>
            </a: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0100" y="-106080"/>
            <a:ext cx="16459200" cy="1714500"/>
            <a:chOff x="0" y="0"/>
            <a:chExt cx="21945600" cy="2286000"/>
          </a:xfrm>
        </p:grpSpPr>
        <p:sp>
          <p:nvSpPr>
            <p:cNvPr id="3" name="Freeform 3"/>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txBody>
            <a:bodyPr/>
            <a:lstStyle/>
            <a:p>
              <a:endParaRPr lang="en-IN" dirty="0"/>
            </a:p>
          </p:txBody>
        </p:sp>
        <p:sp>
          <p:nvSpPr>
            <p:cNvPr id="4" name="TextBox 4"/>
            <p:cNvSpPr txBox="1"/>
            <p:nvPr/>
          </p:nvSpPr>
          <p:spPr>
            <a:xfrm>
              <a:off x="0" y="-28575"/>
              <a:ext cx="21945600" cy="2314575"/>
            </a:xfrm>
            <a:prstGeom prst="rect">
              <a:avLst/>
            </a:prstGeom>
          </p:spPr>
          <p:txBody>
            <a:bodyPr lIns="0" tIns="0" rIns="0" bIns="0" rtlCol="0" anchor="ctr"/>
            <a:lstStyle/>
            <a:p>
              <a:pPr algn="ctr">
                <a:lnSpc>
                  <a:spcPts val="6480"/>
                </a:lnSpc>
              </a:pPr>
              <a:r>
                <a:rPr lang="en-US" sz="5400" b="1" dirty="0">
                  <a:solidFill>
                    <a:srgbClr val="000000"/>
                  </a:solidFill>
                  <a:latin typeface="Times New Roman Bold"/>
                  <a:ea typeface="Times New Roman Bold"/>
                  <a:cs typeface="Times New Roman Bold"/>
                  <a:sym typeface="Times New Roman Bold"/>
                </a:rPr>
                <a:t>Business Model Canvas</a:t>
              </a:r>
            </a:p>
          </p:txBody>
        </p:sp>
      </p:grpSp>
      <p:grpSp>
        <p:nvGrpSpPr>
          <p:cNvPr id="5" name="Group 5"/>
          <p:cNvGrpSpPr/>
          <p:nvPr/>
        </p:nvGrpSpPr>
        <p:grpSpPr>
          <a:xfrm>
            <a:off x="1" y="1800149"/>
            <a:ext cx="18294201" cy="7527217"/>
            <a:chOff x="0" y="0"/>
            <a:chExt cx="24392268" cy="10036289"/>
          </a:xfrm>
        </p:grpSpPr>
        <p:sp>
          <p:nvSpPr>
            <p:cNvPr id="6" name="Freeform 6"/>
            <p:cNvSpPr/>
            <p:nvPr/>
          </p:nvSpPr>
          <p:spPr>
            <a:xfrm>
              <a:off x="0" y="0"/>
              <a:ext cx="24392255" cy="10036302"/>
            </a:xfrm>
            <a:custGeom>
              <a:avLst/>
              <a:gdLst/>
              <a:ahLst/>
              <a:cxnLst/>
              <a:rect l="l" t="t" r="r" b="b"/>
              <a:pathLst>
                <a:path w="24392255" h="10036302">
                  <a:moveTo>
                    <a:pt x="0" y="0"/>
                  </a:moveTo>
                  <a:lnTo>
                    <a:pt x="24392255" y="0"/>
                  </a:lnTo>
                  <a:lnTo>
                    <a:pt x="24392255" y="10036302"/>
                  </a:lnTo>
                  <a:lnTo>
                    <a:pt x="0" y="10036302"/>
                  </a:lnTo>
                  <a:lnTo>
                    <a:pt x="0" y="0"/>
                  </a:lnTo>
                  <a:close/>
                </a:path>
              </a:pathLst>
            </a:custGeom>
            <a:blipFill>
              <a:blip r:embed="rId3"/>
              <a:stretch>
                <a:fillRect b="-69724"/>
              </a:stretch>
            </a:blipFill>
          </p:spPr>
          <p:txBody>
            <a:bodyPr/>
            <a:lstStyle/>
            <a:p>
              <a:endParaRPr lang="en-IN" dirty="0"/>
            </a:p>
          </p:txBody>
        </p:sp>
      </p:grpSp>
      <p:grpSp>
        <p:nvGrpSpPr>
          <p:cNvPr id="7" name="Group 7"/>
          <p:cNvGrpSpPr/>
          <p:nvPr/>
        </p:nvGrpSpPr>
        <p:grpSpPr>
          <a:xfrm>
            <a:off x="6248400" y="9534525"/>
            <a:ext cx="5791200" cy="547688"/>
            <a:chOff x="0" y="0"/>
            <a:chExt cx="7721600" cy="730250"/>
          </a:xfrm>
        </p:grpSpPr>
        <p:sp>
          <p:nvSpPr>
            <p:cNvPr id="8" name="Freeform 8"/>
            <p:cNvSpPr/>
            <p:nvPr/>
          </p:nvSpPr>
          <p:spPr>
            <a:xfrm>
              <a:off x="0" y="0"/>
              <a:ext cx="7721600" cy="730250"/>
            </a:xfrm>
            <a:custGeom>
              <a:avLst/>
              <a:gdLst/>
              <a:ahLst/>
              <a:cxnLst/>
              <a:rect l="l" t="t" r="r" b="b"/>
              <a:pathLst>
                <a:path w="7721600" h="730250">
                  <a:moveTo>
                    <a:pt x="0" y="0"/>
                  </a:moveTo>
                  <a:lnTo>
                    <a:pt x="7721600" y="0"/>
                  </a:lnTo>
                  <a:lnTo>
                    <a:pt x="7721600" y="730250"/>
                  </a:lnTo>
                  <a:lnTo>
                    <a:pt x="0" y="730250"/>
                  </a:lnTo>
                  <a:close/>
                </a:path>
              </a:pathLst>
            </a:custGeom>
            <a:blipFill>
              <a:blip r:embed="rId2">
                <a:alphaModFix amt="0"/>
              </a:blip>
              <a:stretch>
                <a:fillRect t="-156033" b="-156033"/>
              </a:stretch>
            </a:blipFill>
          </p:spPr>
          <p:txBody>
            <a:bodyPr/>
            <a:lstStyle/>
            <a:p>
              <a:endParaRPr lang="en-IN" dirty="0"/>
            </a:p>
          </p:txBody>
        </p:sp>
        <p:sp>
          <p:nvSpPr>
            <p:cNvPr id="9" name="TextBox 9"/>
            <p:cNvSpPr txBox="1"/>
            <p:nvPr/>
          </p:nvSpPr>
          <p:spPr>
            <a:xfrm>
              <a:off x="0" y="-19050"/>
              <a:ext cx="7721600" cy="749300"/>
            </a:xfrm>
            <a:prstGeom prst="rect">
              <a:avLst/>
            </a:prstGeom>
          </p:spPr>
          <p:txBody>
            <a:bodyPr lIns="0" tIns="0" rIns="0" bIns="0" rtlCol="0" anchor="ctr"/>
            <a:lstStyle/>
            <a:p>
              <a:pPr algn="ctr">
                <a:lnSpc>
                  <a:spcPts val="2160"/>
                </a:lnSpc>
              </a:pPr>
              <a:r>
                <a:rPr lang="en-US" sz="1800" dirty="0">
                  <a:solidFill>
                    <a:srgbClr val="898989"/>
                  </a:solidFill>
                  <a:latin typeface="Arimo"/>
                  <a:ea typeface="Arimo"/>
                  <a:cs typeface="Arimo"/>
                  <a:sym typeface="Arimo"/>
                </a:rPr>
                <a:t>@SIH Idea submission- Template</a:t>
              </a:r>
            </a:p>
          </p:txBody>
        </p:sp>
      </p:grpSp>
      <p:grpSp>
        <p:nvGrpSpPr>
          <p:cNvPr id="10" name="Group 10"/>
          <p:cNvGrpSpPr/>
          <p:nvPr/>
        </p:nvGrpSpPr>
        <p:grpSpPr>
          <a:xfrm>
            <a:off x="13106400" y="9534525"/>
            <a:ext cx="4267200" cy="547688"/>
            <a:chOff x="0" y="0"/>
            <a:chExt cx="5689600" cy="730250"/>
          </a:xfrm>
        </p:grpSpPr>
        <p:sp>
          <p:nvSpPr>
            <p:cNvPr id="11" name="Freeform 11"/>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txBody>
            <a:bodyPr/>
            <a:lstStyle/>
            <a:p>
              <a:endParaRPr lang="en-IN" dirty="0"/>
            </a:p>
          </p:txBody>
        </p:sp>
        <p:sp>
          <p:nvSpPr>
            <p:cNvPr id="12" name="TextBox 12"/>
            <p:cNvSpPr txBox="1"/>
            <p:nvPr/>
          </p:nvSpPr>
          <p:spPr>
            <a:xfrm>
              <a:off x="0" y="-19050"/>
              <a:ext cx="5689600" cy="749300"/>
            </a:xfrm>
            <a:prstGeom prst="rect">
              <a:avLst/>
            </a:prstGeom>
          </p:spPr>
          <p:txBody>
            <a:bodyPr lIns="0" tIns="0" rIns="0" bIns="0" rtlCol="0" anchor="ctr"/>
            <a:lstStyle/>
            <a:p>
              <a:pPr algn="r">
                <a:lnSpc>
                  <a:spcPts val="2160"/>
                </a:lnSpc>
              </a:pPr>
              <a:r>
                <a:rPr lang="en-US" sz="1800" dirty="0">
                  <a:solidFill>
                    <a:srgbClr val="898989"/>
                  </a:solidFill>
                  <a:latin typeface="Arimo"/>
                  <a:ea typeface="Arimo"/>
                  <a:cs typeface="Arimo"/>
                  <a:sym typeface="Arimo"/>
                </a:rPr>
                <a:t>8</a:t>
              </a:r>
            </a:p>
          </p:txBody>
        </p:sp>
      </p:grpSp>
      <p:grpSp>
        <p:nvGrpSpPr>
          <p:cNvPr id="13" name="Group 13"/>
          <p:cNvGrpSpPr/>
          <p:nvPr/>
        </p:nvGrpSpPr>
        <p:grpSpPr>
          <a:xfrm>
            <a:off x="0" y="9532144"/>
            <a:ext cx="18288000" cy="754856"/>
            <a:chOff x="0" y="0"/>
            <a:chExt cx="24384000" cy="1006475"/>
          </a:xfrm>
        </p:grpSpPr>
        <p:sp>
          <p:nvSpPr>
            <p:cNvPr id="14" name="Freeform 14"/>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dirty="0"/>
            </a:p>
          </p:txBody>
        </p:sp>
        <p:sp>
          <p:nvSpPr>
            <p:cNvPr id="15" name="TextBox 15"/>
            <p:cNvSpPr txBox="1"/>
            <p:nvPr/>
          </p:nvSpPr>
          <p:spPr>
            <a:xfrm>
              <a:off x="0" y="-19050"/>
              <a:ext cx="24384000" cy="1025525"/>
            </a:xfrm>
            <a:prstGeom prst="rect">
              <a:avLst/>
            </a:prstGeom>
          </p:spPr>
          <p:txBody>
            <a:bodyPr lIns="50800" tIns="50800" rIns="50800" bIns="50800" rtlCol="0" anchor="ctr"/>
            <a:lstStyle/>
            <a:p>
              <a:pPr algn="ctr">
                <a:lnSpc>
                  <a:spcPts val="3240"/>
                </a:lnSpc>
              </a:pPr>
              <a:r>
                <a:rPr lang="en-US" sz="2700" dirty="0">
                  <a:solidFill>
                    <a:srgbClr val="FFFFFF"/>
                  </a:solidFill>
                  <a:latin typeface="Arimo"/>
                  <a:ea typeface="Arimo"/>
                  <a:cs typeface="Arimo"/>
                  <a:sym typeface="Arimo"/>
                </a:rPr>
                <a:t>@SIH Idea submission- Template</a:t>
              </a:r>
            </a:p>
          </p:txBody>
        </p:sp>
      </p:grpSp>
      <p:grpSp>
        <p:nvGrpSpPr>
          <p:cNvPr id="16" name="Group 16"/>
          <p:cNvGrpSpPr/>
          <p:nvPr/>
        </p:nvGrpSpPr>
        <p:grpSpPr>
          <a:xfrm>
            <a:off x="475612" y="359321"/>
            <a:ext cx="1915887" cy="1249099"/>
            <a:chOff x="0" y="0"/>
            <a:chExt cx="2554516" cy="1665465"/>
          </a:xfrm>
        </p:grpSpPr>
        <p:sp>
          <p:nvSpPr>
            <p:cNvPr id="17" name="Freeform 17"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txBody>
            <a:bodyPr/>
            <a:lstStyle/>
            <a:p>
              <a:endParaRPr lang="en-IN" dirty="0"/>
            </a:p>
          </p:txBody>
        </p:sp>
        <p:sp>
          <p:nvSpPr>
            <p:cNvPr id="18" name="TextBox 18"/>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700" dirty="0">
                  <a:solidFill>
                    <a:srgbClr val="000000"/>
                  </a:solidFill>
                  <a:latin typeface="Calibri (MS)"/>
                  <a:ea typeface="Calibri (MS)"/>
                  <a:cs typeface="Calibri (MS)"/>
                  <a:sym typeface="Calibri (MS)"/>
                </a:rPr>
                <a:t>The</a:t>
              </a:r>
            </a:p>
            <a:p>
              <a:pPr algn="ctr">
                <a:lnSpc>
                  <a:spcPts val="3240"/>
                </a:lnSpc>
              </a:pPr>
              <a:r>
                <a:rPr lang="en-US" sz="2700" dirty="0">
                  <a:solidFill>
                    <a:srgbClr val="000000"/>
                  </a:solidFill>
                  <a:latin typeface="Calibri (MS)"/>
                  <a:ea typeface="Calibri (MS)"/>
                  <a:cs typeface="Calibri (MS)"/>
                  <a:sym typeface="Calibri (MS)"/>
                </a:rPr>
                <a:t>Phantom</a:t>
              </a:r>
            </a:p>
            <a:p>
              <a:pPr algn="ctr">
                <a:lnSpc>
                  <a:spcPts val="3240"/>
                </a:lnSpc>
              </a:pPr>
              <a:r>
                <a:rPr lang="en-US" sz="2700" dirty="0">
                  <a:solidFill>
                    <a:srgbClr val="000000"/>
                  </a:solidFill>
                  <a:latin typeface="Calibri (MS)"/>
                  <a:ea typeface="Calibri (MS)"/>
                  <a:cs typeface="Calibri (MS)"/>
                  <a:sym typeface="Calibri (MS)"/>
                </a:rPr>
                <a:t>Troupe</a:t>
              </a:r>
            </a:p>
          </p:txBody>
        </p:sp>
      </p:grpSp>
      <p:sp>
        <p:nvSpPr>
          <p:cNvPr id="19" name="Freeform 19"/>
          <p:cNvSpPr/>
          <p:nvPr/>
        </p:nvSpPr>
        <p:spPr>
          <a:xfrm>
            <a:off x="14919899" y="0"/>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4"/>
            <a:stretch>
              <a:fillRect/>
            </a:stretch>
          </a:blipFill>
        </p:spPr>
        <p:txBody>
          <a:bodyPr/>
          <a:lstStyle/>
          <a:p>
            <a:endParaRPr lang="en-IN" dirty="0"/>
          </a:p>
        </p:txBody>
      </p:sp>
      <p:sp>
        <p:nvSpPr>
          <p:cNvPr id="20" name="TextBox 19">
            <a:extLst>
              <a:ext uri="{FF2B5EF4-FFF2-40B4-BE49-F238E27FC236}">
                <a16:creationId xmlns:a16="http://schemas.microsoft.com/office/drawing/2014/main" id="{8CF0858D-DE8A-F785-109D-44CE8C648B1A}"/>
              </a:ext>
            </a:extLst>
          </p:cNvPr>
          <p:cNvSpPr txBox="1"/>
          <p:nvPr/>
        </p:nvSpPr>
        <p:spPr>
          <a:xfrm>
            <a:off x="958418" y="4120766"/>
            <a:ext cx="2866821" cy="1815882"/>
          </a:xfrm>
          <a:prstGeom prst="rect">
            <a:avLst/>
          </a:prstGeom>
          <a:noFill/>
        </p:spPr>
        <p:txBody>
          <a:bodyPr wrap="square" rtlCol="0">
            <a:spAutoFit/>
          </a:bodyPr>
          <a:lstStyle/>
          <a:p>
            <a:r>
              <a:rPr lang="en-US" sz="2800" dirty="0"/>
              <a:t>MoSPI (National Statistical Office), DGCA, Ministry of Civil Aviation.</a:t>
            </a:r>
            <a:endParaRPr lang="en-IN" sz="2800" dirty="0"/>
          </a:p>
        </p:txBody>
      </p:sp>
      <p:sp>
        <p:nvSpPr>
          <p:cNvPr id="21" name="TextBox 20">
            <a:extLst>
              <a:ext uri="{FF2B5EF4-FFF2-40B4-BE49-F238E27FC236}">
                <a16:creationId xmlns:a16="http://schemas.microsoft.com/office/drawing/2014/main" id="{5ECBCFBC-AB54-3482-E5CB-41F79F8E50DA}"/>
              </a:ext>
            </a:extLst>
          </p:cNvPr>
          <p:cNvSpPr txBox="1"/>
          <p:nvPr/>
        </p:nvSpPr>
        <p:spPr>
          <a:xfrm>
            <a:off x="4326521" y="4120766"/>
            <a:ext cx="2541668" cy="2246769"/>
          </a:xfrm>
          <a:prstGeom prst="rect">
            <a:avLst/>
          </a:prstGeom>
          <a:noFill/>
        </p:spPr>
        <p:txBody>
          <a:bodyPr wrap="square" rtlCol="0">
            <a:spAutoFit/>
          </a:bodyPr>
          <a:lstStyle/>
          <a:p>
            <a:r>
              <a:rPr lang="en-US" sz="2800" dirty="0"/>
              <a:t>High-frequency web extraction, econometric processing, API hosting.</a:t>
            </a:r>
            <a:endParaRPr lang="en-IN" sz="2800" dirty="0"/>
          </a:p>
        </p:txBody>
      </p:sp>
      <p:sp>
        <p:nvSpPr>
          <p:cNvPr id="22" name="TextBox 21">
            <a:extLst>
              <a:ext uri="{FF2B5EF4-FFF2-40B4-BE49-F238E27FC236}">
                <a16:creationId xmlns:a16="http://schemas.microsoft.com/office/drawing/2014/main" id="{BC39D5C1-C0FE-C994-716E-6E3F2D769E12}"/>
              </a:ext>
            </a:extLst>
          </p:cNvPr>
          <p:cNvSpPr txBox="1"/>
          <p:nvPr/>
        </p:nvSpPr>
        <p:spPr>
          <a:xfrm>
            <a:off x="7824497" y="4120766"/>
            <a:ext cx="2538919" cy="3539430"/>
          </a:xfrm>
          <a:prstGeom prst="rect">
            <a:avLst/>
          </a:prstGeom>
          <a:noFill/>
        </p:spPr>
        <p:txBody>
          <a:bodyPr wrap="square" rtlCol="0">
            <a:spAutoFit/>
          </a:bodyPr>
          <a:lstStyle/>
          <a:p>
            <a:r>
              <a:rPr lang="en-US" sz="2800" dirty="0"/>
              <a:t>Real-time, mathematically drift-free airfare inflation tracking and deterministic policy simulation.</a:t>
            </a:r>
            <a:endParaRPr lang="en-IN" sz="2800" dirty="0"/>
          </a:p>
        </p:txBody>
      </p:sp>
      <p:sp>
        <p:nvSpPr>
          <p:cNvPr id="23" name="TextBox 22">
            <a:extLst>
              <a:ext uri="{FF2B5EF4-FFF2-40B4-BE49-F238E27FC236}">
                <a16:creationId xmlns:a16="http://schemas.microsoft.com/office/drawing/2014/main" id="{7CC14FA8-0245-7779-1060-74186CF1F552}"/>
              </a:ext>
            </a:extLst>
          </p:cNvPr>
          <p:cNvSpPr txBox="1"/>
          <p:nvPr/>
        </p:nvSpPr>
        <p:spPr>
          <a:xfrm>
            <a:off x="11189850" y="4120766"/>
            <a:ext cx="2391877" cy="2677656"/>
          </a:xfrm>
          <a:prstGeom prst="rect">
            <a:avLst/>
          </a:prstGeom>
          <a:noFill/>
        </p:spPr>
        <p:txBody>
          <a:bodyPr wrap="square" rtlCol="0">
            <a:spAutoFit/>
          </a:bodyPr>
          <a:lstStyle/>
          <a:p>
            <a:r>
              <a:rPr lang="en-US" sz="2800" dirty="0"/>
              <a:t>B2G (Business to Government), seamless integration via FastAPI.</a:t>
            </a:r>
            <a:endParaRPr lang="en-IN" sz="2800" dirty="0"/>
          </a:p>
        </p:txBody>
      </p:sp>
      <p:sp>
        <p:nvSpPr>
          <p:cNvPr id="24" name="TextBox 23">
            <a:extLst>
              <a:ext uri="{FF2B5EF4-FFF2-40B4-BE49-F238E27FC236}">
                <a16:creationId xmlns:a16="http://schemas.microsoft.com/office/drawing/2014/main" id="{FFFD28BE-0EFF-EC50-306E-F9C16FD4AAF1}"/>
              </a:ext>
            </a:extLst>
          </p:cNvPr>
          <p:cNvSpPr txBox="1"/>
          <p:nvPr/>
        </p:nvSpPr>
        <p:spPr>
          <a:xfrm>
            <a:off x="14538035" y="4120766"/>
            <a:ext cx="2538919" cy="2246769"/>
          </a:xfrm>
          <a:prstGeom prst="rect">
            <a:avLst/>
          </a:prstGeom>
          <a:noFill/>
        </p:spPr>
        <p:txBody>
          <a:bodyPr wrap="square" rtlCol="0">
            <a:spAutoFit/>
          </a:bodyPr>
          <a:lstStyle/>
          <a:p>
            <a:r>
              <a:rPr lang="en-US" sz="2800" dirty="0"/>
              <a:t>Government policymakers, NSO statisticians, RBI analysts.</a:t>
            </a:r>
            <a:endParaRPr lang="en-IN" sz="2800" dirty="0"/>
          </a:p>
        </p:txBody>
      </p:sp>
      <p:sp>
        <p:nvSpPr>
          <p:cNvPr id="25" name="TextBox 24">
            <a:extLst>
              <a:ext uri="{FF2B5EF4-FFF2-40B4-BE49-F238E27FC236}">
                <a16:creationId xmlns:a16="http://schemas.microsoft.com/office/drawing/2014/main" id="{D9E4C008-1DA2-1042-9D23-BF1C50B67805}"/>
              </a:ext>
            </a:extLst>
          </p:cNvPr>
          <p:cNvSpPr txBox="1"/>
          <p:nvPr/>
        </p:nvSpPr>
        <p:spPr>
          <a:xfrm>
            <a:off x="4254052" y="7595545"/>
            <a:ext cx="2991750" cy="1569660"/>
          </a:xfrm>
          <a:prstGeom prst="rect">
            <a:avLst/>
          </a:prstGeom>
          <a:noFill/>
        </p:spPr>
        <p:txBody>
          <a:bodyPr wrap="square" rtlCol="0">
            <a:spAutoFit/>
          </a:bodyPr>
          <a:lstStyle/>
          <a:p>
            <a:r>
              <a:rPr lang="en-US" sz="2400" dirty="0"/>
              <a:t>Residential IP proxies, time-series database infrastructure, custom econometric scripts.</a:t>
            </a:r>
            <a:endParaRPr lang="en-IN" sz="2400" dirty="0"/>
          </a:p>
        </p:txBody>
      </p:sp>
      <p:sp>
        <p:nvSpPr>
          <p:cNvPr id="27" name="TextBox 26">
            <a:extLst>
              <a:ext uri="{FF2B5EF4-FFF2-40B4-BE49-F238E27FC236}">
                <a16:creationId xmlns:a16="http://schemas.microsoft.com/office/drawing/2014/main" id="{24D749AE-0451-BE66-644B-7C6376235A91}"/>
              </a:ext>
            </a:extLst>
          </p:cNvPr>
          <p:cNvSpPr txBox="1"/>
          <p:nvPr/>
        </p:nvSpPr>
        <p:spPr>
          <a:xfrm>
            <a:off x="11189849" y="7595545"/>
            <a:ext cx="2681793" cy="1200329"/>
          </a:xfrm>
          <a:prstGeom prst="rect">
            <a:avLst/>
          </a:prstGeom>
          <a:noFill/>
        </p:spPr>
        <p:txBody>
          <a:bodyPr wrap="square" rtlCol="0">
            <a:spAutoFit/>
          </a:bodyPr>
          <a:lstStyle/>
          <a:p>
            <a:r>
              <a:rPr lang="en-US" sz="2400" dirty="0"/>
              <a:t>Direct deployment to MoSPI intranet, secure API gateway.</a:t>
            </a:r>
            <a:endParaRPr lang="en-I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5612" y="-25717"/>
            <a:ext cx="16459200" cy="1714500"/>
            <a:chOff x="0" y="0"/>
            <a:chExt cx="21945600" cy="2286000"/>
          </a:xfrm>
        </p:grpSpPr>
        <p:sp>
          <p:nvSpPr>
            <p:cNvPr id="3" name="Freeform 3"/>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sp>
        <p:sp>
          <p:nvSpPr>
            <p:cNvPr id="4" name="TextBox 4"/>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National Scheme Alignments</a:t>
              </a:r>
            </a:p>
          </p:txBody>
        </p:sp>
      </p:grpSp>
      <p:sp>
        <p:nvSpPr>
          <p:cNvPr id="5" name="TextBox 5"/>
          <p:cNvSpPr txBox="1"/>
          <p:nvPr/>
        </p:nvSpPr>
        <p:spPr>
          <a:xfrm>
            <a:off x="1005840" y="1669733"/>
            <a:ext cx="16276320" cy="7473791"/>
          </a:xfrm>
          <a:prstGeom prst="rect">
            <a:avLst/>
          </a:prstGeom>
        </p:spPr>
        <p:txBody>
          <a:bodyPr lIns="0" tIns="0" rIns="0" bIns="0" rtlCol="0" anchor="t">
            <a:spAutoFit/>
          </a:bodyPr>
          <a:lstStyle/>
          <a:p>
            <a:pPr algn="l">
              <a:lnSpc>
                <a:spcPts val="5759"/>
              </a:lnSpc>
            </a:pPr>
            <a:r>
              <a:rPr lang="en-US" sz="4800">
                <a:solidFill>
                  <a:srgbClr val="000000"/>
                </a:solidFill>
                <a:latin typeface="Arimo"/>
                <a:ea typeface="Arimo"/>
                <a:cs typeface="Arimo"/>
                <a:sym typeface="Arimo"/>
              </a:rPr>
              <a:t>1. Government / National Alignment	</a:t>
            </a:r>
          </a:p>
          <a:p>
            <a:pPr algn="l">
              <a:lnSpc>
                <a:spcPts val="5759"/>
              </a:lnSpc>
            </a:pPr>
            <a:r>
              <a:rPr lang="en-US" sz="4800">
                <a:solidFill>
                  <a:srgbClr val="000000"/>
                </a:solidFill>
                <a:latin typeface="Arimo"/>
                <a:ea typeface="Arimo"/>
                <a:cs typeface="Arimo"/>
                <a:sym typeface="Arimo"/>
              </a:rPr>
              <a:t>•	Connect your solution with national missions:	</a:t>
            </a:r>
          </a:p>
          <a:p>
            <a:pPr algn="l">
              <a:lnSpc>
                <a:spcPts val="5759"/>
              </a:lnSpc>
            </a:pPr>
            <a:r>
              <a:rPr lang="en-US" sz="4800">
                <a:solidFill>
                  <a:srgbClr val="000000"/>
                </a:solidFill>
                <a:latin typeface="Arimo"/>
                <a:ea typeface="Arimo"/>
                <a:cs typeface="Arimo"/>
                <a:sym typeface="Arimo"/>
              </a:rPr>
              <a:t>•	Digital India	</a:t>
            </a:r>
          </a:p>
          <a:p>
            <a:pPr algn="l">
              <a:lnSpc>
                <a:spcPts val="5759"/>
              </a:lnSpc>
            </a:pPr>
            <a:r>
              <a:rPr lang="en-US" sz="4800">
                <a:solidFill>
                  <a:srgbClr val="000000"/>
                </a:solidFill>
                <a:latin typeface="Arimo"/>
                <a:ea typeface="Arimo"/>
                <a:cs typeface="Arimo"/>
                <a:sym typeface="Arimo"/>
              </a:rPr>
              <a:t>•	Smart Cities Mission</a:t>
            </a:r>
          </a:p>
          <a:p>
            <a:pPr algn="l">
              <a:lnSpc>
                <a:spcPts val="5759"/>
              </a:lnSpc>
            </a:pPr>
            <a:r>
              <a:rPr lang="en-US" sz="4800">
                <a:solidFill>
                  <a:srgbClr val="000000"/>
                </a:solidFill>
                <a:latin typeface="Arimo"/>
                <a:ea typeface="Arimo"/>
                <a:cs typeface="Arimo"/>
                <a:sym typeface="Arimo"/>
              </a:rPr>
              <a:t>•	Atmanirbhar Bharat	</a:t>
            </a:r>
          </a:p>
          <a:p>
            <a:pPr algn="l">
              <a:lnSpc>
                <a:spcPts val="5759"/>
              </a:lnSpc>
            </a:pPr>
            <a:r>
              <a:rPr lang="en-US" sz="4800">
                <a:solidFill>
                  <a:srgbClr val="000000"/>
                </a:solidFill>
                <a:latin typeface="Arimo"/>
                <a:ea typeface="Arimo"/>
                <a:cs typeface="Arimo"/>
                <a:sym typeface="Arimo"/>
              </a:rPr>
              <a:t>•	Swachh Bharat / Green India	</a:t>
            </a:r>
          </a:p>
          <a:p>
            <a:pPr algn="l">
              <a:lnSpc>
                <a:spcPts val="5759"/>
              </a:lnSpc>
            </a:pPr>
            <a:r>
              <a:rPr lang="en-US" sz="4800">
                <a:solidFill>
                  <a:srgbClr val="000000"/>
                </a:solidFill>
                <a:latin typeface="Arimo"/>
                <a:ea typeface="Arimo"/>
                <a:cs typeface="Arimo"/>
                <a:sym typeface="Arimo"/>
              </a:rPr>
              <a:t>•	AI for India 2.0</a:t>
            </a:r>
          </a:p>
        </p:txBody>
      </p:sp>
      <p:grpSp>
        <p:nvGrpSpPr>
          <p:cNvPr id="6" name="Group 6"/>
          <p:cNvGrpSpPr/>
          <p:nvPr/>
        </p:nvGrpSpPr>
        <p:grpSpPr>
          <a:xfrm>
            <a:off x="6248400" y="9534525"/>
            <a:ext cx="5791200" cy="547688"/>
            <a:chOff x="0" y="0"/>
            <a:chExt cx="7721600" cy="730250"/>
          </a:xfrm>
        </p:grpSpPr>
        <p:sp>
          <p:nvSpPr>
            <p:cNvPr id="7" name="Freeform 7"/>
            <p:cNvSpPr/>
            <p:nvPr/>
          </p:nvSpPr>
          <p:spPr>
            <a:xfrm>
              <a:off x="0" y="0"/>
              <a:ext cx="7721600" cy="730250"/>
            </a:xfrm>
            <a:custGeom>
              <a:avLst/>
              <a:gdLst/>
              <a:ahLst/>
              <a:cxnLst/>
              <a:rect l="l" t="t" r="r" b="b"/>
              <a:pathLst>
                <a:path w="7721600" h="730250">
                  <a:moveTo>
                    <a:pt x="0" y="0"/>
                  </a:moveTo>
                  <a:lnTo>
                    <a:pt x="7721600" y="0"/>
                  </a:lnTo>
                  <a:lnTo>
                    <a:pt x="7721600" y="730250"/>
                  </a:lnTo>
                  <a:lnTo>
                    <a:pt x="0" y="730250"/>
                  </a:lnTo>
                  <a:close/>
                </a:path>
              </a:pathLst>
            </a:custGeom>
            <a:blipFill>
              <a:blip r:embed="rId2">
                <a:alphaModFix amt="0"/>
              </a:blip>
              <a:stretch>
                <a:fillRect t="-156033" b="-156033"/>
              </a:stretch>
            </a:blipFill>
          </p:spPr>
        </p:sp>
        <p:sp>
          <p:nvSpPr>
            <p:cNvPr id="8" name="TextBox 8"/>
            <p:cNvSpPr txBox="1"/>
            <p:nvPr/>
          </p:nvSpPr>
          <p:spPr>
            <a:xfrm>
              <a:off x="0" y="-19050"/>
              <a:ext cx="7721600" cy="749300"/>
            </a:xfrm>
            <a:prstGeom prst="rect">
              <a:avLst/>
            </a:prstGeom>
          </p:spPr>
          <p:txBody>
            <a:bodyPr lIns="0" tIns="0" rIns="0" bIns="0" rtlCol="0" anchor="ctr"/>
            <a:lstStyle/>
            <a:p>
              <a:pPr algn="ctr">
                <a:lnSpc>
                  <a:spcPts val="2160"/>
                </a:lnSpc>
              </a:pPr>
              <a:r>
                <a:rPr lang="en-US" sz="1800">
                  <a:solidFill>
                    <a:srgbClr val="898989"/>
                  </a:solidFill>
                  <a:latin typeface="Arimo"/>
                  <a:ea typeface="Arimo"/>
                  <a:cs typeface="Arimo"/>
                  <a:sym typeface="Arimo"/>
                </a:rPr>
                <a:t>@SIH Idea submission- Template</a:t>
              </a:r>
            </a:p>
          </p:txBody>
        </p:sp>
      </p:grpSp>
      <p:grpSp>
        <p:nvGrpSpPr>
          <p:cNvPr id="9" name="Group 9"/>
          <p:cNvGrpSpPr/>
          <p:nvPr/>
        </p:nvGrpSpPr>
        <p:grpSpPr>
          <a:xfrm>
            <a:off x="13106400" y="9534525"/>
            <a:ext cx="4267200" cy="547688"/>
            <a:chOff x="0" y="0"/>
            <a:chExt cx="5689600" cy="730250"/>
          </a:xfrm>
        </p:grpSpPr>
        <p:sp>
          <p:nvSpPr>
            <p:cNvPr id="10" name="Freeform 10"/>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11" name="TextBox 11"/>
            <p:cNvSpPr txBox="1"/>
            <p:nvPr/>
          </p:nvSpPr>
          <p:spPr>
            <a:xfrm>
              <a:off x="0" y="-19050"/>
              <a:ext cx="5689600" cy="749300"/>
            </a:xfrm>
            <a:prstGeom prst="rect">
              <a:avLst/>
            </a:prstGeom>
          </p:spPr>
          <p:txBody>
            <a:bodyPr lIns="0" tIns="0" rIns="0" bIns="0" rtlCol="0" anchor="ctr"/>
            <a:lstStyle/>
            <a:p>
              <a:pPr algn="r">
                <a:lnSpc>
                  <a:spcPts val="2160"/>
                </a:lnSpc>
              </a:pPr>
              <a:r>
                <a:rPr lang="en-US" sz="1800">
                  <a:solidFill>
                    <a:srgbClr val="898989"/>
                  </a:solidFill>
                  <a:latin typeface="Arimo"/>
                  <a:ea typeface="Arimo"/>
                  <a:cs typeface="Arimo"/>
                  <a:sym typeface="Arimo"/>
                </a:rPr>
                <a:t>9</a:t>
              </a:r>
            </a:p>
          </p:txBody>
        </p:sp>
      </p:grpSp>
      <p:grpSp>
        <p:nvGrpSpPr>
          <p:cNvPr id="12" name="Group 12"/>
          <p:cNvGrpSpPr/>
          <p:nvPr/>
        </p:nvGrpSpPr>
        <p:grpSpPr>
          <a:xfrm>
            <a:off x="0" y="9532144"/>
            <a:ext cx="18288000" cy="754856"/>
            <a:chOff x="0" y="0"/>
            <a:chExt cx="24384000" cy="1006475"/>
          </a:xfrm>
        </p:grpSpPr>
        <p:sp>
          <p:nvSpPr>
            <p:cNvPr id="13" name="Freeform 1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sp>
          <p:nvSpPr>
            <p:cNvPr id="14" name="TextBox 14"/>
            <p:cNvSpPr txBox="1"/>
            <p:nvPr/>
          </p:nvSpPr>
          <p:spPr>
            <a:xfrm>
              <a:off x="0" y="-19050"/>
              <a:ext cx="24384000" cy="1025525"/>
            </a:xfrm>
            <a:prstGeom prst="rect">
              <a:avLst/>
            </a:prstGeom>
          </p:spPr>
          <p:txBody>
            <a:bodyPr lIns="50800" tIns="50800" rIns="50800" bIns="50800" rtlCol="0" anchor="ctr"/>
            <a:lstStyle/>
            <a:p>
              <a:pPr algn="ctr">
                <a:lnSpc>
                  <a:spcPts val="3240"/>
                </a:lnSpc>
              </a:pPr>
              <a:r>
                <a:rPr lang="en-US" sz="2700">
                  <a:solidFill>
                    <a:srgbClr val="FFFFFF"/>
                  </a:solidFill>
                  <a:latin typeface="Arimo"/>
                  <a:ea typeface="Arimo"/>
                  <a:cs typeface="Arimo"/>
                  <a:sym typeface="Arimo"/>
                </a:rPr>
                <a:t>@SIH Idea submission- Template</a:t>
              </a:r>
            </a:p>
          </p:txBody>
        </p:sp>
      </p:grpSp>
      <p:grpSp>
        <p:nvGrpSpPr>
          <p:cNvPr id="15" name="Group 15"/>
          <p:cNvGrpSpPr/>
          <p:nvPr/>
        </p:nvGrpSpPr>
        <p:grpSpPr>
          <a:xfrm>
            <a:off x="475612" y="359321"/>
            <a:ext cx="1915887" cy="1249099"/>
            <a:chOff x="0" y="0"/>
            <a:chExt cx="2554516" cy="1665465"/>
          </a:xfrm>
        </p:grpSpPr>
        <p:sp>
          <p:nvSpPr>
            <p:cNvPr id="16" name="Freeform 16"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sp>
        <p:sp>
          <p:nvSpPr>
            <p:cNvPr id="17" name="TextBox 17"/>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 Phantom Troupe</a:t>
              </a:r>
            </a:p>
          </p:txBody>
        </p:sp>
      </p:grpSp>
      <p:sp>
        <p:nvSpPr>
          <p:cNvPr id="18" name="Freeform 18"/>
          <p:cNvSpPr/>
          <p:nvPr/>
        </p:nvSpPr>
        <p:spPr>
          <a:xfrm>
            <a:off x="14874122" y="86742"/>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3"/>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475612" y="0"/>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RESEARCH  AND REFERENCES</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10</a:t>
              </a:r>
            </a:p>
          </p:txBody>
        </p:sp>
      </p:grpSp>
      <p:grpSp>
        <p:nvGrpSpPr>
          <p:cNvPr id="10" name="Group 10"/>
          <p:cNvGrpSpPr/>
          <p:nvPr/>
        </p:nvGrpSpPr>
        <p:grpSpPr>
          <a:xfrm>
            <a:off x="6972300"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3" name="Group 13"/>
          <p:cNvGrpSpPr/>
          <p:nvPr/>
        </p:nvGrpSpPr>
        <p:grpSpPr>
          <a:xfrm>
            <a:off x="475612" y="359321"/>
            <a:ext cx="1915887" cy="1249099"/>
            <a:chOff x="0" y="0"/>
            <a:chExt cx="2554516" cy="1665465"/>
          </a:xfrm>
        </p:grpSpPr>
        <p:sp>
          <p:nvSpPr>
            <p:cNvPr id="14" name="Freeform 14"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sp>
        <p:sp>
          <p:nvSpPr>
            <p:cNvPr id="15" name="TextBox 15"/>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 Phantom Troupe</a:t>
              </a:r>
            </a:p>
          </p:txBody>
        </p:sp>
      </p:grpSp>
      <p:sp>
        <p:nvSpPr>
          <p:cNvPr id="16" name="Freeform 16"/>
          <p:cNvSpPr/>
          <p:nvPr/>
        </p:nvSpPr>
        <p:spPr>
          <a:xfrm>
            <a:off x="14900910" y="0"/>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3"/>
            <a:stretch>
              <a:fillRect/>
            </a:stretch>
          </a:blipFill>
        </p:spPr>
      </p:sp>
      <p:sp>
        <p:nvSpPr>
          <p:cNvPr id="17" name="TextBox 17"/>
          <p:cNvSpPr txBox="1"/>
          <p:nvPr/>
        </p:nvSpPr>
        <p:spPr>
          <a:xfrm>
            <a:off x="1005840" y="4219565"/>
            <a:ext cx="13895070" cy="712441"/>
          </a:xfrm>
          <a:prstGeom prst="rect">
            <a:avLst/>
          </a:prstGeom>
        </p:spPr>
        <p:txBody>
          <a:bodyPr lIns="0" tIns="0" rIns="0" bIns="0" rtlCol="0" anchor="t">
            <a:spAutoFit/>
          </a:bodyPr>
          <a:lstStyle/>
          <a:p>
            <a:pPr marL="760095" lvl="1" indent="-380048" algn="just">
              <a:lnSpc>
                <a:spcPts val="5040"/>
              </a:lnSpc>
              <a:buFont typeface="Arial"/>
              <a:buChar char="•"/>
            </a:pPr>
            <a:r>
              <a:rPr lang="en-US" sz="4200">
                <a:solidFill>
                  <a:srgbClr val="000000"/>
                </a:solidFill>
                <a:latin typeface="Arial"/>
                <a:ea typeface="Arial"/>
                <a:cs typeface="Arial"/>
                <a:sym typeface="Arial"/>
              </a:rPr>
              <a:t>Details / Links of the reference and research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1042</Words>
  <Application>Microsoft Office PowerPoint</Application>
  <PresentationFormat>Custom</PresentationFormat>
  <Paragraphs>135</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Arial Bold</vt:lpstr>
      <vt:lpstr>Arimo</vt:lpstr>
      <vt:lpstr>Arimo Bold</vt:lpstr>
      <vt:lpstr>Calibri</vt:lpstr>
      <vt:lpstr>Calibri (MS)</vt:lpstr>
      <vt:lpstr>Garamond Bold</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Ratna Lokrey</dc:creator>
  <cp:lastModifiedBy>Ratna Lokrey</cp:lastModifiedBy>
  <cp:revision>1</cp:revision>
  <dcterms:modified xsi:type="dcterms:W3CDTF">2026-09-21T07:22:01Z</dcterms:modified>
</cp:coreProperties>
</file>
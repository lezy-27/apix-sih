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70" r:id="rId4"/>
    <p:sldId id="259" r:id="rId5"/>
    <p:sldId id="269" r:id="rId6"/>
    <p:sldId id="268" r:id="rId7"/>
    <p:sldId id="262" r:id="rId8"/>
    <p:sldId id="266" r:id="rId9"/>
    <p:sldId id="264" r:id="rId10"/>
    <p:sldId id="265" r:id="rId11"/>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874" y="43"/>
      </p:cViewPr>
      <p:guideLst>
        <p:guide orient="horz" pos="217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3_2#1">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E902F6-A52A-45F3-AE68-8D3DF4FB460A}" type="doc">
      <dgm:prSet loTypeId="urn:microsoft.com/office/officeart/2005/8/layout/chevron1" loCatId="process" qsTypeId="urn:microsoft.com/office/officeart/2005/8/quickstyle/3d1#1" qsCatId="3D" csTypeId="urn:microsoft.com/office/officeart/2005/8/colors/accent3_2#1" csCatId="accent3" phldr="1"/>
      <dgm:spPr/>
      <dgm:t>
        <a:bodyPr/>
        <a:lstStyle/>
        <a:p>
          <a:endParaRPr lang="en-US"/>
        </a:p>
      </dgm:t>
    </dgm:pt>
    <dgm:pt modelId="{C859BC75-ABAC-4A18-A1BC-410EF6F39D77}">
      <dgm:prSet phldrT="[Text]" phldr="0"/>
      <dgm:spPr/>
      <dgm:t>
        <a:bodyPr/>
        <a:lstStyle/>
        <a:p>
          <a:pPr rtl="0"/>
          <a:r>
            <a:rPr lang="en-US" sz="3200" b="1" u="sng" dirty="0"/>
            <a:t>Define Problem &amp; Objective</a:t>
          </a:r>
          <a:endParaRPr lang="en-US" dirty="0"/>
        </a:p>
      </dgm:t>
    </dgm:pt>
    <dgm:pt modelId="{D5296F91-5F0D-4951-A19D-852AE4F4D271}" type="parTrans" cxnId="{7FB44AE2-05EF-4F3F-A992-242BB0E5D3C5}">
      <dgm:prSet/>
      <dgm:spPr/>
      <dgm:t>
        <a:bodyPr/>
        <a:lstStyle/>
        <a:p>
          <a:endParaRPr lang="en-US"/>
        </a:p>
      </dgm:t>
    </dgm:pt>
    <dgm:pt modelId="{9277D061-59AE-4920-B7B4-4913B34BE37C}" type="sibTrans" cxnId="{7FB44AE2-05EF-4F3F-A992-242BB0E5D3C5}">
      <dgm:prSet/>
      <dgm:spPr/>
      <dgm:t>
        <a:bodyPr/>
        <a:lstStyle/>
        <a:p>
          <a:endParaRPr lang="en-US"/>
        </a:p>
      </dgm:t>
    </dgm:pt>
    <dgm:pt modelId="{C891005D-371E-404E-9B89-B93A63C82734}">
      <dgm:prSet phldrT="[Text]" phldr="0"/>
      <dgm:spPr/>
      <dgm:t>
        <a:bodyPr/>
        <a:lstStyle/>
        <a:p>
          <a:pPr rtl="0"/>
          <a:r>
            <a:rPr lang="en-US" sz="3200" b="1" u="sng" dirty="0"/>
            <a:t>Set Success Criteria</a:t>
          </a:r>
          <a:endParaRPr lang="en-US" dirty="0"/>
        </a:p>
      </dgm:t>
    </dgm:pt>
    <dgm:pt modelId="{16107FE7-89B5-4FDA-8128-E781C5F5D9B4}" type="parTrans" cxnId="{77DA6F40-3B54-49CD-9285-8DE647E2130B}">
      <dgm:prSet/>
      <dgm:spPr/>
      <dgm:t>
        <a:bodyPr/>
        <a:lstStyle/>
        <a:p>
          <a:endParaRPr lang="en-US"/>
        </a:p>
      </dgm:t>
    </dgm:pt>
    <dgm:pt modelId="{FFF56A7B-606C-46DB-A7A6-52345009947B}" type="sibTrans" cxnId="{77DA6F40-3B54-49CD-9285-8DE647E2130B}">
      <dgm:prSet/>
      <dgm:spPr/>
      <dgm:t>
        <a:bodyPr/>
        <a:lstStyle/>
        <a:p>
          <a:endParaRPr lang="en-US"/>
        </a:p>
      </dgm:t>
    </dgm:pt>
    <dgm:pt modelId="{F115595F-8444-4552-84AB-2EBAB8B34634}">
      <dgm:prSet phldrT="[Text]" phldr="0"/>
      <dgm:spPr/>
      <dgm:t>
        <a:bodyPr/>
        <a:lstStyle/>
        <a:p>
          <a:pPr rtl="0"/>
          <a:r>
            <a:rPr lang="en-US" sz="3200" b="1" u="sng" dirty="0"/>
            <a:t>Build Prototype</a:t>
          </a:r>
          <a:endParaRPr lang="en-US" dirty="0"/>
        </a:p>
      </dgm:t>
    </dgm:pt>
    <dgm:pt modelId="{8FE68068-B05F-4328-822F-4C6082931555}" type="parTrans" cxnId="{5258A391-A36B-4117-BF4F-F95394C8624F}">
      <dgm:prSet/>
      <dgm:spPr/>
      <dgm:t>
        <a:bodyPr/>
        <a:lstStyle/>
        <a:p>
          <a:endParaRPr lang="en-US"/>
        </a:p>
      </dgm:t>
    </dgm:pt>
    <dgm:pt modelId="{DEF198E7-9236-4EC3-8286-47681E3AEC06}" type="sibTrans" cxnId="{5258A391-A36B-4117-BF4F-F95394C8624F}">
      <dgm:prSet/>
      <dgm:spPr/>
      <dgm:t>
        <a:bodyPr/>
        <a:lstStyle/>
        <a:p>
          <a:endParaRPr lang="en-US"/>
        </a:p>
      </dgm:t>
    </dgm:pt>
    <dgm:pt modelId="{E4158084-0375-450D-89C3-9AEC47275CB4}">
      <dgm:prSet phldrT="[Text]" phldr="0"/>
      <dgm:spPr/>
      <dgm:t>
        <a:bodyPr/>
        <a:lstStyle/>
        <a:p>
          <a:pPr rtl="0"/>
          <a:r>
            <a:rPr lang="en-US" sz="3200" b="1" u="sng" dirty="0"/>
            <a:t>Test &amp; Validate</a:t>
          </a:r>
          <a:endParaRPr lang="en-US" dirty="0"/>
        </a:p>
      </dgm:t>
    </dgm:pt>
    <dgm:pt modelId="{BC77496A-FEB8-4540-9EBC-62591D774D95}" type="parTrans" cxnId="{03C3CD2A-7322-489C-B4BA-E205EDF9D5DB}">
      <dgm:prSet/>
      <dgm:spPr/>
      <dgm:t>
        <a:bodyPr/>
        <a:lstStyle/>
        <a:p>
          <a:endParaRPr lang="en-US"/>
        </a:p>
      </dgm:t>
    </dgm:pt>
    <dgm:pt modelId="{EFDA5C5D-F41C-4550-89CC-C34AD91D9D08}" type="sibTrans" cxnId="{03C3CD2A-7322-489C-B4BA-E205EDF9D5DB}">
      <dgm:prSet/>
      <dgm:spPr/>
      <dgm:t>
        <a:bodyPr/>
        <a:lstStyle/>
        <a:p>
          <a:endParaRPr lang="en-US"/>
        </a:p>
      </dgm:t>
    </dgm:pt>
    <dgm:pt modelId="{A6DA866E-7055-4F1F-A7D6-30253DB4A1A3}">
      <dgm:prSet phldrT="[Text]" phldr="0"/>
      <dgm:spPr/>
      <dgm:t>
        <a:bodyPr/>
        <a:lstStyle/>
        <a:p>
          <a:pPr rtl="0"/>
          <a:r>
            <a:rPr lang="en-US" sz="3200" b="1" u="sng" dirty="0"/>
            <a:t>Decide Next Steps</a:t>
          </a:r>
          <a:endParaRPr lang="en-US" dirty="0"/>
        </a:p>
      </dgm:t>
    </dgm:pt>
    <dgm:pt modelId="{24135E07-8414-43CC-BED4-3783A85EDE0A}" type="parTrans" cxnId="{0520B9A8-2DCF-4CE1-AB51-9CA5F7308167}">
      <dgm:prSet/>
      <dgm:spPr/>
      <dgm:t>
        <a:bodyPr/>
        <a:lstStyle/>
        <a:p>
          <a:endParaRPr lang="en-US"/>
        </a:p>
      </dgm:t>
    </dgm:pt>
    <dgm:pt modelId="{2A266931-16E5-4C86-9100-EC13B9767C9E}" type="sibTrans" cxnId="{0520B9A8-2DCF-4CE1-AB51-9CA5F7308167}">
      <dgm:prSet/>
      <dgm:spPr/>
      <dgm:t>
        <a:bodyPr/>
        <a:lstStyle/>
        <a:p>
          <a:endParaRPr lang="en-US"/>
        </a:p>
      </dgm:t>
    </dgm:pt>
    <dgm:pt modelId="{B2C5E029-BE70-4B1B-AE57-FE1A01D45867}" type="pres">
      <dgm:prSet presAssocID="{FEE902F6-A52A-45F3-AE68-8D3DF4FB460A}" presName="Name0" presStyleCnt="0">
        <dgm:presLayoutVars>
          <dgm:dir/>
          <dgm:animLvl val="lvl"/>
          <dgm:resizeHandles val="exact"/>
        </dgm:presLayoutVars>
      </dgm:prSet>
      <dgm:spPr/>
    </dgm:pt>
    <dgm:pt modelId="{A9247601-1B6E-4460-924C-194040CEDB22}" type="pres">
      <dgm:prSet presAssocID="{C859BC75-ABAC-4A18-A1BC-410EF6F39D77}" presName="parTxOnly" presStyleLbl="node1" presStyleIdx="0" presStyleCnt="5">
        <dgm:presLayoutVars>
          <dgm:chMax val="0"/>
          <dgm:chPref val="0"/>
          <dgm:bulletEnabled val="1"/>
        </dgm:presLayoutVars>
      </dgm:prSet>
      <dgm:spPr/>
    </dgm:pt>
    <dgm:pt modelId="{44813ECB-26F7-4176-8ECC-2F4D7EBAB79C}" type="pres">
      <dgm:prSet presAssocID="{9277D061-59AE-4920-B7B4-4913B34BE37C}" presName="parTxOnlySpace" presStyleCnt="0"/>
      <dgm:spPr/>
    </dgm:pt>
    <dgm:pt modelId="{BEDACB7D-F085-4416-A79A-BF1B9C1C0010}" type="pres">
      <dgm:prSet presAssocID="{C891005D-371E-404E-9B89-B93A63C82734}" presName="parTxOnly" presStyleLbl="node1" presStyleIdx="1" presStyleCnt="5">
        <dgm:presLayoutVars>
          <dgm:chMax val="0"/>
          <dgm:chPref val="0"/>
          <dgm:bulletEnabled val="1"/>
        </dgm:presLayoutVars>
      </dgm:prSet>
      <dgm:spPr/>
    </dgm:pt>
    <dgm:pt modelId="{FFA5A937-FAC8-4815-9276-B906FF81499C}" type="pres">
      <dgm:prSet presAssocID="{FFF56A7B-606C-46DB-A7A6-52345009947B}" presName="parTxOnlySpace" presStyleCnt="0"/>
      <dgm:spPr/>
    </dgm:pt>
    <dgm:pt modelId="{8B8BBB68-76F2-471A-8534-3A92F2FE0BA7}" type="pres">
      <dgm:prSet presAssocID="{F115595F-8444-4552-84AB-2EBAB8B34634}" presName="parTxOnly" presStyleLbl="node1" presStyleIdx="2" presStyleCnt="5">
        <dgm:presLayoutVars>
          <dgm:chMax val="0"/>
          <dgm:chPref val="0"/>
          <dgm:bulletEnabled val="1"/>
        </dgm:presLayoutVars>
      </dgm:prSet>
      <dgm:spPr/>
    </dgm:pt>
    <dgm:pt modelId="{E8724C7B-E762-4081-A0B3-10C87477A754}" type="pres">
      <dgm:prSet presAssocID="{DEF198E7-9236-4EC3-8286-47681E3AEC06}" presName="parTxOnlySpace" presStyleCnt="0"/>
      <dgm:spPr/>
    </dgm:pt>
    <dgm:pt modelId="{EFDC7E09-EF3C-4FA3-8C2D-495AD3290568}" type="pres">
      <dgm:prSet presAssocID="{E4158084-0375-450D-89C3-9AEC47275CB4}" presName="parTxOnly" presStyleLbl="node1" presStyleIdx="3" presStyleCnt="5">
        <dgm:presLayoutVars>
          <dgm:chMax val="0"/>
          <dgm:chPref val="0"/>
          <dgm:bulletEnabled val="1"/>
        </dgm:presLayoutVars>
      </dgm:prSet>
      <dgm:spPr/>
    </dgm:pt>
    <dgm:pt modelId="{A69A694B-24C9-44EC-881F-D9B4FC2A0DE6}" type="pres">
      <dgm:prSet presAssocID="{EFDA5C5D-F41C-4550-89CC-C34AD91D9D08}" presName="parTxOnlySpace" presStyleCnt="0"/>
      <dgm:spPr/>
    </dgm:pt>
    <dgm:pt modelId="{7C33C9F7-CA0D-44BB-A8A1-9E57E8D883DF}" type="pres">
      <dgm:prSet presAssocID="{A6DA866E-7055-4F1F-A7D6-30253DB4A1A3}" presName="parTxOnly" presStyleLbl="node1" presStyleIdx="4" presStyleCnt="5">
        <dgm:presLayoutVars>
          <dgm:chMax val="0"/>
          <dgm:chPref val="0"/>
          <dgm:bulletEnabled val="1"/>
        </dgm:presLayoutVars>
      </dgm:prSet>
      <dgm:spPr/>
    </dgm:pt>
  </dgm:ptLst>
  <dgm:cxnLst>
    <dgm:cxn modelId="{59C0F30A-CB13-40F4-9157-C8A37604F4E1}" type="presOf" srcId="{FEE902F6-A52A-45F3-AE68-8D3DF4FB460A}" destId="{B2C5E029-BE70-4B1B-AE57-FE1A01D45867}" srcOrd="0" destOrd="0" presId="urn:microsoft.com/office/officeart/2005/8/layout/chevron1"/>
    <dgm:cxn modelId="{AC6C5719-1C02-4185-A793-0D48311A9F02}" type="presOf" srcId="{F115595F-8444-4552-84AB-2EBAB8B34634}" destId="{8B8BBB68-76F2-471A-8534-3A92F2FE0BA7}" srcOrd="0" destOrd="0" presId="urn:microsoft.com/office/officeart/2005/8/layout/chevron1"/>
    <dgm:cxn modelId="{03C3CD2A-7322-489C-B4BA-E205EDF9D5DB}" srcId="{FEE902F6-A52A-45F3-AE68-8D3DF4FB460A}" destId="{E4158084-0375-450D-89C3-9AEC47275CB4}" srcOrd="3" destOrd="0" parTransId="{BC77496A-FEB8-4540-9EBC-62591D774D95}" sibTransId="{EFDA5C5D-F41C-4550-89CC-C34AD91D9D08}"/>
    <dgm:cxn modelId="{77DA6F40-3B54-49CD-9285-8DE647E2130B}" srcId="{FEE902F6-A52A-45F3-AE68-8D3DF4FB460A}" destId="{C891005D-371E-404E-9B89-B93A63C82734}" srcOrd="1" destOrd="0" parTransId="{16107FE7-89B5-4FDA-8128-E781C5F5D9B4}" sibTransId="{FFF56A7B-606C-46DB-A7A6-52345009947B}"/>
    <dgm:cxn modelId="{0DEEAB5E-1390-4FD3-B1F4-6F8BBE836350}" type="presOf" srcId="{A6DA866E-7055-4F1F-A7D6-30253DB4A1A3}" destId="{7C33C9F7-CA0D-44BB-A8A1-9E57E8D883DF}" srcOrd="0" destOrd="0" presId="urn:microsoft.com/office/officeart/2005/8/layout/chevron1"/>
    <dgm:cxn modelId="{2C2D8955-F94A-41E3-8D77-734C0B8BB614}" type="presOf" srcId="{C859BC75-ABAC-4A18-A1BC-410EF6F39D77}" destId="{A9247601-1B6E-4460-924C-194040CEDB22}" srcOrd="0" destOrd="0" presId="urn:microsoft.com/office/officeart/2005/8/layout/chevron1"/>
    <dgm:cxn modelId="{3289925A-71C0-42A3-93CE-26C89D11D9B5}" type="presOf" srcId="{E4158084-0375-450D-89C3-9AEC47275CB4}" destId="{EFDC7E09-EF3C-4FA3-8C2D-495AD3290568}" srcOrd="0" destOrd="0" presId="urn:microsoft.com/office/officeart/2005/8/layout/chevron1"/>
    <dgm:cxn modelId="{5258A391-A36B-4117-BF4F-F95394C8624F}" srcId="{FEE902F6-A52A-45F3-AE68-8D3DF4FB460A}" destId="{F115595F-8444-4552-84AB-2EBAB8B34634}" srcOrd="2" destOrd="0" parTransId="{8FE68068-B05F-4328-822F-4C6082931555}" sibTransId="{DEF198E7-9236-4EC3-8286-47681E3AEC06}"/>
    <dgm:cxn modelId="{0520B9A8-2DCF-4CE1-AB51-9CA5F7308167}" srcId="{FEE902F6-A52A-45F3-AE68-8D3DF4FB460A}" destId="{A6DA866E-7055-4F1F-A7D6-30253DB4A1A3}" srcOrd="4" destOrd="0" parTransId="{24135E07-8414-43CC-BED4-3783A85EDE0A}" sibTransId="{2A266931-16E5-4C86-9100-EC13B9767C9E}"/>
    <dgm:cxn modelId="{96ACF0B9-D870-4294-8503-8A0DC7B21A64}" type="presOf" srcId="{C891005D-371E-404E-9B89-B93A63C82734}" destId="{BEDACB7D-F085-4416-A79A-BF1B9C1C0010}" srcOrd="0" destOrd="0" presId="urn:microsoft.com/office/officeart/2005/8/layout/chevron1"/>
    <dgm:cxn modelId="{7FB44AE2-05EF-4F3F-A992-242BB0E5D3C5}" srcId="{FEE902F6-A52A-45F3-AE68-8D3DF4FB460A}" destId="{C859BC75-ABAC-4A18-A1BC-410EF6F39D77}" srcOrd="0" destOrd="0" parTransId="{D5296F91-5F0D-4951-A19D-852AE4F4D271}" sibTransId="{9277D061-59AE-4920-B7B4-4913B34BE37C}"/>
    <dgm:cxn modelId="{5CDACEDE-D7F9-4EC3-B104-ECF252EE4FEA}" type="presParOf" srcId="{B2C5E029-BE70-4B1B-AE57-FE1A01D45867}" destId="{A9247601-1B6E-4460-924C-194040CEDB22}" srcOrd="0" destOrd="0" presId="urn:microsoft.com/office/officeart/2005/8/layout/chevron1"/>
    <dgm:cxn modelId="{9A3968F5-044A-48FE-8D54-873117C496E1}" type="presParOf" srcId="{B2C5E029-BE70-4B1B-AE57-FE1A01D45867}" destId="{44813ECB-26F7-4176-8ECC-2F4D7EBAB79C}" srcOrd="1" destOrd="0" presId="urn:microsoft.com/office/officeart/2005/8/layout/chevron1"/>
    <dgm:cxn modelId="{790522D2-CACB-4B88-A9FD-DA1F65038A26}" type="presParOf" srcId="{B2C5E029-BE70-4B1B-AE57-FE1A01D45867}" destId="{BEDACB7D-F085-4416-A79A-BF1B9C1C0010}" srcOrd="2" destOrd="0" presId="urn:microsoft.com/office/officeart/2005/8/layout/chevron1"/>
    <dgm:cxn modelId="{E16C2869-9A39-4C88-A708-2FF67EBE69D8}" type="presParOf" srcId="{B2C5E029-BE70-4B1B-AE57-FE1A01D45867}" destId="{FFA5A937-FAC8-4815-9276-B906FF81499C}" srcOrd="3" destOrd="0" presId="urn:microsoft.com/office/officeart/2005/8/layout/chevron1"/>
    <dgm:cxn modelId="{A60166DF-1F21-4D25-B8AE-DF3B8AE88F67}" type="presParOf" srcId="{B2C5E029-BE70-4B1B-AE57-FE1A01D45867}" destId="{8B8BBB68-76F2-471A-8534-3A92F2FE0BA7}" srcOrd="4" destOrd="0" presId="urn:microsoft.com/office/officeart/2005/8/layout/chevron1"/>
    <dgm:cxn modelId="{32055196-21F0-4BF0-B546-FD302D8A458A}" type="presParOf" srcId="{B2C5E029-BE70-4B1B-AE57-FE1A01D45867}" destId="{E8724C7B-E762-4081-A0B3-10C87477A754}" srcOrd="5" destOrd="0" presId="urn:microsoft.com/office/officeart/2005/8/layout/chevron1"/>
    <dgm:cxn modelId="{1E49BFB6-A612-463D-B578-1314496F7484}" type="presParOf" srcId="{B2C5E029-BE70-4B1B-AE57-FE1A01D45867}" destId="{EFDC7E09-EF3C-4FA3-8C2D-495AD3290568}" srcOrd="6" destOrd="0" presId="urn:microsoft.com/office/officeart/2005/8/layout/chevron1"/>
    <dgm:cxn modelId="{41602864-7D1D-42DE-877F-37E4319A0C75}" type="presParOf" srcId="{B2C5E029-BE70-4B1B-AE57-FE1A01D45867}" destId="{A69A694B-24C9-44EC-881F-D9B4FC2A0DE6}" srcOrd="7" destOrd="0" presId="urn:microsoft.com/office/officeart/2005/8/layout/chevron1"/>
    <dgm:cxn modelId="{1168C5D3-D4BE-47AC-BE18-DD39516F1459}" type="presParOf" srcId="{B2C5E029-BE70-4B1B-AE57-FE1A01D45867}" destId="{7C33C9F7-CA0D-44BB-A8A1-9E57E8D883DF}"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62113D-882C-4034-A4D5-C4362F2B5A9A}" type="doc">
      <dgm:prSet loTypeId="urn:microsoft.com/office/officeart/2005/8/layout/hierarchy2" loCatId="hierarchy" qsTypeId="urn:microsoft.com/office/officeart/2005/8/quickstyle/simple1#1" qsCatId="simple" csTypeId="urn:microsoft.com/office/officeart/2005/8/colors/accent1_2#1" csCatId="accent1" phldr="1"/>
      <dgm:spPr/>
      <dgm:t>
        <a:bodyPr/>
        <a:lstStyle/>
        <a:p>
          <a:endParaRPr lang="en-US"/>
        </a:p>
      </dgm:t>
    </dgm:pt>
    <dgm:pt modelId="{D9783E6C-26C7-46AD-BA24-9B85F2F1FD89}">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Solution</a:t>
          </a:r>
          <a:endParaRPr lang="en-US" sz="1300" dirty="0">
            <a:solidFill>
              <a:schemeClr val="tx2"/>
            </a:solidFill>
            <a:ea typeface="+mn-ea"/>
            <a:cs typeface="+mn-cs"/>
          </a:endParaRPr>
        </a:p>
      </dgm:t>
    </dgm:pt>
    <dgm:pt modelId="{E45CF9A2-91BF-47C2-93BE-DC4429398CD8}" type="parTrans" cxnId="{6736BC97-3DA3-4389-82AE-DE8832FA12E0}">
      <dgm:prSet/>
      <dgm:spPr/>
      <dgm:t>
        <a:bodyPr/>
        <a:lstStyle/>
        <a:p>
          <a:endParaRPr lang="en-US"/>
        </a:p>
      </dgm:t>
    </dgm:pt>
    <dgm:pt modelId="{10704C9D-4FD0-4BB4-B003-93C5B27DEC82}" type="sibTrans" cxnId="{6736BC97-3DA3-4389-82AE-DE8832FA12E0}">
      <dgm:prSet/>
      <dgm:spPr/>
      <dgm:t>
        <a:bodyPr/>
        <a:lstStyle/>
        <a:p>
          <a:endParaRPr lang="en-IN"/>
        </a:p>
      </dgm:t>
    </dgm:pt>
    <dgm:pt modelId="{2D8570A8-4930-4AAC-95D3-98D5E643DE2A}">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OTA A</a:t>
          </a:r>
        </a:p>
      </dgm:t>
    </dgm:pt>
    <dgm:pt modelId="{99C33219-8430-4E0E-8AAB-4C14889E9309}" type="parTrans" cxnId="{DD908BA6-64E5-4CBC-823D-A113FD8D4008}">
      <dgm:prSet/>
      <dgm:spPr/>
      <dgm:t>
        <a:bodyPr/>
        <a:lstStyle/>
        <a:p>
          <a:endParaRPr lang="en-US"/>
        </a:p>
      </dgm:t>
    </dgm:pt>
    <dgm:pt modelId="{1F92EF17-90D8-4B60-8D6C-9DF1002DAB12}" type="sibTrans" cxnId="{DD908BA6-64E5-4CBC-823D-A113FD8D4008}">
      <dgm:prSet/>
      <dgm:spPr/>
      <dgm:t>
        <a:bodyPr/>
        <a:lstStyle/>
        <a:p>
          <a:endParaRPr lang="en-IN"/>
        </a:p>
      </dgm:t>
    </dgm:pt>
    <dgm:pt modelId="{A37823DE-D7A8-49DC-AE11-46E38065DA28}">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Airline X</a:t>
          </a:r>
          <a:endParaRPr lang="en-US" sz="1300" dirty="0">
            <a:solidFill>
              <a:schemeClr val="tx2"/>
            </a:solidFill>
            <a:ea typeface="+mn-ea"/>
            <a:cs typeface="+mn-cs"/>
          </a:endParaRPr>
        </a:p>
      </dgm:t>
    </dgm:pt>
    <dgm:pt modelId="{C0BC4E3D-A149-4E1D-A3E4-6048C5F148B7}" type="parTrans" cxnId="{75662426-7A31-40F8-9F14-049282E6533C}">
      <dgm:prSet/>
      <dgm:spPr/>
      <dgm:t>
        <a:bodyPr/>
        <a:lstStyle/>
        <a:p>
          <a:endParaRPr lang="en-US"/>
        </a:p>
      </dgm:t>
    </dgm:pt>
    <dgm:pt modelId="{9E73C951-D4E6-4AEB-9277-8D3C21C60350}" type="sibTrans" cxnId="{75662426-7A31-40F8-9F14-049282E6533C}">
      <dgm:prSet/>
      <dgm:spPr/>
      <dgm:t>
        <a:bodyPr/>
        <a:lstStyle/>
        <a:p>
          <a:endParaRPr lang="en-IN"/>
        </a:p>
      </dgm:t>
    </dgm:pt>
    <dgm:pt modelId="{FA8D4FF3-DDE9-476A-8DB4-2C59A0FB8B50}">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OTA </a:t>
          </a:r>
        </a:p>
      </dgm:t>
    </dgm:pt>
    <dgm:pt modelId="{B1C301F9-EE8B-415D-95E2-E8398D96054A}" type="parTrans" cxnId="{7FAF5A26-22AD-42E2-BDEB-2121F70C205F}">
      <dgm:prSet/>
      <dgm:spPr/>
      <dgm:t>
        <a:bodyPr/>
        <a:lstStyle/>
        <a:p>
          <a:endParaRPr lang="en-US"/>
        </a:p>
      </dgm:t>
    </dgm:pt>
    <dgm:pt modelId="{2796E2E2-3F25-41DE-94EB-E548F2F6688B}" type="sibTrans" cxnId="{7FAF5A26-22AD-42E2-BDEB-2121F70C205F}">
      <dgm:prSet/>
      <dgm:spPr/>
      <dgm:t>
        <a:bodyPr/>
        <a:lstStyle/>
        <a:p>
          <a:endParaRPr lang="en-IN"/>
        </a:p>
      </dgm:t>
    </dgm:pt>
    <dgm:pt modelId="{774AE12E-EDA1-4ACE-8A2C-B246615370E2}">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a:lnSpc>
              <a:spcPct val="90000"/>
            </a:lnSpc>
          </a:pPr>
          <a:r>
            <a:rPr lang="en-US" sz="1300" dirty="0">
              <a:solidFill>
                <a:schemeClr val="tx2"/>
              </a:solidFill>
              <a:latin typeface="Calibri"/>
              <a:ea typeface="+mn-ea"/>
              <a:cs typeface="+mn-cs"/>
            </a:rPr>
            <a:t>Firewall</a:t>
          </a:r>
          <a:r>
            <a:rPr lang="en-US" sz="1300" dirty="0">
              <a:solidFill>
                <a:srgbClr val="FFFFFF"/>
              </a:solidFill>
              <a:latin typeface="Calibri"/>
              <a:ea typeface="+mn-ea"/>
              <a:cs typeface="+mn-cs"/>
            </a:rPr>
            <a:t>  </a:t>
          </a:r>
          <a:endParaRPr lang="en-US" sz="1300" dirty="0">
            <a:solidFill>
              <a:srgbClr val="FFFFFF"/>
            </a:solidFill>
            <a:ea typeface="+mn-ea"/>
            <a:cs typeface="+mn-cs"/>
          </a:endParaRPr>
        </a:p>
      </dgm:t>
    </dgm:pt>
    <dgm:pt modelId="{3E43E4DB-364D-421C-A434-D498335EBAAF}" type="parTrans" cxnId="{0C0B8B30-A194-404D-8BF2-6BA65C1AE7B0}">
      <dgm:prSet/>
      <dgm:spPr/>
      <dgm:t>
        <a:bodyPr/>
        <a:lstStyle/>
        <a:p>
          <a:endParaRPr lang="en-US"/>
        </a:p>
      </dgm:t>
    </dgm:pt>
    <dgm:pt modelId="{9E69A1E5-F9E9-4EF3-85C2-7EF0247C130C}" type="sibTrans" cxnId="{0C0B8B30-A194-404D-8BF2-6BA65C1AE7B0}">
      <dgm:prSet/>
      <dgm:spPr/>
      <dgm:t>
        <a:bodyPr/>
        <a:lstStyle/>
        <a:p>
          <a:endParaRPr lang="en-IN"/>
        </a:p>
      </dgm:t>
    </dgm:pt>
    <dgm:pt modelId="{54FEB0B6-EAB3-4EFA-B10B-D020B6951EB3}">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a:lnSpc>
              <a:spcPct val="90000"/>
            </a:lnSpc>
          </a:pPr>
          <a:r>
            <a:rPr lang="en-US" sz="1300" dirty="0">
              <a:solidFill>
                <a:schemeClr val="tx2"/>
              </a:solidFill>
              <a:latin typeface="Calibri"/>
              <a:ea typeface="+mn-ea"/>
              <a:cs typeface="+mn-cs"/>
            </a:rPr>
            <a:t>CAPTCHA</a:t>
          </a:r>
          <a:endParaRPr lang="en-US" sz="1300" dirty="0">
            <a:solidFill>
              <a:schemeClr val="tx2"/>
            </a:solidFill>
            <a:ea typeface="+mn-ea"/>
            <a:cs typeface="+mn-cs"/>
          </a:endParaRPr>
        </a:p>
      </dgm:t>
    </dgm:pt>
    <dgm:pt modelId="{8E76862E-9DAA-4058-A1B8-1138A394F9F1}" type="parTrans" cxnId="{1768FC28-4E54-4FF0-9AF3-257D7C675501}">
      <dgm:prSet/>
      <dgm:spPr/>
      <dgm:t>
        <a:bodyPr/>
        <a:lstStyle/>
        <a:p>
          <a:endParaRPr lang="en-US"/>
        </a:p>
      </dgm:t>
    </dgm:pt>
    <dgm:pt modelId="{BD860355-D870-4542-ABD6-E6CE0916722B}" type="sibTrans" cxnId="{1768FC28-4E54-4FF0-9AF3-257D7C675501}">
      <dgm:prSet/>
      <dgm:spPr/>
      <dgm:t>
        <a:bodyPr/>
        <a:lstStyle/>
        <a:p>
          <a:endParaRPr lang="en-IN"/>
        </a:p>
      </dgm:t>
    </dgm:pt>
    <dgm:pt modelId="{E786C805-D30C-4DFC-8DB9-2DB55BB78623}">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Mospi Analytics</a:t>
          </a:r>
        </a:p>
      </dgm:t>
    </dgm:pt>
    <dgm:pt modelId="{D1942E30-5E73-4579-A210-8B72308671C9}" type="parTrans" cxnId="{2C90A24D-A5A3-462C-ADA5-5156884FB459}">
      <dgm:prSet/>
      <dgm:spPr/>
      <dgm:t>
        <a:bodyPr/>
        <a:lstStyle/>
        <a:p>
          <a:endParaRPr lang="en-IN"/>
        </a:p>
      </dgm:t>
    </dgm:pt>
    <dgm:pt modelId="{E7A4A93D-8847-4D6A-8A2B-7CD7009F6606}" type="sibTrans" cxnId="{2C90A24D-A5A3-462C-ADA5-5156884FB459}">
      <dgm:prSet/>
      <dgm:spPr/>
      <dgm:t>
        <a:bodyPr/>
        <a:lstStyle/>
        <a:p>
          <a:endParaRPr lang="en-IN"/>
        </a:p>
      </dgm:t>
    </dgm:pt>
    <dgm:pt modelId="{D0855AD2-DA21-4902-B6BA-C07EF5BF9FB5}">
      <dgm:prSet phldrT="[Text]" phldr="0">
        <dgm:style>
          <a:lnRef idx="1">
            <a:schemeClr val="accent6"/>
          </a:lnRef>
          <a:fillRef idx="2">
            <a:schemeClr val="accent6"/>
          </a:fillRef>
          <a:effectRef idx="1">
            <a:schemeClr val="accent6"/>
          </a:effectRef>
          <a:fontRef idx="minor">
            <a:schemeClr val="dk1"/>
          </a:fontRef>
        </dgm:style>
      </dgm:prSet>
      <dgm:spPr/>
      <dgm:t>
        <a:bodyPr/>
        <a:lstStyle/>
        <a:p>
          <a:pPr algn="ctr" rtl="0">
            <a:lnSpc>
              <a:spcPct val="90000"/>
            </a:lnSpc>
          </a:pPr>
          <a:r>
            <a:rPr lang="en-US" sz="1300" dirty="0">
              <a:solidFill>
                <a:schemeClr val="tx2"/>
              </a:solidFill>
              <a:latin typeface="Calibri"/>
              <a:ea typeface="+mn-ea"/>
              <a:cs typeface="+mn-cs"/>
            </a:rPr>
            <a:t>Routing</a:t>
          </a:r>
        </a:p>
      </dgm:t>
    </dgm:pt>
    <dgm:pt modelId="{C7E684B9-FB30-4F87-A180-73B64AA4106A}" type="parTrans" cxnId="{2FA3D5EF-1705-4E4F-AC7C-92FDB4860D8C}">
      <dgm:prSet/>
      <dgm:spPr/>
      <dgm:t>
        <a:bodyPr/>
        <a:lstStyle/>
        <a:p>
          <a:endParaRPr lang="en-US"/>
        </a:p>
      </dgm:t>
    </dgm:pt>
    <dgm:pt modelId="{9EF0C92E-9D7E-43A9-B6D2-9B738D00961E}" type="sibTrans" cxnId="{2FA3D5EF-1705-4E4F-AC7C-92FDB4860D8C}">
      <dgm:prSet/>
      <dgm:spPr/>
      <dgm:t>
        <a:bodyPr/>
        <a:lstStyle/>
        <a:p>
          <a:endParaRPr lang="en-IN"/>
        </a:p>
      </dgm:t>
    </dgm:pt>
    <dgm:pt modelId="{1A68C119-F82A-4DD0-B6E8-751A0B18A61E}" type="pres">
      <dgm:prSet presAssocID="{1B62113D-882C-4034-A4D5-C4362F2B5A9A}" presName="diagram" presStyleCnt="0">
        <dgm:presLayoutVars>
          <dgm:chPref val="1"/>
          <dgm:dir val="rev"/>
          <dgm:animOne val="branch"/>
          <dgm:animLvl val="lvl"/>
          <dgm:resizeHandles val="exact"/>
        </dgm:presLayoutVars>
      </dgm:prSet>
      <dgm:spPr/>
    </dgm:pt>
    <dgm:pt modelId="{0A42F94F-47A2-49C5-856B-66DB1D095F85}" type="pres">
      <dgm:prSet presAssocID="{E786C805-D30C-4DFC-8DB9-2DB55BB78623}" presName="root1" presStyleCnt="0"/>
      <dgm:spPr/>
    </dgm:pt>
    <dgm:pt modelId="{5BD6BC8A-784B-40A9-9088-CD3520D723B2}" type="pres">
      <dgm:prSet presAssocID="{E786C805-D30C-4DFC-8DB9-2DB55BB78623}" presName="LevelOneTextNode" presStyleLbl="node0" presStyleIdx="0" presStyleCnt="1">
        <dgm:presLayoutVars>
          <dgm:chPref val="3"/>
        </dgm:presLayoutVars>
      </dgm:prSet>
      <dgm:spPr/>
    </dgm:pt>
    <dgm:pt modelId="{2889CA1F-0A73-491D-B8CA-BD062E2C13DD}" type="pres">
      <dgm:prSet presAssocID="{E786C805-D30C-4DFC-8DB9-2DB55BB78623}" presName="level2hierChild" presStyleCnt="0"/>
      <dgm:spPr/>
    </dgm:pt>
    <dgm:pt modelId="{7673DEC5-0445-4599-B26E-C8890ABD4233}" type="pres">
      <dgm:prSet presAssocID="{C7E684B9-FB30-4F87-A180-73B64AA4106A}" presName="conn2-1" presStyleLbl="parChTrans1D2" presStyleIdx="0" presStyleCnt="1"/>
      <dgm:spPr/>
    </dgm:pt>
    <dgm:pt modelId="{F4109CCD-87F1-4A4E-B052-0AA4000A0129}" type="pres">
      <dgm:prSet presAssocID="{C7E684B9-FB30-4F87-A180-73B64AA4106A}" presName="connTx" presStyleLbl="parChTrans1D2" presStyleIdx="0" presStyleCnt="1"/>
      <dgm:spPr/>
    </dgm:pt>
    <dgm:pt modelId="{F6897413-63B6-4F29-9A2C-F91BDEC4B78D}" type="pres">
      <dgm:prSet presAssocID="{D0855AD2-DA21-4902-B6BA-C07EF5BF9FB5}" presName="root2" presStyleCnt="0"/>
      <dgm:spPr/>
    </dgm:pt>
    <dgm:pt modelId="{5D71D7C9-CFBE-46DA-8F24-52338D4A345C}" type="pres">
      <dgm:prSet presAssocID="{D0855AD2-DA21-4902-B6BA-C07EF5BF9FB5}" presName="LevelTwoTextNode" presStyleLbl="node2" presStyleIdx="0" presStyleCnt="1">
        <dgm:presLayoutVars>
          <dgm:chPref val="3"/>
        </dgm:presLayoutVars>
      </dgm:prSet>
      <dgm:spPr/>
    </dgm:pt>
    <dgm:pt modelId="{B130B9A2-EADA-4EDE-AB0D-D7C5944A3C76}" type="pres">
      <dgm:prSet presAssocID="{D0855AD2-DA21-4902-B6BA-C07EF5BF9FB5}" presName="level3hierChild" presStyleCnt="0"/>
      <dgm:spPr/>
    </dgm:pt>
    <dgm:pt modelId="{56556A7E-F2D6-4D04-986C-C45E01555233}" type="pres">
      <dgm:prSet presAssocID="{8E76862E-9DAA-4058-A1B8-1138A394F9F1}" presName="conn2-1" presStyleLbl="parChTrans1D3" presStyleIdx="0" presStyleCnt="1"/>
      <dgm:spPr/>
    </dgm:pt>
    <dgm:pt modelId="{CE119B4B-755B-48CA-98CD-C55A35338B72}" type="pres">
      <dgm:prSet presAssocID="{8E76862E-9DAA-4058-A1B8-1138A394F9F1}" presName="connTx" presStyleLbl="parChTrans1D3" presStyleIdx="0" presStyleCnt="1"/>
      <dgm:spPr/>
    </dgm:pt>
    <dgm:pt modelId="{8523436B-18C2-40A2-9716-694E49943E80}" type="pres">
      <dgm:prSet presAssocID="{54FEB0B6-EAB3-4EFA-B10B-D020B6951EB3}" presName="root2" presStyleCnt="0"/>
      <dgm:spPr/>
    </dgm:pt>
    <dgm:pt modelId="{344A4DCF-94B9-4C9B-B674-D5F5B29C4010}" type="pres">
      <dgm:prSet presAssocID="{54FEB0B6-EAB3-4EFA-B10B-D020B6951EB3}" presName="LevelTwoTextNode" presStyleLbl="node3" presStyleIdx="0" presStyleCnt="1">
        <dgm:presLayoutVars>
          <dgm:chPref val="3"/>
        </dgm:presLayoutVars>
      </dgm:prSet>
      <dgm:spPr/>
    </dgm:pt>
    <dgm:pt modelId="{D3ACAE19-E4AC-431A-9980-49C7C3BC5836}" type="pres">
      <dgm:prSet presAssocID="{54FEB0B6-EAB3-4EFA-B10B-D020B6951EB3}" presName="level3hierChild" presStyleCnt="0"/>
      <dgm:spPr/>
    </dgm:pt>
    <dgm:pt modelId="{3BB7700E-002B-48C6-B5D8-FDFDD4A172FE}" type="pres">
      <dgm:prSet presAssocID="{3E43E4DB-364D-421C-A434-D498335EBAAF}" presName="conn2-1" presStyleLbl="parChTrans1D4" presStyleIdx="0" presStyleCnt="5"/>
      <dgm:spPr/>
    </dgm:pt>
    <dgm:pt modelId="{A2E86912-989B-4B79-BD7A-FFAFE4AB43A8}" type="pres">
      <dgm:prSet presAssocID="{3E43E4DB-364D-421C-A434-D498335EBAAF}" presName="connTx" presStyleLbl="parChTrans1D4" presStyleIdx="0" presStyleCnt="5"/>
      <dgm:spPr/>
    </dgm:pt>
    <dgm:pt modelId="{03E9AF54-AA76-43B0-87D3-E6964281B480}" type="pres">
      <dgm:prSet presAssocID="{774AE12E-EDA1-4ACE-8A2C-B246615370E2}" presName="root2" presStyleCnt="0"/>
      <dgm:spPr/>
    </dgm:pt>
    <dgm:pt modelId="{1A7708A3-5224-46AF-ABB2-E3B08DD9EB69}" type="pres">
      <dgm:prSet presAssocID="{774AE12E-EDA1-4ACE-8A2C-B246615370E2}" presName="LevelTwoTextNode" presStyleLbl="node4" presStyleIdx="0" presStyleCnt="5">
        <dgm:presLayoutVars>
          <dgm:chPref val="3"/>
        </dgm:presLayoutVars>
      </dgm:prSet>
      <dgm:spPr/>
    </dgm:pt>
    <dgm:pt modelId="{00858110-EDF9-4155-888A-A848D0647D0B}" type="pres">
      <dgm:prSet presAssocID="{774AE12E-EDA1-4ACE-8A2C-B246615370E2}" presName="level3hierChild" presStyleCnt="0"/>
      <dgm:spPr/>
    </dgm:pt>
    <dgm:pt modelId="{2CB57FE1-A16B-4DF2-B11D-5645CCC20A33}" type="pres">
      <dgm:prSet presAssocID="{E45CF9A2-91BF-47C2-93BE-DC4429398CD8}" presName="conn2-1" presStyleLbl="parChTrans1D4" presStyleIdx="1" presStyleCnt="5"/>
      <dgm:spPr/>
    </dgm:pt>
    <dgm:pt modelId="{7BB7011A-AE9D-485D-AA8C-D171AC9F58DA}" type="pres">
      <dgm:prSet presAssocID="{E45CF9A2-91BF-47C2-93BE-DC4429398CD8}" presName="connTx" presStyleLbl="parChTrans1D4" presStyleIdx="1" presStyleCnt="5"/>
      <dgm:spPr/>
    </dgm:pt>
    <dgm:pt modelId="{8F263201-FCC1-4369-AC70-588BEC3ADA77}" type="pres">
      <dgm:prSet presAssocID="{D9783E6C-26C7-46AD-BA24-9B85F2F1FD89}" presName="root2" presStyleCnt="0"/>
      <dgm:spPr/>
    </dgm:pt>
    <dgm:pt modelId="{69BA1047-63FD-440C-92EB-5A324E1F8843}" type="pres">
      <dgm:prSet presAssocID="{D9783E6C-26C7-46AD-BA24-9B85F2F1FD89}" presName="LevelTwoTextNode" presStyleLbl="node4" presStyleIdx="1" presStyleCnt="5">
        <dgm:presLayoutVars>
          <dgm:chPref val="3"/>
        </dgm:presLayoutVars>
      </dgm:prSet>
      <dgm:spPr/>
    </dgm:pt>
    <dgm:pt modelId="{FC8C0FE0-F7B6-4856-8BD3-3CCF9154813F}" type="pres">
      <dgm:prSet presAssocID="{D9783E6C-26C7-46AD-BA24-9B85F2F1FD89}" presName="level3hierChild" presStyleCnt="0"/>
      <dgm:spPr/>
    </dgm:pt>
    <dgm:pt modelId="{B1DE5ECC-67AC-46E3-9D6B-4769DEF1D63A}" type="pres">
      <dgm:prSet presAssocID="{99C33219-8430-4E0E-8AAB-4C14889E9309}" presName="conn2-1" presStyleLbl="parChTrans1D4" presStyleIdx="2" presStyleCnt="5"/>
      <dgm:spPr/>
    </dgm:pt>
    <dgm:pt modelId="{BF1ABD31-E452-4D0A-9A33-E2D4C02863C0}" type="pres">
      <dgm:prSet presAssocID="{99C33219-8430-4E0E-8AAB-4C14889E9309}" presName="connTx" presStyleLbl="parChTrans1D4" presStyleIdx="2" presStyleCnt="5"/>
      <dgm:spPr/>
    </dgm:pt>
    <dgm:pt modelId="{532269D9-0A73-49D2-B866-A43161461C4F}" type="pres">
      <dgm:prSet presAssocID="{2D8570A8-4930-4AAC-95D3-98D5E643DE2A}" presName="root2" presStyleCnt="0"/>
      <dgm:spPr/>
    </dgm:pt>
    <dgm:pt modelId="{92A62104-B97D-4ED0-8721-50D0D2A1FBA9}" type="pres">
      <dgm:prSet presAssocID="{2D8570A8-4930-4AAC-95D3-98D5E643DE2A}" presName="LevelTwoTextNode" presStyleLbl="node4" presStyleIdx="2" presStyleCnt="5">
        <dgm:presLayoutVars>
          <dgm:chPref val="3"/>
        </dgm:presLayoutVars>
      </dgm:prSet>
      <dgm:spPr/>
    </dgm:pt>
    <dgm:pt modelId="{BE9A8BBD-71C0-47E0-BE86-A9B155C665DA}" type="pres">
      <dgm:prSet presAssocID="{2D8570A8-4930-4AAC-95D3-98D5E643DE2A}" presName="level3hierChild" presStyleCnt="0"/>
      <dgm:spPr/>
    </dgm:pt>
    <dgm:pt modelId="{53A06725-2B87-4417-BD36-FE7FCEB51CBB}" type="pres">
      <dgm:prSet presAssocID="{C0BC4E3D-A149-4E1D-A3E4-6048C5F148B7}" presName="conn2-1" presStyleLbl="parChTrans1D4" presStyleIdx="3" presStyleCnt="5"/>
      <dgm:spPr/>
    </dgm:pt>
    <dgm:pt modelId="{34857545-D555-44D9-BD46-4BE151641201}" type="pres">
      <dgm:prSet presAssocID="{C0BC4E3D-A149-4E1D-A3E4-6048C5F148B7}" presName="connTx" presStyleLbl="parChTrans1D4" presStyleIdx="3" presStyleCnt="5"/>
      <dgm:spPr/>
    </dgm:pt>
    <dgm:pt modelId="{2343F57D-7B51-4BC4-A90C-946F2AB02550}" type="pres">
      <dgm:prSet presAssocID="{A37823DE-D7A8-49DC-AE11-46E38065DA28}" presName="root2" presStyleCnt="0"/>
      <dgm:spPr/>
    </dgm:pt>
    <dgm:pt modelId="{07FDCF76-7EBB-4AA8-86BE-B1B1B7373D74}" type="pres">
      <dgm:prSet presAssocID="{A37823DE-D7A8-49DC-AE11-46E38065DA28}" presName="LevelTwoTextNode" presStyleLbl="node4" presStyleIdx="3" presStyleCnt="5">
        <dgm:presLayoutVars>
          <dgm:chPref val="3"/>
        </dgm:presLayoutVars>
      </dgm:prSet>
      <dgm:spPr/>
    </dgm:pt>
    <dgm:pt modelId="{28C2C531-DFE8-4C5D-B6A7-3D3695AA8ED4}" type="pres">
      <dgm:prSet presAssocID="{A37823DE-D7A8-49DC-AE11-46E38065DA28}" presName="level3hierChild" presStyleCnt="0"/>
      <dgm:spPr/>
    </dgm:pt>
    <dgm:pt modelId="{8B0F222C-15AA-4865-8C42-560E638FC891}" type="pres">
      <dgm:prSet presAssocID="{B1C301F9-EE8B-415D-95E2-E8398D96054A}" presName="conn2-1" presStyleLbl="parChTrans1D4" presStyleIdx="4" presStyleCnt="5"/>
      <dgm:spPr/>
    </dgm:pt>
    <dgm:pt modelId="{BFCCBFD2-84AF-4291-8F83-4DA9B572381A}" type="pres">
      <dgm:prSet presAssocID="{B1C301F9-EE8B-415D-95E2-E8398D96054A}" presName="connTx" presStyleLbl="parChTrans1D4" presStyleIdx="4" presStyleCnt="5"/>
      <dgm:spPr/>
    </dgm:pt>
    <dgm:pt modelId="{80F364F3-2BCD-463B-967A-FBC978FC611C}" type="pres">
      <dgm:prSet presAssocID="{FA8D4FF3-DDE9-476A-8DB4-2C59A0FB8B50}" presName="root2" presStyleCnt="0"/>
      <dgm:spPr/>
    </dgm:pt>
    <dgm:pt modelId="{D2778A29-4EB0-45BF-A710-C7FAB01B31A7}" type="pres">
      <dgm:prSet presAssocID="{FA8D4FF3-DDE9-476A-8DB4-2C59A0FB8B50}" presName="LevelTwoTextNode" presStyleLbl="node4" presStyleIdx="4" presStyleCnt="5">
        <dgm:presLayoutVars>
          <dgm:chPref val="3"/>
        </dgm:presLayoutVars>
      </dgm:prSet>
      <dgm:spPr/>
    </dgm:pt>
    <dgm:pt modelId="{8CF42940-2B0C-48D0-B742-CE2450293881}" type="pres">
      <dgm:prSet presAssocID="{FA8D4FF3-DDE9-476A-8DB4-2C59A0FB8B50}" presName="level3hierChild" presStyleCnt="0"/>
      <dgm:spPr/>
    </dgm:pt>
  </dgm:ptLst>
  <dgm:cxnLst>
    <dgm:cxn modelId="{D1673C1E-90A9-43EA-B554-20454D167104}" type="presOf" srcId="{B1C301F9-EE8B-415D-95E2-E8398D96054A}" destId="{8B0F222C-15AA-4865-8C42-560E638FC891}" srcOrd="0" destOrd="0" presId="urn:microsoft.com/office/officeart/2005/8/layout/hierarchy2"/>
    <dgm:cxn modelId="{75662426-7A31-40F8-9F14-049282E6533C}" srcId="{D9783E6C-26C7-46AD-BA24-9B85F2F1FD89}" destId="{A37823DE-D7A8-49DC-AE11-46E38065DA28}" srcOrd="1" destOrd="0" parTransId="{C0BC4E3D-A149-4E1D-A3E4-6048C5F148B7}" sibTransId="{9E73C951-D4E6-4AEB-9277-8D3C21C60350}"/>
    <dgm:cxn modelId="{7FAF5A26-22AD-42E2-BDEB-2121F70C205F}" srcId="{D9783E6C-26C7-46AD-BA24-9B85F2F1FD89}" destId="{FA8D4FF3-DDE9-476A-8DB4-2C59A0FB8B50}" srcOrd="2" destOrd="0" parTransId="{B1C301F9-EE8B-415D-95E2-E8398D96054A}" sibTransId="{2796E2E2-3F25-41DE-94EB-E548F2F6688B}"/>
    <dgm:cxn modelId="{1768FC28-4E54-4FF0-9AF3-257D7C675501}" srcId="{D0855AD2-DA21-4902-B6BA-C07EF5BF9FB5}" destId="{54FEB0B6-EAB3-4EFA-B10B-D020B6951EB3}" srcOrd="0" destOrd="0" parTransId="{8E76862E-9DAA-4058-A1B8-1138A394F9F1}" sibTransId="{BD860355-D870-4542-ABD6-E6CE0916722B}"/>
    <dgm:cxn modelId="{805B3129-5FC2-4D1A-B9F5-39DD0E31CF27}" type="presOf" srcId="{B1C301F9-EE8B-415D-95E2-E8398D96054A}" destId="{BFCCBFD2-84AF-4291-8F83-4DA9B572381A}" srcOrd="1" destOrd="0" presId="urn:microsoft.com/office/officeart/2005/8/layout/hierarchy2"/>
    <dgm:cxn modelId="{0C0B8B30-A194-404D-8BF2-6BA65C1AE7B0}" srcId="{54FEB0B6-EAB3-4EFA-B10B-D020B6951EB3}" destId="{774AE12E-EDA1-4ACE-8A2C-B246615370E2}" srcOrd="0" destOrd="0" parTransId="{3E43E4DB-364D-421C-A434-D498335EBAAF}" sibTransId="{9E69A1E5-F9E9-4EF3-85C2-7EF0247C130C}"/>
    <dgm:cxn modelId="{E0CD0E32-0138-4158-B4CF-800DBCD4DF53}" type="presOf" srcId="{E45CF9A2-91BF-47C2-93BE-DC4429398CD8}" destId="{7BB7011A-AE9D-485D-AA8C-D171AC9F58DA}" srcOrd="1" destOrd="0" presId="urn:microsoft.com/office/officeart/2005/8/layout/hierarchy2"/>
    <dgm:cxn modelId="{7F94F336-C0D4-4B5F-AB3A-C242EFAB3C06}" type="presOf" srcId="{8E76862E-9DAA-4058-A1B8-1138A394F9F1}" destId="{56556A7E-F2D6-4D04-986C-C45E01555233}" srcOrd="0" destOrd="0" presId="urn:microsoft.com/office/officeart/2005/8/layout/hierarchy2"/>
    <dgm:cxn modelId="{7A746962-4DCE-45DE-9563-4D0476C986DB}" type="presOf" srcId="{3E43E4DB-364D-421C-A434-D498335EBAAF}" destId="{3BB7700E-002B-48C6-B5D8-FDFDD4A172FE}" srcOrd="0" destOrd="0" presId="urn:microsoft.com/office/officeart/2005/8/layout/hierarchy2"/>
    <dgm:cxn modelId="{0F2DD543-E0B7-4305-8FD3-DC3CEE9DE86E}" type="presOf" srcId="{8E76862E-9DAA-4058-A1B8-1138A394F9F1}" destId="{CE119B4B-755B-48CA-98CD-C55A35338B72}" srcOrd="1" destOrd="0" presId="urn:microsoft.com/office/officeart/2005/8/layout/hierarchy2"/>
    <dgm:cxn modelId="{7AD8FC44-E03E-45A0-BBE5-FD61F9C43536}" type="presOf" srcId="{D0855AD2-DA21-4902-B6BA-C07EF5BF9FB5}" destId="{5D71D7C9-CFBE-46DA-8F24-52338D4A345C}" srcOrd="0" destOrd="0" presId="urn:microsoft.com/office/officeart/2005/8/layout/hierarchy2"/>
    <dgm:cxn modelId="{19699F4B-BA0B-4E88-93E4-EB989A4A2D21}" type="presOf" srcId="{D9783E6C-26C7-46AD-BA24-9B85F2F1FD89}" destId="{69BA1047-63FD-440C-92EB-5A324E1F8843}" srcOrd="0" destOrd="0" presId="urn:microsoft.com/office/officeart/2005/8/layout/hierarchy2"/>
    <dgm:cxn modelId="{2C90A24D-A5A3-462C-ADA5-5156884FB459}" srcId="{1B62113D-882C-4034-A4D5-C4362F2B5A9A}" destId="{E786C805-D30C-4DFC-8DB9-2DB55BB78623}" srcOrd="0" destOrd="0" parTransId="{D1942E30-5E73-4579-A210-8B72308671C9}" sibTransId="{E7A4A93D-8847-4D6A-8A2B-7CD7009F6606}"/>
    <dgm:cxn modelId="{F77EAB51-13E0-44BE-8E5C-1D1AA1A29656}" type="presOf" srcId="{A37823DE-D7A8-49DC-AE11-46E38065DA28}" destId="{07FDCF76-7EBB-4AA8-86BE-B1B1B7373D74}" srcOrd="0" destOrd="0" presId="urn:microsoft.com/office/officeart/2005/8/layout/hierarchy2"/>
    <dgm:cxn modelId="{F879D671-C006-401B-A676-2396D141A330}" type="presOf" srcId="{2D8570A8-4930-4AAC-95D3-98D5E643DE2A}" destId="{92A62104-B97D-4ED0-8721-50D0D2A1FBA9}" srcOrd="0" destOrd="0" presId="urn:microsoft.com/office/officeart/2005/8/layout/hierarchy2"/>
    <dgm:cxn modelId="{52272679-0873-477B-AD7B-979CE8D4DAC7}" type="presOf" srcId="{E786C805-D30C-4DFC-8DB9-2DB55BB78623}" destId="{5BD6BC8A-784B-40A9-9088-CD3520D723B2}" srcOrd="0" destOrd="0" presId="urn:microsoft.com/office/officeart/2005/8/layout/hierarchy2"/>
    <dgm:cxn modelId="{6EB26280-69D8-4028-B06F-9E57D090A5CD}" type="presOf" srcId="{3E43E4DB-364D-421C-A434-D498335EBAAF}" destId="{A2E86912-989B-4B79-BD7A-FFAFE4AB43A8}" srcOrd="1" destOrd="0" presId="urn:microsoft.com/office/officeart/2005/8/layout/hierarchy2"/>
    <dgm:cxn modelId="{2DB65A8F-19F7-4C15-9420-22EBC8233E2A}" type="presOf" srcId="{54FEB0B6-EAB3-4EFA-B10B-D020B6951EB3}" destId="{344A4DCF-94B9-4C9B-B674-D5F5B29C4010}" srcOrd="0" destOrd="0" presId="urn:microsoft.com/office/officeart/2005/8/layout/hierarchy2"/>
    <dgm:cxn modelId="{4796EF8F-7AE0-44AF-BF60-618A323A9D5C}" type="presOf" srcId="{C0BC4E3D-A149-4E1D-A3E4-6048C5F148B7}" destId="{53A06725-2B87-4417-BD36-FE7FCEB51CBB}" srcOrd="0" destOrd="0" presId="urn:microsoft.com/office/officeart/2005/8/layout/hierarchy2"/>
    <dgm:cxn modelId="{6736BC97-3DA3-4389-82AE-DE8832FA12E0}" srcId="{774AE12E-EDA1-4ACE-8A2C-B246615370E2}" destId="{D9783E6C-26C7-46AD-BA24-9B85F2F1FD89}" srcOrd="0" destOrd="0" parTransId="{E45CF9A2-91BF-47C2-93BE-DC4429398CD8}" sibTransId="{10704C9D-4FD0-4BB4-B003-93C5B27DEC82}"/>
    <dgm:cxn modelId="{46AFE29B-7830-45BF-AD7B-24CB2B55FCAB}" type="presOf" srcId="{C0BC4E3D-A149-4E1D-A3E4-6048C5F148B7}" destId="{34857545-D555-44D9-BD46-4BE151641201}" srcOrd="1" destOrd="0" presId="urn:microsoft.com/office/officeart/2005/8/layout/hierarchy2"/>
    <dgm:cxn modelId="{C65529A1-45C2-45BA-B670-CAEB7D191508}" type="presOf" srcId="{99C33219-8430-4E0E-8AAB-4C14889E9309}" destId="{BF1ABD31-E452-4D0A-9A33-E2D4C02863C0}" srcOrd="1" destOrd="0" presId="urn:microsoft.com/office/officeart/2005/8/layout/hierarchy2"/>
    <dgm:cxn modelId="{DD908BA6-64E5-4CBC-823D-A113FD8D4008}" srcId="{D9783E6C-26C7-46AD-BA24-9B85F2F1FD89}" destId="{2D8570A8-4930-4AAC-95D3-98D5E643DE2A}" srcOrd="0" destOrd="0" parTransId="{99C33219-8430-4E0E-8AAB-4C14889E9309}" sibTransId="{1F92EF17-90D8-4B60-8D6C-9DF1002DAB12}"/>
    <dgm:cxn modelId="{3B1E70AF-B002-41C7-87D0-FBE490FC292D}" type="presOf" srcId="{E45CF9A2-91BF-47C2-93BE-DC4429398CD8}" destId="{2CB57FE1-A16B-4DF2-B11D-5645CCC20A33}" srcOrd="0" destOrd="0" presId="urn:microsoft.com/office/officeart/2005/8/layout/hierarchy2"/>
    <dgm:cxn modelId="{68744BC6-3467-4B63-8EE4-773BD200F1BC}" type="presOf" srcId="{C7E684B9-FB30-4F87-A180-73B64AA4106A}" destId="{F4109CCD-87F1-4A4E-B052-0AA4000A0129}" srcOrd="1" destOrd="0" presId="urn:microsoft.com/office/officeart/2005/8/layout/hierarchy2"/>
    <dgm:cxn modelId="{C52544CA-B635-4A80-81F2-C04918ED1D6B}" type="presOf" srcId="{99C33219-8430-4E0E-8AAB-4C14889E9309}" destId="{B1DE5ECC-67AC-46E3-9D6B-4769DEF1D63A}" srcOrd="0" destOrd="0" presId="urn:microsoft.com/office/officeart/2005/8/layout/hierarchy2"/>
    <dgm:cxn modelId="{1709BAD3-E578-469C-943C-84E1CC846B96}" type="presOf" srcId="{1B62113D-882C-4034-A4D5-C4362F2B5A9A}" destId="{1A68C119-F82A-4DD0-B6E8-751A0B18A61E}" srcOrd="0" destOrd="0" presId="urn:microsoft.com/office/officeart/2005/8/layout/hierarchy2"/>
    <dgm:cxn modelId="{1B6566D9-ADE7-40BC-8FE3-9D1F75250897}" type="presOf" srcId="{774AE12E-EDA1-4ACE-8A2C-B246615370E2}" destId="{1A7708A3-5224-46AF-ABB2-E3B08DD9EB69}" srcOrd="0" destOrd="0" presId="urn:microsoft.com/office/officeart/2005/8/layout/hierarchy2"/>
    <dgm:cxn modelId="{723B5CE8-4666-483B-B077-BCAC6617671A}" type="presOf" srcId="{FA8D4FF3-DDE9-476A-8DB4-2C59A0FB8B50}" destId="{D2778A29-4EB0-45BF-A710-C7FAB01B31A7}" srcOrd="0" destOrd="0" presId="urn:microsoft.com/office/officeart/2005/8/layout/hierarchy2"/>
    <dgm:cxn modelId="{2FA3D5EF-1705-4E4F-AC7C-92FDB4860D8C}" srcId="{E786C805-D30C-4DFC-8DB9-2DB55BB78623}" destId="{D0855AD2-DA21-4902-B6BA-C07EF5BF9FB5}" srcOrd="0" destOrd="0" parTransId="{C7E684B9-FB30-4F87-A180-73B64AA4106A}" sibTransId="{9EF0C92E-9D7E-43A9-B6D2-9B738D00961E}"/>
    <dgm:cxn modelId="{C5721EFC-9902-493E-A6FB-D31A5A9150B5}" type="presOf" srcId="{C7E684B9-FB30-4F87-A180-73B64AA4106A}" destId="{7673DEC5-0445-4599-B26E-C8890ABD4233}" srcOrd="0" destOrd="0" presId="urn:microsoft.com/office/officeart/2005/8/layout/hierarchy2"/>
    <dgm:cxn modelId="{2E146C7C-C256-4A67-BAC1-9D2DB5D9B168}" type="presParOf" srcId="{1A68C119-F82A-4DD0-B6E8-751A0B18A61E}" destId="{0A42F94F-47A2-49C5-856B-66DB1D095F85}" srcOrd="0" destOrd="0" presId="urn:microsoft.com/office/officeart/2005/8/layout/hierarchy2"/>
    <dgm:cxn modelId="{539FF270-6249-48F2-A312-35FD492632C0}" type="presParOf" srcId="{0A42F94F-47A2-49C5-856B-66DB1D095F85}" destId="{5BD6BC8A-784B-40A9-9088-CD3520D723B2}" srcOrd="0" destOrd="0" presId="urn:microsoft.com/office/officeart/2005/8/layout/hierarchy2"/>
    <dgm:cxn modelId="{84003804-43D7-43B0-A551-60CB8FEF7C60}" type="presParOf" srcId="{0A42F94F-47A2-49C5-856B-66DB1D095F85}" destId="{2889CA1F-0A73-491D-B8CA-BD062E2C13DD}" srcOrd="1" destOrd="0" presId="urn:microsoft.com/office/officeart/2005/8/layout/hierarchy2"/>
    <dgm:cxn modelId="{00923C79-62FB-4E6E-A2B3-1EC6885019BB}" type="presParOf" srcId="{2889CA1F-0A73-491D-B8CA-BD062E2C13DD}" destId="{7673DEC5-0445-4599-B26E-C8890ABD4233}" srcOrd="0" destOrd="0" presId="urn:microsoft.com/office/officeart/2005/8/layout/hierarchy2"/>
    <dgm:cxn modelId="{A68BE38F-AC51-418D-A9E0-C1C14AF1C045}" type="presParOf" srcId="{7673DEC5-0445-4599-B26E-C8890ABD4233}" destId="{F4109CCD-87F1-4A4E-B052-0AA4000A0129}" srcOrd="0" destOrd="0" presId="urn:microsoft.com/office/officeart/2005/8/layout/hierarchy2"/>
    <dgm:cxn modelId="{C19D23E9-9503-4C8A-A5FA-68B2B0411EBD}" type="presParOf" srcId="{2889CA1F-0A73-491D-B8CA-BD062E2C13DD}" destId="{F6897413-63B6-4F29-9A2C-F91BDEC4B78D}" srcOrd="1" destOrd="0" presId="urn:microsoft.com/office/officeart/2005/8/layout/hierarchy2"/>
    <dgm:cxn modelId="{CC86D39B-6E7C-48F9-BFBD-555DA94F43DF}" type="presParOf" srcId="{F6897413-63B6-4F29-9A2C-F91BDEC4B78D}" destId="{5D71D7C9-CFBE-46DA-8F24-52338D4A345C}" srcOrd="0" destOrd="0" presId="urn:microsoft.com/office/officeart/2005/8/layout/hierarchy2"/>
    <dgm:cxn modelId="{22531CE9-800E-4D39-B7F9-5CB7AD1804C9}" type="presParOf" srcId="{F6897413-63B6-4F29-9A2C-F91BDEC4B78D}" destId="{B130B9A2-EADA-4EDE-AB0D-D7C5944A3C76}" srcOrd="1" destOrd="0" presId="urn:microsoft.com/office/officeart/2005/8/layout/hierarchy2"/>
    <dgm:cxn modelId="{6E013351-6377-4F4D-9325-1388CEF73E69}" type="presParOf" srcId="{B130B9A2-EADA-4EDE-AB0D-D7C5944A3C76}" destId="{56556A7E-F2D6-4D04-986C-C45E01555233}" srcOrd="0" destOrd="0" presId="urn:microsoft.com/office/officeart/2005/8/layout/hierarchy2"/>
    <dgm:cxn modelId="{D5319982-2CF3-4C6F-B6F8-3C49AD59FB9C}" type="presParOf" srcId="{56556A7E-F2D6-4D04-986C-C45E01555233}" destId="{CE119B4B-755B-48CA-98CD-C55A35338B72}" srcOrd="0" destOrd="0" presId="urn:microsoft.com/office/officeart/2005/8/layout/hierarchy2"/>
    <dgm:cxn modelId="{05259A77-4F20-4FF6-A3D2-9C047F86C065}" type="presParOf" srcId="{B130B9A2-EADA-4EDE-AB0D-D7C5944A3C76}" destId="{8523436B-18C2-40A2-9716-694E49943E80}" srcOrd="1" destOrd="0" presId="urn:microsoft.com/office/officeart/2005/8/layout/hierarchy2"/>
    <dgm:cxn modelId="{A9568F67-1610-4564-9F7C-4C001A129D72}" type="presParOf" srcId="{8523436B-18C2-40A2-9716-694E49943E80}" destId="{344A4DCF-94B9-4C9B-B674-D5F5B29C4010}" srcOrd="0" destOrd="0" presId="urn:microsoft.com/office/officeart/2005/8/layout/hierarchy2"/>
    <dgm:cxn modelId="{639A5D7A-AE3E-496C-92F5-01C4999A8C53}" type="presParOf" srcId="{8523436B-18C2-40A2-9716-694E49943E80}" destId="{D3ACAE19-E4AC-431A-9980-49C7C3BC5836}" srcOrd="1" destOrd="0" presId="urn:microsoft.com/office/officeart/2005/8/layout/hierarchy2"/>
    <dgm:cxn modelId="{2EB2344A-E285-490F-A930-2118BD762CD4}" type="presParOf" srcId="{D3ACAE19-E4AC-431A-9980-49C7C3BC5836}" destId="{3BB7700E-002B-48C6-B5D8-FDFDD4A172FE}" srcOrd="0" destOrd="0" presId="urn:microsoft.com/office/officeart/2005/8/layout/hierarchy2"/>
    <dgm:cxn modelId="{966D2BD1-1202-42E2-9907-4A46C656DC0D}" type="presParOf" srcId="{3BB7700E-002B-48C6-B5D8-FDFDD4A172FE}" destId="{A2E86912-989B-4B79-BD7A-FFAFE4AB43A8}" srcOrd="0" destOrd="0" presId="urn:microsoft.com/office/officeart/2005/8/layout/hierarchy2"/>
    <dgm:cxn modelId="{C10BD60E-72B8-477D-9157-1F36A04691BC}" type="presParOf" srcId="{D3ACAE19-E4AC-431A-9980-49C7C3BC5836}" destId="{03E9AF54-AA76-43B0-87D3-E6964281B480}" srcOrd="1" destOrd="0" presId="urn:microsoft.com/office/officeart/2005/8/layout/hierarchy2"/>
    <dgm:cxn modelId="{C0D17A7F-F2EF-4170-84F7-A0F4A1F9F798}" type="presParOf" srcId="{03E9AF54-AA76-43B0-87D3-E6964281B480}" destId="{1A7708A3-5224-46AF-ABB2-E3B08DD9EB69}" srcOrd="0" destOrd="0" presId="urn:microsoft.com/office/officeart/2005/8/layout/hierarchy2"/>
    <dgm:cxn modelId="{1F6629F2-E58B-4750-95B9-FF9A6CA31F52}" type="presParOf" srcId="{03E9AF54-AA76-43B0-87D3-E6964281B480}" destId="{00858110-EDF9-4155-888A-A848D0647D0B}" srcOrd="1" destOrd="0" presId="urn:microsoft.com/office/officeart/2005/8/layout/hierarchy2"/>
    <dgm:cxn modelId="{C7154242-2519-4B71-B261-B9162D57F7F8}" type="presParOf" srcId="{00858110-EDF9-4155-888A-A848D0647D0B}" destId="{2CB57FE1-A16B-4DF2-B11D-5645CCC20A33}" srcOrd="0" destOrd="0" presId="urn:microsoft.com/office/officeart/2005/8/layout/hierarchy2"/>
    <dgm:cxn modelId="{158F3FD5-F59C-4B0C-9D62-ADB1C7D6FD30}" type="presParOf" srcId="{2CB57FE1-A16B-4DF2-B11D-5645CCC20A33}" destId="{7BB7011A-AE9D-485D-AA8C-D171AC9F58DA}" srcOrd="0" destOrd="0" presId="urn:microsoft.com/office/officeart/2005/8/layout/hierarchy2"/>
    <dgm:cxn modelId="{542E4D3A-0254-426C-AB34-4C3C68145F79}" type="presParOf" srcId="{00858110-EDF9-4155-888A-A848D0647D0B}" destId="{8F263201-FCC1-4369-AC70-588BEC3ADA77}" srcOrd="1" destOrd="0" presId="urn:microsoft.com/office/officeart/2005/8/layout/hierarchy2"/>
    <dgm:cxn modelId="{A3E00FEA-F258-4316-B96C-75039DC01C45}" type="presParOf" srcId="{8F263201-FCC1-4369-AC70-588BEC3ADA77}" destId="{69BA1047-63FD-440C-92EB-5A324E1F8843}" srcOrd="0" destOrd="0" presId="urn:microsoft.com/office/officeart/2005/8/layout/hierarchy2"/>
    <dgm:cxn modelId="{368D0674-0FDD-4ED0-BB2B-EF81140D8BC7}" type="presParOf" srcId="{8F263201-FCC1-4369-AC70-588BEC3ADA77}" destId="{FC8C0FE0-F7B6-4856-8BD3-3CCF9154813F}" srcOrd="1" destOrd="0" presId="urn:microsoft.com/office/officeart/2005/8/layout/hierarchy2"/>
    <dgm:cxn modelId="{0380ED1A-7075-4256-A3A6-B558D0668759}" type="presParOf" srcId="{FC8C0FE0-F7B6-4856-8BD3-3CCF9154813F}" destId="{B1DE5ECC-67AC-46E3-9D6B-4769DEF1D63A}" srcOrd="0" destOrd="0" presId="urn:microsoft.com/office/officeart/2005/8/layout/hierarchy2"/>
    <dgm:cxn modelId="{19E9CB32-29FA-43C9-9546-ED4575448328}" type="presParOf" srcId="{B1DE5ECC-67AC-46E3-9D6B-4769DEF1D63A}" destId="{BF1ABD31-E452-4D0A-9A33-E2D4C02863C0}" srcOrd="0" destOrd="0" presId="urn:microsoft.com/office/officeart/2005/8/layout/hierarchy2"/>
    <dgm:cxn modelId="{355733A3-4F65-4145-815C-13AB129677DE}" type="presParOf" srcId="{FC8C0FE0-F7B6-4856-8BD3-3CCF9154813F}" destId="{532269D9-0A73-49D2-B866-A43161461C4F}" srcOrd="1" destOrd="0" presId="urn:microsoft.com/office/officeart/2005/8/layout/hierarchy2"/>
    <dgm:cxn modelId="{E332507A-945D-49B7-965A-6F215CBE3128}" type="presParOf" srcId="{532269D9-0A73-49D2-B866-A43161461C4F}" destId="{92A62104-B97D-4ED0-8721-50D0D2A1FBA9}" srcOrd="0" destOrd="0" presId="urn:microsoft.com/office/officeart/2005/8/layout/hierarchy2"/>
    <dgm:cxn modelId="{A300F4B3-014E-4931-9F45-218EC4F07A68}" type="presParOf" srcId="{532269D9-0A73-49D2-B866-A43161461C4F}" destId="{BE9A8BBD-71C0-47E0-BE86-A9B155C665DA}" srcOrd="1" destOrd="0" presId="urn:microsoft.com/office/officeart/2005/8/layout/hierarchy2"/>
    <dgm:cxn modelId="{C5A35FB6-83A9-4512-9856-DDBBE94ECF06}" type="presParOf" srcId="{FC8C0FE0-F7B6-4856-8BD3-3CCF9154813F}" destId="{53A06725-2B87-4417-BD36-FE7FCEB51CBB}" srcOrd="2" destOrd="0" presId="urn:microsoft.com/office/officeart/2005/8/layout/hierarchy2"/>
    <dgm:cxn modelId="{73A3E6D1-8BDE-4CBB-BB70-DEA6D07FF9B2}" type="presParOf" srcId="{53A06725-2B87-4417-BD36-FE7FCEB51CBB}" destId="{34857545-D555-44D9-BD46-4BE151641201}" srcOrd="0" destOrd="0" presId="urn:microsoft.com/office/officeart/2005/8/layout/hierarchy2"/>
    <dgm:cxn modelId="{313A9F3C-BFF5-40A5-9C10-2924F410D8F8}" type="presParOf" srcId="{FC8C0FE0-F7B6-4856-8BD3-3CCF9154813F}" destId="{2343F57D-7B51-4BC4-A90C-946F2AB02550}" srcOrd="3" destOrd="0" presId="urn:microsoft.com/office/officeart/2005/8/layout/hierarchy2"/>
    <dgm:cxn modelId="{D2E0C5E9-F904-42B3-91AA-526C33577031}" type="presParOf" srcId="{2343F57D-7B51-4BC4-A90C-946F2AB02550}" destId="{07FDCF76-7EBB-4AA8-86BE-B1B1B7373D74}" srcOrd="0" destOrd="0" presId="urn:microsoft.com/office/officeart/2005/8/layout/hierarchy2"/>
    <dgm:cxn modelId="{36070769-5311-456D-BC8E-56BA9722D6B7}" type="presParOf" srcId="{2343F57D-7B51-4BC4-A90C-946F2AB02550}" destId="{28C2C531-DFE8-4C5D-B6A7-3D3695AA8ED4}" srcOrd="1" destOrd="0" presId="urn:microsoft.com/office/officeart/2005/8/layout/hierarchy2"/>
    <dgm:cxn modelId="{4EE2159B-CD94-4C1C-9042-6C00E097F1BA}" type="presParOf" srcId="{FC8C0FE0-F7B6-4856-8BD3-3CCF9154813F}" destId="{8B0F222C-15AA-4865-8C42-560E638FC891}" srcOrd="4" destOrd="0" presId="urn:microsoft.com/office/officeart/2005/8/layout/hierarchy2"/>
    <dgm:cxn modelId="{31358391-4056-44B2-950B-939360A98FE6}" type="presParOf" srcId="{8B0F222C-15AA-4865-8C42-560E638FC891}" destId="{BFCCBFD2-84AF-4291-8F83-4DA9B572381A}" srcOrd="0" destOrd="0" presId="urn:microsoft.com/office/officeart/2005/8/layout/hierarchy2"/>
    <dgm:cxn modelId="{C6E75AC9-E4F4-40AC-BD93-A31CB6A2A65C}" type="presParOf" srcId="{FC8C0FE0-F7B6-4856-8BD3-3CCF9154813F}" destId="{80F364F3-2BCD-463B-967A-FBC978FC611C}" srcOrd="5" destOrd="0" presId="urn:microsoft.com/office/officeart/2005/8/layout/hierarchy2"/>
    <dgm:cxn modelId="{2F959CDF-C608-410D-8156-CA61A99201AD}" type="presParOf" srcId="{80F364F3-2BCD-463B-967A-FBC978FC611C}" destId="{D2778A29-4EB0-45BF-A710-C7FAB01B31A7}" srcOrd="0" destOrd="0" presId="urn:microsoft.com/office/officeart/2005/8/layout/hierarchy2"/>
    <dgm:cxn modelId="{FC57B521-8182-4879-BDD0-0612DCB5B8AC}" type="presParOf" srcId="{80F364F3-2BCD-463B-967A-FBC978FC611C}" destId="{8CF42940-2B0C-48D0-B742-CE2450293881}" srcOrd="1" destOrd="0" presId="urn:microsoft.com/office/officeart/2005/8/layout/hierarchy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247601-1B6E-4460-924C-194040CEDB22}">
      <dsp:nvSpPr>
        <dsp:cNvPr id="0" name=""/>
        <dsp:cNvSpPr/>
      </dsp:nvSpPr>
      <dsp:spPr>
        <a:xfrm>
          <a:off x="3884" y="3640024"/>
          <a:ext cx="3456967" cy="138278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rtl="0">
            <a:lnSpc>
              <a:spcPct val="90000"/>
            </a:lnSpc>
            <a:spcBef>
              <a:spcPct val="0"/>
            </a:spcBef>
            <a:spcAft>
              <a:spcPct val="35000"/>
            </a:spcAft>
            <a:buNone/>
          </a:pPr>
          <a:r>
            <a:rPr lang="en-US" sz="3100" b="1" u="sng" kern="1200" dirty="0"/>
            <a:t>Define Problem &amp; Objective</a:t>
          </a:r>
          <a:endParaRPr lang="en-US" sz="3100" kern="1200" dirty="0"/>
        </a:p>
      </dsp:txBody>
      <dsp:txXfrm>
        <a:off x="695277" y="3640024"/>
        <a:ext cx="2074181" cy="1382786"/>
      </dsp:txXfrm>
    </dsp:sp>
    <dsp:sp modelId="{BEDACB7D-F085-4416-A79A-BF1B9C1C0010}">
      <dsp:nvSpPr>
        <dsp:cNvPr id="0" name=""/>
        <dsp:cNvSpPr/>
      </dsp:nvSpPr>
      <dsp:spPr>
        <a:xfrm>
          <a:off x="3115154" y="3640024"/>
          <a:ext cx="3456967" cy="138278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rtl="0">
            <a:lnSpc>
              <a:spcPct val="90000"/>
            </a:lnSpc>
            <a:spcBef>
              <a:spcPct val="0"/>
            </a:spcBef>
            <a:spcAft>
              <a:spcPct val="35000"/>
            </a:spcAft>
            <a:buNone/>
          </a:pPr>
          <a:r>
            <a:rPr lang="en-US" sz="3100" b="1" u="sng" kern="1200" dirty="0"/>
            <a:t>Set Success Criteria</a:t>
          </a:r>
          <a:endParaRPr lang="en-US" sz="3100" kern="1200" dirty="0"/>
        </a:p>
      </dsp:txBody>
      <dsp:txXfrm>
        <a:off x="3806547" y="3640024"/>
        <a:ext cx="2074181" cy="1382786"/>
      </dsp:txXfrm>
    </dsp:sp>
    <dsp:sp modelId="{8B8BBB68-76F2-471A-8534-3A92F2FE0BA7}">
      <dsp:nvSpPr>
        <dsp:cNvPr id="0" name=""/>
        <dsp:cNvSpPr/>
      </dsp:nvSpPr>
      <dsp:spPr>
        <a:xfrm>
          <a:off x="6226425" y="3640024"/>
          <a:ext cx="3456967" cy="138278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rtl="0">
            <a:lnSpc>
              <a:spcPct val="90000"/>
            </a:lnSpc>
            <a:spcBef>
              <a:spcPct val="0"/>
            </a:spcBef>
            <a:spcAft>
              <a:spcPct val="35000"/>
            </a:spcAft>
            <a:buNone/>
          </a:pPr>
          <a:r>
            <a:rPr lang="en-US" sz="3100" b="1" u="sng" kern="1200" dirty="0"/>
            <a:t>Build Prototype</a:t>
          </a:r>
          <a:endParaRPr lang="en-US" sz="3100" kern="1200" dirty="0"/>
        </a:p>
      </dsp:txBody>
      <dsp:txXfrm>
        <a:off x="6917818" y="3640024"/>
        <a:ext cx="2074181" cy="1382786"/>
      </dsp:txXfrm>
    </dsp:sp>
    <dsp:sp modelId="{EFDC7E09-EF3C-4FA3-8C2D-495AD3290568}">
      <dsp:nvSpPr>
        <dsp:cNvPr id="0" name=""/>
        <dsp:cNvSpPr/>
      </dsp:nvSpPr>
      <dsp:spPr>
        <a:xfrm>
          <a:off x="9337695" y="3640024"/>
          <a:ext cx="3456967" cy="138278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rtl="0">
            <a:lnSpc>
              <a:spcPct val="90000"/>
            </a:lnSpc>
            <a:spcBef>
              <a:spcPct val="0"/>
            </a:spcBef>
            <a:spcAft>
              <a:spcPct val="35000"/>
            </a:spcAft>
            <a:buNone/>
          </a:pPr>
          <a:r>
            <a:rPr lang="en-US" sz="3100" b="1" u="sng" kern="1200" dirty="0"/>
            <a:t>Test &amp; Validate</a:t>
          </a:r>
          <a:endParaRPr lang="en-US" sz="3100" kern="1200" dirty="0"/>
        </a:p>
      </dsp:txBody>
      <dsp:txXfrm>
        <a:off x="10029088" y="3640024"/>
        <a:ext cx="2074181" cy="1382786"/>
      </dsp:txXfrm>
    </dsp:sp>
    <dsp:sp modelId="{7C33C9F7-CA0D-44BB-A8A1-9E57E8D883DF}">
      <dsp:nvSpPr>
        <dsp:cNvPr id="0" name=""/>
        <dsp:cNvSpPr/>
      </dsp:nvSpPr>
      <dsp:spPr>
        <a:xfrm>
          <a:off x="12448966" y="3640024"/>
          <a:ext cx="3456967" cy="138278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rtl="0">
            <a:lnSpc>
              <a:spcPct val="90000"/>
            </a:lnSpc>
            <a:spcBef>
              <a:spcPct val="0"/>
            </a:spcBef>
            <a:spcAft>
              <a:spcPct val="35000"/>
            </a:spcAft>
            <a:buNone/>
          </a:pPr>
          <a:r>
            <a:rPr lang="en-US" sz="3100" b="1" u="sng" kern="1200" dirty="0"/>
            <a:t>Decide Next Steps</a:t>
          </a:r>
          <a:endParaRPr lang="en-US" sz="3100" kern="1200" dirty="0"/>
        </a:p>
      </dsp:txBody>
      <dsp:txXfrm>
        <a:off x="13140359" y="3640024"/>
        <a:ext cx="2074181" cy="13827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6BC8A-784B-40A9-9088-CD3520D723B2}">
      <dsp:nvSpPr>
        <dsp:cNvPr id="0" name=""/>
        <dsp:cNvSpPr/>
      </dsp:nvSpPr>
      <dsp:spPr>
        <a:xfrm>
          <a:off x="14315060"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Mospi Analytics</a:t>
          </a:r>
        </a:p>
      </dsp:txBody>
      <dsp:txXfrm>
        <a:off x="14345005" y="3624333"/>
        <a:ext cx="1984882" cy="962496"/>
      </dsp:txXfrm>
    </dsp:sp>
    <dsp:sp modelId="{7673DEC5-0445-4599-B26E-C8890ABD4233}">
      <dsp:nvSpPr>
        <dsp:cNvPr id="0" name=""/>
        <dsp:cNvSpPr/>
      </dsp:nvSpPr>
      <dsp:spPr>
        <a:xfrm rot="10800000">
          <a:off x="13497151" y="4094375"/>
          <a:ext cx="817908" cy="22412"/>
        </a:xfrm>
        <a:custGeom>
          <a:avLst/>
          <a:gdLst/>
          <a:ahLst/>
          <a:cxnLst/>
          <a:rect l="0" t="0" r="0" b="0"/>
          <a:pathLst>
            <a:path>
              <a:moveTo>
                <a:pt x="0" y="11206"/>
              </a:moveTo>
              <a:lnTo>
                <a:pt x="817908" y="11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3885658" y="4085133"/>
        <a:ext cx="40895" cy="40895"/>
      </dsp:txXfrm>
    </dsp:sp>
    <dsp:sp modelId="{5D71D7C9-CFBE-46DA-8F24-52338D4A345C}">
      <dsp:nvSpPr>
        <dsp:cNvPr id="0" name=""/>
        <dsp:cNvSpPr/>
      </dsp:nvSpPr>
      <dsp:spPr>
        <a:xfrm>
          <a:off x="11452379"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Routing</a:t>
          </a:r>
        </a:p>
      </dsp:txBody>
      <dsp:txXfrm>
        <a:off x="11482324" y="3624333"/>
        <a:ext cx="1984882" cy="962496"/>
      </dsp:txXfrm>
    </dsp:sp>
    <dsp:sp modelId="{56556A7E-F2D6-4D04-986C-C45E01555233}">
      <dsp:nvSpPr>
        <dsp:cNvPr id="0" name=""/>
        <dsp:cNvSpPr/>
      </dsp:nvSpPr>
      <dsp:spPr>
        <a:xfrm rot="10800000">
          <a:off x="10634470" y="4094375"/>
          <a:ext cx="817908" cy="22412"/>
        </a:xfrm>
        <a:custGeom>
          <a:avLst/>
          <a:gdLst/>
          <a:ahLst/>
          <a:cxnLst/>
          <a:rect l="0" t="0" r="0" b="0"/>
          <a:pathLst>
            <a:path>
              <a:moveTo>
                <a:pt x="0" y="11206"/>
              </a:moveTo>
              <a:lnTo>
                <a:pt x="817908"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1022977" y="4085133"/>
        <a:ext cx="40895" cy="40895"/>
      </dsp:txXfrm>
    </dsp:sp>
    <dsp:sp modelId="{344A4DCF-94B9-4C9B-B674-D5F5B29C4010}">
      <dsp:nvSpPr>
        <dsp:cNvPr id="0" name=""/>
        <dsp:cNvSpPr/>
      </dsp:nvSpPr>
      <dsp:spPr>
        <a:xfrm>
          <a:off x="8589698"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2"/>
              </a:solidFill>
              <a:latin typeface="Calibri"/>
              <a:ea typeface="+mn-ea"/>
              <a:cs typeface="+mn-cs"/>
            </a:rPr>
            <a:t>CAPTCHA</a:t>
          </a:r>
          <a:endParaRPr lang="en-US" sz="3200" kern="1200" dirty="0">
            <a:solidFill>
              <a:schemeClr val="tx2"/>
            </a:solidFill>
            <a:ea typeface="+mn-ea"/>
            <a:cs typeface="+mn-cs"/>
          </a:endParaRPr>
        </a:p>
      </dsp:txBody>
      <dsp:txXfrm>
        <a:off x="8619643" y="3624333"/>
        <a:ext cx="1984882" cy="962496"/>
      </dsp:txXfrm>
    </dsp:sp>
    <dsp:sp modelId="{3BB7700E-002B-48C6-B5D8-FDFDD4A172FE}">
      <dsp:nvSpPr>
        <dsp:cNvPr id="0" name=""/>
        <dsp:cNvSpPr/>
      </dsp:nvSpPr>
      <dsp:spPr>
        <a:xfrm rot="10800000">
          <a:off x="7771790" y="4094375"/>
          <a:ext cx="817908" cy="22412"/>
        </a:xfrm>
        <a:custGeom>
          <a:avLst/>
          <a:gdLst/>
          <a:ahLst/>
          <a:cxnLst/>
          <a:rect l="0" t="0" r="0" b="0"/>
          <a:pathLst>
            <a:path>
              <a:moveTo>
                <a:pt x="0" y="11206"/>
              </a:moveTo>
              <a:lnTo>
                <a:pt x="817908"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8160296" y="4085133"/>
        <a:ext cx="40895" cy="40895"/>
      </dsp:txXfrm>
    </dsp:sp>
    <dsp:sp modelId="{1A7708A3-5224-46AF-ABB2-E3B08DD9EB69}">
      <dsp:nvSpPr>
        <dsp:cNvPr id="0" name=""/>
        <dsp:cNvSpPr/>
      </dsp:nvSpPr>
      <dsp:spPr>
        <a:xfrm>
          <a:off x="5727018"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2"/>
              </a:solidFill>
              <a:latin typeface="Calibri"/>
              <a:ea typeface="+mn-ea"/>
              <a:cs typeface="+mn-cs"/>
            </a:rPr>
            <a:t>Firewall</a:t>
          </a:r>
          <a:r>
            <a:rPr lang="en-US" sz="3200" kern="1200" dirty="0">
              <a:solidFill>
                <a:srgbClr val="FFFFFF"/>
              </a:solidFill>
              <a:latin typeface="Calibri"/>
              <a:ea typeface="+mn-ea"/>
              <a:cs typeface="+mn-cs"/>
            </a:rPr>
            <a:t>  </a:t>
          </a:r>
          <a:endParaRPr lang="en-US" sz="3200" kern="1200" dirty="0">
            <a:solidFill>
              <a:srgbClr val="FFFFFF"/>
            </a:solidFill>
            <a:ea typeface="+mn-ea"/>
            <a:cs typeface="+mn-cs"/>
          </a:endParaRPr>
        </a:p>
      </dsp:txBody>
      <dsp:txXfrm>
        <a:off x="5756963" y="3624333"/>
        <a:ext cx="1984882" cy="962496"/>
      </dsp:txXfrm>
    </dsp:sp>
    <dsp:sp modelId="{2CB57FE1-A16B-4DF2-B11D-5645CCC20A33}">
      <dsp:nvSpPr>
        <dsp:cNvPr id="0" name=""/>
        <dsp:cNvSpPr/>
      </dsp:nvSpPr>
      <dsp:spPr>
        <a:xfrm rot="10800000">
          <a:off x="4909109" y="4094375"/>
          <a:ext cx="817908" cy="22412"/>
        </a:xfrm>
        <a:custGeom>
          <a:avLst/>
          <a:gdLst/>
          <a:ahLst/>
          <a:cxnLst/>
          <a:rect l="0" t="0" r="0" b="0"/>
          <a:pathLst>
            <a:path>
              <a:moveTo>
                <a:pt x="0" y="11206"/>
              </a:moveTo>
              <a:lnTo>
                <a:pt x="817908"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5297615" y="4085133"/>
        <a:ext cx="40895" cy="40895"/>
      </dsp:txXfrm>
    </dsp:sp>
    <dsp:sp modelId="{69BA1047-63FD-440C-92EB-5A324E1F8843}">
      <dsp:nvSpPr>
        <dsp:cNvPr id="0" name=""/>
        <dsp:cNvSpPr/>
      </dsp:nvSpPr>
      <dsp:spPr>
        <a:xfrm>
          <a:off x="2864337"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Solution</a:t>
          </a:r>
          <a:endParaRPr lang="en-US" sz="3200" kern="1200" dirty="0">
            <a:solidFill>
              <a:schemeClr val="tx2"/>
            </a:solidFill>
            <a:ea typeface="+mn-ea"/>
            <a:cs typeface="+mn-cs"/>
          </a:endParaRPr>
        </a:p>
      </dsp:txBody>
      <dsp:txXfrm>
        <a:off x="2894282" y="3624333"/>
        <a:ext cx="1984882" cy="962496"/>
      </dsp:txXfrm>
    </dsp:sp>
    <dsp:sp modelId="{B1DE5ECC-67AC-46E3-9D6B-4769DEF1D63A}">
      <dsp:nvSpPr>
        <dsp:cNvPr id="0" name=""/>
        <dsp:cNvSpPr/>
      </dsp:nvSpPr>
      <dsp:spPr>
        <a:xfrm rot="14110531">
          <a:off x="1739256" y="3506503"/>
          <a:ext cx="1432252" cy="22412"/>
        </a:xfrm>
        <a:custGeom>
          <a:avLst/>
          <a:gdLst/>
          <a:ahLst/>
          <a:cxnLst/>
          <a:rect l="0" t="0" r="0" b="0"/>
          <a:pathLst>
            <a:path>
              <a:moveTo>
                <a:pt x="0" y="11206"/>
              </a:moveTo>
              <a:lnTo>
                <a:pt x="1432252"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19576" y="3481903"/>
        <a:ext cx="71612" cy="71612"/>
      </dsp:txXfrm>
    </dsp:sp>
    <dsp:sp modelId="{92A62104-B97D-4ED0-8721-50D0D2A1FBA9}">
      <dsp:nvSpPr>
        <dsp:cNvPr id="0" name=""/>
        <dsp:cNvSpPr/>
      </dsp:nvSpPr>
      <dsp:spPr>
        <a:xfrm>
          <a:off x="1656" y="2418644"/>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OTA A</a:t>
          </a:r>
        </a:p>
      </dsp:txBody>
      <dsp:txXfrm>
        <a:off x="31601" y="2448589"/>
        <a:ext cx="1984882" cy="962496"/>
      </dsp:txXfrm>
    </dsp:sp>
    <dsp:sp modelId="{53A06725-2B87-4417-BD36-FE7FCEB51CBB}">
      <dsp:nvSpPr>
        <dsp:cNvPr id="0" name=""/>
        <dsp:cNvSpPr/>
      </dsp:nvSpPr>
      <dsp:spPr>
        <a:xfrm rot="10800000">
          <a:off x="2046428" y="4094375"/>
          <a:ext cx="817908" cy="22412"/>
        </a:xfrm>
        <a:custGeom>
          <a:avLst/>
          <a:gdLst/>
          <a:ahLst/>
          <a:cxnLst/>
          <a:rect l="0" t="0" r="0" b="0"/>
          <a:pathLst>
            <a:path>
              <a:moveTo>
                <a:pt x="0" y="11206"/>
              </a:moveTo>
              <a:lnTo>
                <a:pt x="817908"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34935" y="4085133"/>
        <a:ext cx="40895" cy="40895"/>
      </dsp:txXfrm>
    </dsp:sp>
    <dsp:sp modelId="{07FDCF76-7EBB-4AA8-86BE-B1B1B7373D74}">
      <dsp:nvSpPr>
        <dsp:cNvPr id="0" name=""/>
        <dsp:cNvSpPr/>
      </dsp:nvSpPr>
      <dsp:spPr>
        <a:xfrm>
          <a:off x="1656" y="3594388"/>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Airline X</a:t>
          </a:r>
          <a:endParaRPr lang="en-US" sz="3200" kern="1200" dirty="0">
            <a:solidFill>
              <a:schemeClr val="tx2"/>
            </a:solidFill>
            <a:ea typeface="+mn-ea"/>
            <a:cs typeface="+mn-cs"/>
          </a:endParaRPr>
        </a:p>
      </dsp:txBody>
      <dsp:txXfrm>
        <a:off x="31601" y="3624333"/>
        <a:ext cx="1984882" cy="962496"/>
      </dsp:txXfrm>
    </dsp:sp>
    <dsp:sp modelId="{8B0F222C-15AA-4865-8C42-560E638FC891}">
      <dsp:nvSpPr>
        <dsp:cNvPr id="0" name=""/>
        <dsp:cNvSpPr/>
      </dsp:nvSpPr>
      <dsp:spPr>
        <a:xfrm rot="7489469">
          <a:off x="1739256" y="4682247"/>
          <a:ext cx="1432252" cy="22412"/>
        </a:xfrm>
        <a:custGeom>
          <a:avLst/>
          <a:gdLst/>
          <a:ahLst/>
          <a:cxnLst/>
          <a:rect l="0" t="0" r="0" b="0"/>
          <a:pathLst>
            <a:path>
              <a:moveTo>
                <a:pt x="0" y="11206"/>
              </a:moveTo>
              <a:lnTo>
                <a:pt x="1432252" y="1120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19576" y="4657647"/>
        <a:ext cx="71612" cy="71612"/>
      </dsp:txXfrm>
    </dsp:sp>
    <dsp:sp modelId="{D2778A29-4EB0-45BF-A710-C7FAB01B31A7}">
      <dsp:nvSpPr>
        <dsp:cNvPr id="0" name=""/>
        <dsp:cNvSpPr/>
      </dsp:nvSpPr>
      <dsp:spPr>
        <a:xfrm>
          <a:off x="1656" y="4770132"/>
          <a:ext cx="2044772" cy="1022386"/>
        </a:xfrm>
        <a:prstGeom prst="roundRect">
          <a:avLst>
            <a:gd name="adj" fmla="val 10000"/>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2"/>
              </a:solidFill>
              <a:latin typeface="Calibri"/>
              <a:ea typeface="+mn-ea"/>
              <a:cs typeface="+mn-cs"/>
            </a:rPr>
            <a:t>OTA </a:t>
          </a:r>
        </a:p>
      </dsp:txBody>
      <dsp:txXfrm>
        <a:off x="31601" y="4800077"/>
        <a:ext cx="1984882" cy="9624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FB590-A5A2-44ED-8BE7-0DA9540EA2F2}"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67BC97-5016-4F53-9528-948E6678FFDF}" type="slidenum">
              <a:rPr lang="en-IN" smtClean="0"/>
              <a:t>‹#›</a:t>
            </a:fld>
            <a:endParaRPr lang="en-IN"/>
          </a:p>
        </p:txBody>
      </p:sp>
    </p:spTree>
    <p:extLst>
      <p:ext uri="{BB962C8B-B14F-4D97-AF65-F5344CB8AC3E}">
        <p14:creationId xmlns:p14="http://schemas.microsoft.com/office/powerpoint/2010/main" val="1941458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6861" y="1077747"/>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430511" y="3008659"/>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sp>
      </p:grpSp>
      <p:sp>
        <p:nvSpPr>
          <p:cNvPr id="5" name="TextBox 5"/>
          <p:cNvSpPr txBox="1"/>
          <p:nvPr/>
        </p:nvSpPr>
        <p:spPr>
          <a:xfrm>
            <a:off x="1959969" y="990067"/>
            <a:ext cx="12618720" cy="2566035"/>
          </a:xfrm>
          <a:prstGeom prst="rect">
            <a:avLst/>
          </a:prstGeom>
        </p:spPr>
        <p:txBody>
          <a:bodyPr lIns="0" tIns="0" rIns="0" bIns="0" rtlCol="0" anchor="t">
            <a:spAutoFit/>
          </a:bodyPr>
          <a:lstStyle/>
          <a:p>
            <a:pPr algn="ctr">
              <a:lnSpc>
                <a:spcPts val="5759"/>
              </a:lnSpc>
            </a:pPr>
            <a:endParaRPr/>
          </a:p>
          <a:p>
            <a:pPr algn="ctr">
              <a:lnSpc>
                <a:spcPts val="5759"/>
              </a:lnSpc>
            </a:pPr>
            <a:r>
              <a:rPr lang="en-US" sz="4800" b="1">
                <a:solidFill>
                  <a:srgbClr val="000000"/>
                </a:solidFill>
                <a:latin typeface="Times New Roman Bold"/>
                <a:ea typeface="Times New Roman Bold"/>
                <a:cs typeface="Times New Roman Bold"/>
                <a:sym typeface="Times New Roman Bold"/>
              </a:rPr>
              <a:t>TITLE PAGE</a:t>
            </a:r>
          </a:p>
        </p:txBody>
      </p:sp>
      <p:grpSp>
        <p:nvGrpSpPr>
          <p:cNvPr id="6" name="Group 6"/>
          <p:cNvGrpSpPr/>
          <p:nvPr/>
        </p:nvGrpSpPr>
        <p:grpSpPr>
          <a:xfrm>
            <a:off x="1028700" y="-827303"/>
            <a:ext cx="15544800" cy="3114675"/>
            <a:chOff x="0" y="0"/>
            <a:chExt cx="20726400" cy="4152900"/>
          </a:xfrm>
        </p:grpSpPr>
        <p:sp>
          <p:nvSpPr>
            <p:cNvPr id="7" name="Freeform 7"/>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sp>
        <p:sp>
          <p:nvSpPr>
            <p:cNvPr id="8" name="TextBox 8"/>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9" name="Freeform 9"/>
          <p:cNvSpPr/>
          <p:nvPr/>
        </p:nvSpPr>
        <p:spPr>
          <a:xfrm>
            <a:off x="15087600" y="8075"/>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5"/>
            <a:stretch>
              <a:fillRect/>
            </a:stretch>
          </a:blipFill>
        </p:spPr>
      </p:sp>
      <p:sp>
        <p:nvSpPr>
          <p:cNvPr id="10" name="TextBox 10"/>
          <p:cNvSpPr txBox="1"/>
          <p:nvPr/>
        </p:nvSpPr>
        <p:spPr>
          <a:xfrm>
            <a:off x="603609" y="1877640"/>
            <a:ext cx="9832091" cy="8100872"/>
          </a:xfrm>
          <a:prstGeom prst="rect">
            <a:avLst/>
          </a:prstGeom>
        </p:spPr>
        <p:txBody>
          <a:bodyPr wrap="square" lIns="0" tIns="0" rIns="0" bIns="0" rtlCol="0" anchor="t">
            <a:spAutoFit/>
          </a:bodyPr>
          <a:lstStyle/>
          <a:p>
            <a:pPr algn="l">
              <a:lnSpc>
                <a:spcPts val="4320"/>
              </a:lnSpc>
            </a:pPr>
            <a:endParaRPr dirty="0"/>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Problem Statement ID – </a:t>
            </a:r>
            <a:r>
              <a:rPr lang="en-US" sz="2800" b="1" dirty="0">
                <a:solidFill>
                  <a:srgbClr val="000000"/>
                </a:solidFill>
                <a:latin typeface="Arial Bold"/>
                <a:ea typeface="Arial Bold"/>
                <a:cs typeface="Arial Bold"/>
                <a:sym typeface="Arial Bold"/>
              </a:rPr>
              <a:t>SIH26056</a:t>
            </a:r>
            <a:endParaRPr lang="en-US" sz="3600" b="1" dirty="0">
              <a:solidFill>
                <a:srgbClr val="000000"/>
              </a:solidFill>
              <a:latin typeface="Arial Bold"/>
              <a:ea typeface="Arial Bold"/>
              <a:cs typeface="Arial Bold"/>
              <a:sym typeface="Arial Bold"/>
            </a:endParaRP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Problem Statement Title- </a:t>
            </a:r>
            <a:r>
              <a:rPr lang="en-US" sz="2800" b="1" dirty="0">
                <a:solidFill>
                  <a:srgbClr val="000000"/>
                </a:solidFill>
                <a:latin typeface="Arial Bold"/>
                <a:ea typeface="Arial Bold"/>
                <a:cs typeface="Arial Bold"/>
                <a:sym typeface="Arial Bold"/>
              </a:rPr>
              <a:t>Development of a Real-time Airfare Price Index for India</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Theme- </a:t>
            </a:r>
            <a:r>
              <a:rPr lang="en-US" sz="2800" b="1" dirty="0">
                <a:solidFill>
                  <a:srgbClr val="000000"/>
                </a:solidFill>
                <a:latin typeface="Arial Bold"/>
                <a:ea typeface="Arial Bold"/>
                <a:cs typeface="Arial Bold"/>
                <a:sym typeface="Arial Bold"/>
              </a:rPr>
              <a:t>Travel and Tourism</a:t>
            </a:r>
            <a:endParaRPr lang="en-US" sz="3600" b="1" dirty="0">
              <a:solidFill>
                <a:srgbClr val="000000"/>
              </a:solidFill>
              <a:latin typeface="Arial Bold"/>
              <a:ea typeface="Arial Bold"/>
              <a:cs typeface="Arial Bold"/>
              <a:sym typeface="Arial Bold"/>
            </a:endParaRP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PS Category- Software</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Team ID-</a:t>
            </a:r>
          </a:p>
          <a:p>
            <a:pPr marL="651510" lvl="1" indent="-325755" algn="just">
              <a:lnSpc>
                <a:spcPts val="8640"/>
              </a:lnSpc>
              <a:buFont typeface="Arial"/>
              <a:buChar char="•"/>
            </a:pPr>
            <a:r>
              <a:rPr lang="en-US" sz="3600" b="1" dirty="0">
                <a:solidFill>
                  <a:srgbClr val="000000"/>
                </a:solidFill>
                <a:latin typeface="Arial Bold"/>
                <a:ea typeface="Arial Bold"/>
                <a:cs typeface="Arial Bold"/>
                <a:sym typeface="Arial Bold"/>
              </a:rPr>
              <a:t>Team Name – </a:t>
            </a:r>
            <a:r>
              <a:rPr lang="en-US" sz="3200" b="1" dirty="0">
                <a:solidFill>
                  <a:srgbClr val="000000"/>
                </a:solidFill>
                <a:latin typeface="Arial Bold"/>
                <a:ea typeface="Arial Bold"/>
                <a:cs typeface="Arial Bold"/>
                <a:sym typeface="Arial Bold"/>
              </a:rPr>
              <a:t>The Phantom Troupe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274501" y="0"/>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endParaRPr/>
            </a:p>
            <a:p>
              <a:pPr algn="ctr">
                <a:lnSpc>
                  <a:spcPts val="6480"/>
                </a:lnSpc>
              </a:pPr>
              <a:r>
                <a:rPr lang="en-US" sz="5400" b="1">
                  <a:solidFill>
                    <a:srgbClr val="000000"/>
                  </a:solidFill>
                  <a:latin typeface="Times New Roman Bold"/>
                  <a:ea typeface="Times New Roman Bold"/>
                  <a:cs typeface="Times New Roman Bold"/>
                  <a:sym typeface="Times New Roman Bold"/>
                </a:rPr>
                <a:t>IDEA TITLE</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2</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5003633" y="135291"/>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20" name="TextBox 19">
            <a:extLst>
              <a:ext uri="{FF2B5EF4-FFF2-40B4-BE49-F238E27FC236}">
                <a16:creationId xmlns:a16="http://schemas.microsoft.com/office/drawing/2014/main" id="{204AC984-2C9F-0382-98AD-33D322FFB2EA}"/>
              </a:ext>
            </a:extLst>
          </p:cNvPr>
          <p:cNvSpPr txBox="1"/>
          <p:nvPr/>
        </p:nvSpPr>
        <p:spPr>
          <a:xfrm>
            <a:off x="723900" y="1735931"/>
            <a:ext cx="8618220" cy="7478970"/>
          </a:xfrm>
          <a:prstGeom prst="rect">
            <a:avLst/>
          </a:prstGeom>
          <a:noFill/>
        </p:spPr>
        <p:txBody>
          <a:bodyPr wrap="square" rtlCol="0">
            <a:spAutoFit/>
          </a:bodyPr>
          <a:lstStyle/>
          <a:p>
            <a:r>
              <a:rPr lang="en-IN" sz="2800" b="1" u="sng" dirty="0"/>
              <a:t>Proposed Solution</a:t>
            </a:r>
            <a:r>
              <a:rPr lang="en-IN" sz="3200" b="1" u="sng" dirty="0"/>
              <a:t> </a:t>
            </a:r>
            <a:r>
              <a:rPr lang="en-IN" sz="3200" b="1" dirty="0"/>
              <a:t>- </a:t>
            </a:r>
          </a:p>
          <a:p>
            <a:pPr marL="457200" indent="-457200">
              <a:buFont typeface="Arial" panose="020B0604020202020204" pitchFamily="34" charset="0"/>
              <a:buChar char="•"/>
            </a:pPr>
            <a:r>
              <a:rPr lang="en-US" sz="2800" dirty="0"/>
              <a:t>An automated, high-frequency data pipeline that extracts volatile flight prices to compute a drift-free, real-time macroeconomic inflation index.</a:t>
            </a:r>
          </a:p>
          <a:p>
            <a:endParaRPr lang="en-US" sz="2800" b="1" u="sng" dirty="0"/>
          </a:p>
          <a:p>
            <a:r>
              <a:rPr lang="en-US" sz="2800" b="1" u="sng" dirty="0"/>
              <a:t>How it Addresses the Problem</a:t>
            </a:r>
            <a:r>
              <a:rPr lang="en-US" sz="2800" b="1" dirty="0"/>
              <a:t> – </a:t>
            </a:r>
          </a:p>
          <a:p>
            <a:pPr marL="457200" indent="-457200">
              <a:buFont typeface="Arial" panose="020B0604020202020204" pitchFamily="34" charset="0"/>
              <a:buChar char="•"/>
            </a:pPr>
            <a:r>
              <a:rPr lang="en-US" sz="2800" dirty="0"/>
              <a:t>Replaces </a:t>
            </a:r>
            <a:r>
              <a:rPr lang="en-US" sz="2800" dirty="0" err="1"/>
              <a:t>MoSPI's</a:t>
            </a:r>
            <a:r>
              <a:rPr lang="en-US" sz="2800" dirty="0"/>
              <a:t> lagging manual data collection with automated scraping. It neutralizes the mathematical "chain drift" caused by extreme airline pricing volatility.</a:t>
            </a:r>
          </a:p>
          <a:p>
            <a:endParaRPr lang="en-US" sz="2800" b="1" u="sng" dirty="0"/>
          </a:p>
          <a:p>
            <a:r>
              <a:rPr lang="en-US" sz="2800" b="1" u="sng" dirty="0"/>
              <a:t>Innovation and Uniqueness</a:t>
            </a:r>
            <a:r>
              <a:rPr lang="en-US" sz="2800" b="1" dirty="0"/>
              <a:t> - </a:t>
            </a:r>
          </a:p>
          <a:p>
            <a:pPr marL="457200" indent="-457200">
              <a:buFont typeface="Arial" panose="020B0604020202020204" pitchFamily="34" charset="0"/>
              <a:buChar char="•"/>
            </a:pPr>
            <a:r>
              <a:rPr lang="en-US" sz="2800" dirty="0"/>
              <a:t>Completely bypasses enterprise Web Application Firewalls (WAFs) using TLS fingerprint impersonation. Uses the Rolling Year GEKS-</a:t>
            </a:r>
            <a:r>
              <a:rPr lang="en-US" sz="2800" dirty="0" err="1"/>
              <a:t>Törnqvist</a:t>
            </a:r>
            <a:r>
              <a:rPr lang="en-US" sz="2800" dirty="0"/>
              <a:t> (RYGEKS-T) formula, the exact standard used by Eurostat and the UK ONS, rather than flawed basic averages.</a:t>
            </a:r>
          </a:p>
        </p:txBody>
      </p:sp>
      <p:pic>
        <p:nvPicPr>
          <p:cNvPr id="22" name="Picture 21">
            <a:extLst>
              <a:ext uri="{FF2B5EF4-FFF2-40B4-BE49-F238E27FC236}">
                <a16:creationId xmlns:a16="http://schemas.microsoft.com/office/drawing/2014/main" id="{C294C55A-3413-361E-4829-C109CF3F32D0}"/>
              </a:ext>
            </a:extLst>
          </p:cNvPr>
          <p:cNvPicPr>
            <a:picLocks noChangeAspect="1"/>
          </p:cNvPicPr>
          <p:nvPr/>
        </p:nvPicPr>
        <p:blipFill>
          <a:blip r:embed="rId4"/>
          <a:stretch>
            <a:fillRect/>
          </a:stretch>
        </p:blipFill>
        <p:spPr>
          <a:xfrm>
            <a:off x="10294801" y="2245103"/>
            <a:ext cx="6438900" cy="51576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662625" y="126621"/>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TECHNICAL APPROACH</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3</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703684" y="164502"/>
            <a:ext cx="3290239" cy="1557071"/>
          </a:xfrm>
          <a:custGeom>
            <a:avLst/>
            <a:gdLst/>
            <a:ahLst/>
            <a:cxnLst/>
            <a:rect l="l" t="t" r="r" b="b"/>
            <a:pathLst>
              <a:path w="3290239" h="1557071">
                <a:moveTo>
                  <a:pt x="0" y="0"/>
                </a:moveTo>
                <a:lnTo>
                  <a:pt x="3290239" y="0"/>
                </a:lnTo>
                <a:lnTo>
                  <a:pt x="3290239" y="1557071"/>
                </a:lnTo>
                <a:lnTo>
                  <a:pt x="0" y="1557071"/>
                </a:lnTo>
                <a:lnTo>
                  <a:pt x="0" y="0"/>
                </a:lnTo>
                <a:close/>
              </a:path>
            </a:pathLst>
          </a:custGeom>
          <a:blipFill>
            <a:blip r:embed="rId3"/>
            <a:stretch>
              <a:fillRect/>
            </a:stretch>
          </a:blipFill>
        </p:spPr>
      </p:sp>
      <p:sp>
        <p:nvSpPr>
          <p:cNvPr id="20" name="TextBox 19">
            <a:extLst>
              <a:ext uri="{FF2B5EF4-FFF2-40B4-BE49-F238E27FC236}">
                <a16:creationId xmlns:a16="http://schemas.microsoft.com/office/drawing/2014/main" id="{04B9156C-99B4-747D-7D9A-C3F319802AA6}"/>
              </a:ext>
            </a:extLst>
          </p:cNvPr>
          <p:cNvSpPr txBox="1"/>
          <p:nvPr/>
        </p:nvSpPr>
        <p:spPr>
          <a:xfrm>
            <a:off x="662625" y="2030958"/>
            <a:ext cx="6309675" cy="1077218"/>
          </a:xfrm>
          <a:prstGeom prst="rect">
            <a:avLst/>
          </a:prstGeom>
          <a:noFill/>
        </p:spPr>
        <p:txBody>
          <a:bodyPr wrap="square" rtlCol="0">
            <a:spAutoFit/>
          </a:bodyPr>
          <a:lstStyle/>
          <a:p>
            <a:r>
              <a:rPr lang="en-IN" sz="3200" b="1" u="sng" dirty="0">
                <a:solidFill>
                  <a:schemeClr val="tx2"/>
                </a:solidFill>
              </a:rPr>
              <a:t>Technologies to be used </a:t>
            </a:r>
            <a:r>
              <a:rPr lang="en-IN" sz="3200" b="1" dirty="0">
                <a:solidFill>
                  <a:schemeClr val="tx2"/>
                </a:solidFill>
              </a:rPr>
              <a:t>–</a:t>
            </a:r>
          </a:p>
          <a:p>
            <a:endParaRPr lang="en-IN" sz="3200" b="1" u="sng" dirty="0">
              <a:solidFill>
                <a:schemeClr val="tx2"/>
              </a:solidFill>
            </a:endParaRPr>
          </a:p>
        </p:txBody>
      </p:sp>
      <p:sp>
        <p:nvSpPr>
          <p:cNvPr id="22" name="Rectangle: Rounded Corners 21">
            <a:extLst>
              <a:ext uri="{FF2B5EF4-FFF2-40B4-BE49-F238E27FC236}">
                <a16:creationId xmlns:a16="http://schemas.microsoft.com/office/drawing/2014/main" id="{2AED682A-D994-F85C-D894-B2D0E4B76271}"/>
              </a:ext>
            </a:extLst>
          </p:cNvPr>
          <p:cNvSpPr/>
          <p:nvPr/>
        </p:nvSpPr>
        <p:spPr>
          <a:xfrm>
            <a:off x="662625" y="2779910"/>
            <a:ext cx="4145280" cy="1356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u="sng" dirty="0"/>
              <a:t>Extraction</a:t>
            </a:r>
            <a:r>
              <a:rPr lang="en-IN" sz="2400" b="1" dirty="0"/>
              <a:t> –</a:t>
            </a:r>
          </a:p>
          <a:p>
            <a:pPr algn="ctr"/>
            <a:r>
              <a:rPr lang="en-IN" sz="2000" dirty="0" err="1"/>
              <a:t>curl_cffi</a:t>
            </a:r>
            <a:r>
              <a:rPr lang="en-IN" sz="2000" dirty="0"/>
              <a:t> (Chrome TLS impersonation) and </a:t>
            </a:r>
            <a:r>
              <a:rPr lang="en-IN" sz="2000" dirty="0" err="1"/>
              <a:t>camoufox</a:t>
            </a:r>
            <a:r>
              <a:rPr lang="en-IN" sz="2000" dirty="0"/>
              <a:t> (OS-level JavaScript bypass).</a:t>
            </a:r>
          </a:p>
        </p:txBody>
      </p:sp>
      <p:sp>
        <p:nvSpPr>
          <p:cNvPr id="23" name="Rectangle: Rounded Corners 22">
            <a:extLst>
              <a:ext uri="{FF2B5EF4-FFF2-40B4-BE49-F238E27FC236}">
                <a16:creationId xmlns:a16="http://schemas.microsoft.com/office/drawing/2014/main" id="{750745BF-D2A5-0160-3374-A188D75435B6}"/>
              </a:ext>
            </a:extLst>
          </p:cNvPr>
          <p:cNvSpPr/>
          <p:nvPr/>
        </p:nvSpPr>
        <p:spPr>
          <a:xfrm>
            <a:off x="662625" y="4465320"/>
            <a:ext cx="4145280" cy="1356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u="sng" dirty="0"/>
              <a:t>Pipeline and Storages</a:t>
            </a:r>
            <a:r>
              <a:rPr lang="en-IN" sz="2400" b="1" dirty="0"/>
              <a:t> –</a:t>
            </a:r>
          </a:p>
          <a:p>
            <a:pPr algn="ctr"/>
            <a:r>
              <a:rPr lang="en-US" dirty="0"/>
              <a:t>Polars (multithreaded cleaning) and </a:t>
            </a:r>
            <a:r>
              <a:rPr lang="en-US" dirty="0" err="1"/>
              <a:t>TimescaleDB</a:t>
            </a:r>
            <a:r>
              <a:rPr lang="en-US" dirty="0"/>
              <a:t> (</a:t>
            </a:r>
            <a:r>
              <a:rPr lang="en-US" dirty="0" err="1"/>
              <a:t>hypertables</a:t>
            </a:r>
            <a:r>
              <a:rPr lang="en-US" dirty="0"/>
              <a:t> and continuous aggregates for speed).</a:t>
            </a:r>
            <a:endParaRPr lang="en-IN" dirty="0"/>
          </a:p>
        </p:txBody>
      </p:sp>
      <p:sp>
        <p:nvSpPr>
          <p:cNvPr id="24" name="Rectangle: Rounded Corners 23">
            <a:extLst>
              <a:ext uri="{FF2B5EF4-FFF2-40B4-BE49-F238E27FC236}">
                <a16:creationId xmlns:a16="http://schemas.microsoft.com/office/drawing/2014/main" id="{BE4482EF-D223-966E-AF9A-E5FEC90F2D61}"/>
              </a:ext>
            </a:extLst>
          </p:cNvPr>
          <p:cNvSpPr/>
          <p:nvPr/>
        </p:nvSpPr>
        <p:spPr>
          <a:xfrm>
            <a:off x="662625" y="6140460"/>
            <a:ext cx="4145280" cy="1356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u="sng" dirty="0"/>
              <a:t>Math and Backend</a:t>
            </a:r>
            <a:r>
              <a:rPr lang="en-IN" sz="2400" b="1" dirty="0"/>
              <a:t> –</a:t>
            </a:r>
          </a:p>
          <a:p>
            <a:pPr algn="ctr"/>
            <a:r>
              <a:rPr lang="en-US" dirty="0"/>
              <a:t>Python (custom RYGEKS-T script + traditional ARIMA forecasting), </a:t>
            </a:r>
            <a:r>
              <a:rPr lang="en-US" dirty="0" err="1"/>
              <a:t>FastAPI</a:t>
            </a:r>
            <a:r>
              <a:rPr lang="en-US" dirty="0"/>
              <a:t>.</a:t>
            </a:r>
            <a:endParaRPr lang="en-IN" dirty="0"/>
          </a:p>
        </p:txBody>
      </p:sp>
      <p:sp>
        <p:nvSpPr>
          <p:cNvPr id="25" name="Rectangle: Rounded Corners 24">
            <a:extLst>
              <a:ext uri="{FF2B5EF4-FFF2-40B4-BE49-F238E27FC236}">
                <a16:creationId xmlns:a16="http://schemas.microsoft.com/office/drawing/2014/main" id="{08F3C5F4-A659-324A-6233-9D1A4A0FF7DB}"/>
              </a:ext>
            </a:extLst>
          </p:cNvPr>
          <p:cNvSpPr/>
          <p:nvPr/>
        </p:nvSpPr>
        <p:spPr>
          <a:xfrm>
            <a:off x="662625" y="7815600"/>
            <a:ext cx="4145280" cy="135636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u="sng" dirty="0"/>
              <a:t>Frontend</a:t>
            </a:r>
            <a:r>
              <a:rPr lang="en-IN" sz="2400" b="1" dirty="0"/>
              <a:t> –</a:t>
            </a:r>
          </a:p>
          <a:p>
            <a:pPr algn="ctr"/>
            <a:r>
              <a:rPr lang="en-IN" dirty="0"/>
              <a:t>React 18 + TypeScript + Vite + Tailwind CSS</a:t>
            </a:r>
          </a:p>
          <a:p>
            <a:pPr algn="ctr"/>
            <a:endParaRPr lang="en-IN" sz="2400" b="1" u="sng" dirty="0"/>
          </a:p>
        </p:txBody>
      </p:sp>
      <p:cxnSp>
        <p:nvCxnSpPr>
          <p:cNvPr id="27" name="Straight Arrow Connector 26">
            <a:extLst>
              <a:ext uri="{FF2B5EF4-FFF2-40B4-BE49-F238E27FC236}">
                <a16:creationId xmlns:a16="http://schemas.microsoft.com/office/drawing/2014/main" id="{AADB8BA4-DCC2-39FC-DD88-C76341A7520E}"/>
              </a:ext>
            </a:extLst>
          </p:cNvPr>
          <p:cNvCxnSpPr>
            <a:stCxn id="22" idx="2"/>
            <a:endCxn id="23" idx="0"/>
          </p:cNvCxnSpPr>
          <p:nvPr/>
        </p:nvCxnSpPr>
        <p:spPr>
          <a:xfrm>
            <a:off x="2735265" y="4136270"/>
            <a:ext cx="0" cy="32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275FDDD1-A814-A138-00DB-2E8727373ACE}"/>
              </a:ext>
            </a:extLst>
          </p:cNvPr>
          <p:cNvCxnSpPr>
            <a:stCxn id="23" idx="2"/>
            <a:endCxn id="24" idx="0"/>
          </p:cNvCxnSpPr>
          <p:nvPr/>
        </p:nvCxnSpPr>
        <p:spPr>
          <a:xfrm>
            <a:off x="2735265" y="5821680"/>
            <a:ext cx="0" cy="318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AE8BE23-2862-B3CA-5CC8-C0278F5A7E1B}"/>
              </a:ext>
            </a:extLst>
          </p:cNvPr>
          <p:cNvCxnSpPr>
            <a:stCxn id="24" idx="2"/>
            <a:endCxn id="25" idx="0"/>
          </p:cNvCxnSpPr>
          <p:nvPr/>
        </p:nvCxnSpPr>
        <p:spPr>
          <a:xfrm>
            <a:off x="2735265" y="7496820"/>
            <a:ext cx="0" cy="318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45DB44FB-C2C7-2160-C501-43E736E19E40}"/>
              </a:ext>
            </a:extLst>
          </p:cNvPr>
          <p:cNvSpPr txBox="1"/>
          <p:nvPr/>
        </p:nvSpPr>
        <p:spPr>
          <a:xfrm>
            <a:off x="6035039" y="2030958"/>
            <a:ext cx="11590333" cy="584775"/>
          </a:xfrm>
          <a:prstGeom prst="rect">
            <a:avLst/>
          </a:prstGeom>
          <a:noFill/>
        </p:spPr>
        <p:txBody>
          <a:bodyPr wrap="square" rtlCol="0">
            <a:spAutoFit/>
          </a:bodyPr>
          <a:lstStyle/>
          <a:p>
            <a:r>
              <a:rPr lang="en-IN" sz="3200" b="1" u="sng" dirty="0">
                <a:solidFill>
                  <a:schemeClr val="tx2"/>
                </a:solidFill>
              </a:rPr>
              <a:t>Methodology and Process</a:t>
            </a:r>
            <a:r>
              <a:rPr lang="en-IN" sz="3200" b="1" dirty="0">
                <a:solidFill>
                  <a:schemeClr val="tx2"/>
                </a:solidFill>
              </a:rPr>
              <a:t> –</a:t>
            </a:r>
          </a:p>
        </p:txBody>
      </p:sp>
      <p:sp>
        <p:nvSpPr>
          <p:cNvPr id="41" name="TextBox 40">
            <a:extLst>
              <a:ext uri="{FF2B5EF4-FFF2-40B4-BE49-F238E27FC236}">
                <a16:creationId xmlns:a16="http://schemas.microsoft.com/office/drawing/2014/main" id="{9D1CA626-4C9D-7FEA-A62F-B327A32670FA}"/>
              </a:ext>
            </a:extLst>
          </p:cNvPr>
          <p:cNvSpPr txBox="1"/>
          <p:nvPr/>
        </p:nvSpPr>
        <p:spPr>
          <a:xfrm>
            <a:off x="6035038" y="3186728"/>
            <a:ext cx="10835635"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Ingest T+1 to T+45 prices across DGCA-weighted routes via our evasion layer.</a:t>
            </a:r>
            <a:endParaRPr lang="en-IN" sz="2400" dirty="0"/>
          </a:p>
        </p:txBody>
      </p:sp>
      <p:sp>
        <p:nvSpPr>
          <p:cNvPr id="42" name="TextBox 41">
            <a:extLst>
              <a:ext uri="{FF2B5EF4-FFF2-40B4-BE49-F238E27FC236}">
                <a16:creationId xmlns:a16="http://schemas.microsoft.com/office/drawing/2014/main" id="{160E0B25-653A-CB1B-DE7F-A6AD649502FF}"/>
              </a:ext>
            </a:extLst>
          </p:cNvPr>
          <p:cNvSpPr txBox="1"/>
          <p:nvPr/>
        </p:nvSpPr>
        <p:spPr>
          <a:xfrm>
            <a:off x="6035038" y="4360607"/>
            <a:ext cx="9936477"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Clean data via Polars and insert into </a:t>
            </a:r>
            <a:r>
              <a:rPr lang="en-US" sz="2400" dirty="0" err="1"/>
              <a:t>TimescaleDB</a:t>
            </a:r>
            <a:r>
              <a:rPr lang="en-US" sz="2400" dirty="0"/>
              <a:t>.</a:t>
            </a:r>
            <a:endParaRPr lang="en-IN" sz="2400" dirty="0"/>
          </a:p>
        </p:txBody>
      </p:sp>
      <p:sp>
        <p:nvSpPr>
          <p:cNvPr id="43" name="TextBox 42">
            <a:extLst>
              <a:ext uri="{FF2B5EF4-FFF2-40B4-BE49-F238E27FC236}">
                <a16:creationId xmlns:a16="http://schemas.microsoft.com/office/drawing/2014/main" id="{7C1116B8-0DC2-FFE6-35E8-51BE984E9B15}"/>
              </a:ext>
            </a:extLst>
          </p:cNvPr>
          <p:cNvSpPr txBox="1"/>
          <p:nvPr/>
        </p:nvSpPr>
        <p:spPr>
          <a:xfrm>
            <a:off x="6035039" y="5544027"/>
            <a:ext cx="9936476"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a:t>Calculate the RYGEKS-T index with a Mean Splice.</a:t>
            </a:r>
            <a:endParaRPr lang="en-IN" sz="2400" dirty="0"/>
          </a:p>
        </p:txBody>
      </p:sp>
      <p:sp>
        <p:nvSpPr>
          <p:cNvPr id="44" name="TextBox 43">
            <a:extLst>
              <a:ext uri="{FF2B5EF4-FFF2-40B4-BE49-F238E27FC236}">
                <a16:creationId xmlns:a16="http://schemas.microsoft.com/office/drawing/2014/main" id="{CA9BFA62-B9B3-1E72-4A12-5AE66C90C99F}"/>
              </a:ext>
            </a:extLst>
          </p:cNvPr>
          <p:cNvSpPr txBox="1"/>
          <p:nvPr/>
        </p:nvSpPr>
        <p:spPr>
          <a:xfrm>
            <a:off x="6035038" y="6818640"/>
            <a:ext cx="9829795"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Serve data to a React UI featuring a deterministic policy simulator.</a:t>
            </a:r>
            <a:endParaRPr lang="en-IN" sz="2400" dirty="0"/>
          </a:p>
        </p:txBody>
      </p:sp>
      <p:cxnSp>
        <p:nvCxnSpPr>
          <p:cNvPr id="50" name="Straight Arrow Connector 49">
            <a:extLst>
              <a:ext uri="{FF2B5EF4-FFF2-40B4-BE49-F238E27FC236}">
                <a16:creationId xmlns:a16="http://schemas.microsoft.com/office/drawing/2014/main" id="{FABE5E52-4064-3FD9-BCAE-8434A1696F18}"/>
              </a:ext>
            </a:extLst>
          </p:cNvPr>
          <p:cNvCxnSpPr/>
          <p:nvPr/>
        </p:nvCxnSpPr>
        <p:spPr>
          <a:xfrm>
            <a:off x="10149840" y="3794760"/>
            <a:ext cx="0" cy="506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D16434D6-39DB-D9FB-45AE-5065D70DB154}"/>
              </a:ext>
            </a:extLst>
          </p:cNvPr>
          <p:cNvCxnSpPr/>
          <p:nvPr/>
        </p:nvCxnSpPr>
        <p:spPr>
          <a:xfrm>
            <a:off x="10149840" y="4822272"/>
            <a:ext cx="0" cy="5726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17443994-E913-F890-2506-A60014F03E96}"/>
              </a:ext>
            </a:extLst>
          </p:cNvPr>
          <p:cNvCxnSpPr/>
          <p:nvPr/>
        </p:nvCxnSpPr>
        <p:spPr>
          <a:xfrm>
            <a:off x="10149840" y="6140460"/>
            <a:ext cx="0" cy="5651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6248400" y="9534525"/>
            <a:ext cx="5791200" cy="547688"/>
            <a:chOff x="0" y="0"/>
            <a:chExt cx="7721600" cy="730250"/>
          </a:xfrm>
        </p:grpSpPr>
        <p:sp>
          <p:nvSpPr>
            <p:cNvPr id="4" name="Freeform 4"/>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sp>
        <p:sp>
          <p:nvSpPr>
            <p:cNvPr id="5" name="TextBox 5"/>
            <p:cNvSpPr txBox="1"/>
            <p:nvPr/>
          </p:nvSpPr>
          <p:spPr>
            <a:xfrm>
              <a:off x="0" y="-19050"/>
              <a:ext cx="7721600" cy="749300"/>
            </a:xfrm>
            <a:prstGeom prst="rect">
              <a:avLst/>
            </a:prstGeom>
          </p:spPr>
          <p:txBody>
            <a:bodyPr lIns="0" tIns="0" rIns="0" bIns="0" rtlCol="0" anchor="ctr"/>
            <a:lstStyle/>
            <a:p>
              <a:pPr algn="ctr">
                <a:lnSpc>
                  <a:spcPts val="2160"/>
                </a:lnSpc>
              </a:pPr>
              <a:r>
                <a:rPr lang="en-US" sz="1800">
                  <a:solidFill>
                    <a:srgbClr val="898989"/>
                  </a:solidFill>
                  <a:latin typeface="Arimo"/>
                  <a:ea typeface="Arimo"/>
                  <a:cs typeface="Arimo"/>
                  <a:sym typeface="Arimo"/>
                </a:rPr>
                <a:t>@SIH Idea submission- Template</a:t>
              </a:r>
            </a:p>
          </p:txBody>
        </p:sp>
      </p:grpSp>
      <p:grpSp>
        <p:nvGrpSpPr>
          <p:cNvPr id="6" name="Group 6"/>
          <p:cNvGrpSpPr/>
          <p:nvPr/>
        </p:nvGrpSpPr>
        <p:grpSpPr>
          <a:xfrm>
            <a:off x="13106400" y="9534525"/>
            <a:ext cx="4267200" cy="547688"/>
            <a:chOff x="0" y="0"/>
            <a:chExt cx="5689600" cy="730250"/>
          </a:xfrm>
        </p:grpSpPr>
        <p:sp>
          <p:nvSpPr>
            <p:cNvPr id="7" name="Freeform 7"/>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8" name="TextBox 8"/>
            <p:cNvSpPr txBox="1"/>
            <p:nvPr/>
          </p:nvSpPr>
          <p:spPr>
            <a:xfrm>
              <a:off x="0" y="-19050"/>
              <a:ext cx="5689600" cy="749300"/>
            </a:xfrm>
            <a:prstGeom prst="rect">
              <a:avLst/>
            </a:prstGeom>
          </p:spPr>
          <p:txBody>
            <a:bodyPr lIns="0" tIns="0" rIns="0" bIns="0" rtlCol="0" anchor="ctr"/>
            <a:lstStyle/>
            <a:p>
              <a:pPr algn="r">
                <a:lnSpc>
                  <a:spcPts val="2160"/>
                </a:lnSpc>
              </a:pPr>
              <a:r>
                <a:rPr lang="en-US" sz="1800">
                  <a:solidFill>
                    <a:srgbClr val="898989"/>
                  </a:solidFill>
                  <a:latin typeface="Arimo"/>
                  <a:ea typeface="Arimo"/>
                  <a:cs typeface="Arimo"/>
                  <a:sym typeface="Arimo"/>
                </a:rPr>
                <a:t>4</a:t>
              </a:r>
            </a:p>
          </p:txBody>
        </p:sp>
      </p:grpSp>
      <p:grpSp>
        <p:nvGrpSpPr>
          <p:cNvPr id="9" name="Group 9"/>
          <p:cNvGrpSpPr/>
          <p:nvPr/>
        </p:nvGrpSpPr>
        <p:grpSpPr>
          <a:xfrm>
            <a:off x="0" y="9532144"/>
            <a:ext cx="18288000" cy="754856"/>
            <a:chOff x="0" y="0"/>
            <a:chExt cx="24384000" cy="1006475"/>
          </a:xfrm>
        </p:grpSpPr>
        <p:sp>
          <p:nvSpPr>
            <p:cNvPr id="10" name="Freeform 10"/>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sp>
          <p:nvSpPr>
            <p:cNvPr id="11" name="TextBox 11"/>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a:solidFill>
                    <a:srgbClr val="FFFFFF"/>
                  </a:solidFill>
                  <a:latin typeface="Arimo"/>
                  <a:ea typeface="Arimo"/>
                  <a:cs typeface="Arimo"/>
                  <a:sym typeface="Arimo"/>
                </a:rPr>
                <a:t>@SIH Idea submission- Template</a:t>
              </a:r>
            </a:p>
          </p:txBody>
        </p:sp>
      </p:grpSp>
      <p:grpSp>
        <p:nvGrpSpPr>
          <p:cNvPr id="12" name="Group 12"/>
          <p:cNvGrpSpPr/>
          <p:nvPr/>
        </p:nvGrpSpPr>
        <p:grpSpPr>
          <a:xfrm>
            <a:off x="475612" y="359321"/>
            <a:ext cx="1915887" cy="1249099"/>
            <a:chOff x="0" y="0"/>
            <a:chExt cx="2554516" cy="1665465"/>
          </a:xfrm>
        </p:grpSpPr>
        <p:sp>
          <p:nvSpPr>
            <p:cNvPr id="13" name="Freeform 13"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4" name="TextBox 14"/>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5" name="Freeform 15"/>
          <p:cNvSpPr/>
          <p:nvPr/>
        </p:nvSpPr>
        <p:spPr>
          <a:xfrm>
            <a:off x="14988565"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pic>
        <p:nvPicPr>
          <p:cNvPr id="23" name="Picture 22">
            <a:extLst>
              <a:ext uri="{FF2B5EF4-FFF2-40B4-BE49-F238E27FC236}">
                <a16:creationId xmlns:a16="http://schemas.microsoft.com/office/drawing/2014/main" id="{7277FD0D-DC83-DB6B-E423-17026B573338}"/>
              </a:ext>
            </a:extLst>
          </p:cNvPr>
          <p:cNvPicPr>
            <a:picLocks noChangeAspect="1"/>
          </p:cNvPicPr>
          <p:nvPr/>
        </p:nvPicPr>
        <p:blipFill>
          <a:blip r:embed="rId4"/>
          <a:stretch>
            <a:fillRect/>
          </a:stretch>
        </p:blipFill>
        <p:spPr>
          <a:xfrm>
            <a:off x="13320743" y="1585667"/>
            <a:ext cx="4718958" cy="3382875"/>
          </a:xfrm>
          <a:prstGeom prst="rect">
            <a:avLst/>
          </a:prstGeom>
        </p:spPr>
      </p:pic>
      <p:pic>
        <p:nvPicPr>
          <p:cNvPr id="25" name="Picture 24">
            <a:extLst>
              <a:ext uri="{FF2B5EF4-FFF2-40B4-BE49-F238E27FC236}">
                <a16:creationId xmlns:a16="http://schemas.microsoft.com/office/drawing/2014/main" id="{6840BDA4-2218-4A5C-3048-9FC96C3D8895}"/>
              </a:ext>
            </a:extLst>
          </p:cNvPr>
          <p:cNvPicPr>
            <a:picLocks noChangeAspect="1"/>
          </p:cNvPicPr>
          <p:nvPr/>
        </p:nvPicPr>
        <p:blipFill>
          <a:blip r:embed="rId5"/>
          <a:stretch>
            <a:fillRect/>
          </a:stretch>
        </p:blipFill>
        <p:spPr>
          <a:xfrm>
            <a:off x="13320743" y="5064098"/>
            <a:ext cx="4718958" cy="3382874"/>
          </a:xfrm>
          <a:prstGeom prst="rect">
            <a:avLst/>
          </a:prstGeom>
        </p:spPr>
      </p:pic>
      <p:pic>
        <p:nvPicPr>
          <p:cNvPr id="27" name="Picture 26">
            <a:extLst>
              <a:ext uri="{FF2B5EF4-FFF2-40B4-BE49-F238E27FC236}">
                <a16:creationId xmlns:a16="http://schemas.microsoft.com/office/drawing/2014/main" id="{069AB20B-9547-C8EF-05C0-1859F747F10F}"/>
              </a:ext>
            </a:extLst>
          </p:cNvPr>
          <p:cNvPicPr>
            <a:picLocks noChangeAspect="1"/>
          </p:cNvPicPr>
          <p:nvPr/>
        </p:nvPicPr>
        <p:blipFill>
          <a:blip r:embed="rId6"/>
          <a:stretch>
            <a:fillRect/>
          </a:stretch>
        </p:blipFill>
        <p:spPr>
          <a:xfrm>
            <a:off x="8387442" y="5064098"/>
            <a:ext cx="4718958" cy="3382875"/>
          </a:xfrm>
          <a:prstGeom prst="rect">
            <a:avLst/>
          </a:prstGeom>
        </p:spPr>
      </p:pic>
      <p:pic>
        <p:nvPicPr>
          <p:cNvPr id="29" name="Picture 28">
            <a:extLst>
              <a:ext uri="{FF2B5EF4-FFF2-40B4-BE49-F238E27FC236}">
                <a16:creationId xmlns:a16="http://schemas.microsoft.com/office/drawing/2014/main" id="{982A9E57-F1C7-071E-4812-F0F2C7E43919}"/>
              </a:ext>
            </a:extLst>
          </p:cNvPr>
          <p:cNvPicPr>
            <a:picLocks noChangeAspect="1"/>
          </p:cNvPicPr>
          <p:nvPr/>
        </p:nvPicPr>
        <p:blipFill>
          <a:blip r:embed="rId7"/>
          <a:stretch>
            <a:fillRect/>
          </a:stretch>
        </p:blipFill>
        <p:spPr>
          <a:xfrm>
            <a:off x="8387442" y="1387366"/>
            <a:ext cx="4718958" cy="3581176"/>
          </a:xfrm>
          <a:prstGeom prst="rect">
            <a:avLst/>
          </a:prstGeom>
        </p:spPr>
      </p:pic>
      <p:sp>
        <p:nvSpPr>
          <p:cNvPr id="17" name="Oval 16">
            <a:extLst>
              <a:ext uri="{FF2B5EF4-FFF2-40B4-BE49-F238E27FC236}">
                <a16:creationId xmlns:a16="http://schemas.microsoft.com/office/drawing/2014/main" id="{DB2CC31E-AAB4-8807-0DE9-B81F5C4EF39C}"/>
              </a:ext>
            </a:extLst>
          </p:cNvPr>
          <p:cNvSpPr/>
          <p:nvPr/>
        </p:nvSpPr>
        <p:spPr>
          <a:xfrm>
            <a:off x="2423916" y="2287077"/>
            <a:ext cx="3613089" cy="208788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20" name="TextBox 19">
            <a:extLst>
              <a:ext uri="{FF2B5EF4-FFF2-40B4-BE49-F238E27FC236}">
                <a16:creationId xmlns:a16="http://schemas.microsoft.com/office/drawing/2014/main" id="{DBAF2F38-902C-F110-123B-80B84CDC1C7D}"/>
              </a:ext>
            </a:extLst>
          </p:cNvPr>
          <p:cNvSpPr txBox="1"/>
          <p:nvPr/>
        </p:nvSpPr>
        <p:spPr>
          <a:xfrm>
            <a:off x="3119358" y="3056018"/>
            <a:ext cx="2712430" cy="584775"/>
          </a:xfrm>
          <a:prstGeom prst="rect">
            <a:avLst/>
          </a:prstGeom>
          <a:noFill/>
        </p:spPr>
        <p:txBody>
          <a:bodyPr wrap="square" rtlCol="0">
            <a:spAutoFit/>
          </a:bodyPr>
          <a:lstStyle/>
          <a:p>
            <a:r>
              <a:rPr lang="en-US" sz="3200" b="1" u="sng" dirty="0"/>
              <a:t>Social Impact</a:t>
            </a:r>
            <a:endParaRPr lang="en-IN" sz="3200" b="1" u="sng" dirty="0"/>
          </a:p>
        </p:txBody>
      </p:sp>
      <p:sp>
        <p:nvSpPr>
          <p:cNvPr id="35" name="Rectangle: Single Corner Snipped 34">
            <a:extLst>
              <a:ext uri="{FF2B5EF4-FFF2-40B4-BE49-F238E27FC236}">
                <a16:creationId xmlns:a16="http://schemas.microsoft.com/office/drawing/2014/main" id="{4A5DD6BC-4FBA-762A-58A3-237B65C426B8}"/>
              </a:ext>
            </a:extLst>
          </p:cNvPr>
          <p:cNvSpPr/>
          <p:nvPr/>
        </p:nvSpPr>
        <p:spPr>
          <a:xfrm>
            <a:off x="475612" y="4968541"/>
            <a:ext cx="3105788" cy="3229803"/>
          </a:xfrm>
          <a:prstGeom prst="snip1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6" name="TextBox 35">
            <a:extLst>
              <a:ext uri="{FF2B5EF4-FFF2-40B4-BE49-F238E27FC236}">
                <a16:creationId xmlns:a16="http://schemas.microsoft.com/office/drawing/2014/main" id="{DC8471B4-9867-3390-5776-FFA7E34BC865}"/>
              </a:ext>
            </a:extLst>
          </p:cNvPr>
          <p:cNvSpPr txBox="1"/>
          <p:nvPr/>
        </p:nvSpPr>
        <p:spPr>
          <a:xfrm>
            <a:off x="475612" y="5429280"/>
            <a:ext cx="2789675" cy="2523768"/>
          </a:xfrm>
          <a:prstGeom prst="rect">
            <a:avLst/>
          </a:prstGeom>
          <a:noFill/>
        </p:spPr>
        <p:txBody>
          <a:bodyPr wrap="square" rtlCol="0">
            <a:spAutoFit/>
          </a:bodyPr>
          <a:lstStyle/>
          <a:p>
            <a:pPr marL="285750" indent="-285750" algn="ctr">
              <a:buFont typeface="Arial" panose="020B0604020202020204" pitchFamily="34" charset="0"/>
              <a:buChar char="•"/>
            </a:pPr>
            <a:r>
              <a:rPr lang="en-US" sz="2000" dirty="0"/>
              <a:t>Provides the RBI with hyper-accurate, real-time inflation data, enabling reactive monetary policy that stabilizes the broader economy.</a:t>
            </a:r>
            <a:r>
              <a:rPr lang="en-IN" sz="2000" dirty="0"/>
              <a:t> </a:t>
            </a:r>
            <a:r>
              <a:rPr lang="en-IN" sz="2000" u="sng" dirty="0"/>
              <a:t> </a:t>
            </a:r>
          </a:p>
          <a:p>
            <a:endParaRPr lang="en-IN" dirty="0"/>
          </a:p>
        </p:txBody>
      </p:sp>
      <p:cxnSp>
        <p:nvCxnSpPr>
          <p:cNvPr id="38" name="Connector: Elbow 37">
            <a:extLst>
              <a:ext uri="{FF2B5EF4-FFF2-40B4-BE49-F238E27FC236}">
                <a16:creationId xmlns:a16="http://schemas.microsoft.com/office/drawing/2014/main" id="{6140BA48-FE5D-8695-0ED4-002D3F719E50}"/>
              </a:ext>
            </a:extLst>
          </p:cNvPr>
          <p:cNvCxnSpPr>
            <a:cxnSpLocks/>
            <a:stCxn id="17" idx="4"/>
          </p:cNvCxnSpPr>
          <p:nvPr/>
        </p:nvCxnSpPr>
        <p:spPr>
          <a:xfrm rot="5400000">
            <a:off x="3370241" y="4428059"/>
            <a:ext cx="913323" cy="80711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4" name="Rectangle: Single Corner Snipped 43">
            <a:extLst>
              <a:ext uri="{FF2B5EF4-FFF2-40B4-BE49-F238E27FC236}">
                <a16:creationId xmlns:a16="http://schemas.microsoft.com/office/drawing/2014/main" id="{666B2EBE-4AFF-C26A-0773-40798DF16736}"/>
              </a:ext>
            </a:extLst>
          </p:cNvPr>
          <p:cNvSpPr/>
          <p:nvPr/>
        </p:nvSpPr>
        <p:spPr>
          <a:xfrm flipH="1">
            <a:off x="4976237" y="4968541"/>
            <a:ext cx="3105788" cy="3229803"/>
          </a:xfrm>
          <a:prstGeom prst="snip1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cxnSp>
        <p:nvCxnSpPr>
          <p:cNvPr id="46" name="Connector: Elbow 45">
            <a:extLst>
              <a:ext uri="{FF2B5EF4-FFF2-40B4-BE49-F238E27FC236}">
                <a16:creationId xmlns:a16="http://schemas.microsoft.com/office/drawing/2014/main" id="{7E20087D-04E1-4CA1-78EC-8F7B001328FD}"/>
              </a:ext>
            </a:extLst>
          </p:cNvPr>
          <p:cNvCxnSpPr>
            <a:stCxn id="17" idx="4"/>
          </p:cNvCxnSpPr>
          <p:nvPr/>
        </p:nvCxnSpPr>
        <p:spPr>
          <a:xfrm rot="16200000" flipH="1">
            <a:off x="4220368" y="4385050"/>
            <a:ext cx="913323" cy="89313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944EF1BE-C9C8-1530-9BCD-87F7B5710BDD}"/>
              </a:ext>
            </a:extLst>
          </p:cNvPr>
          <p:cNvSpPr txBox="1"/>
          <p:nvPr/>
        </p:nvSpPr>
        <p:spPr>
          <a:xfrm>
            <a:off x="4761894" y="5429280"/>
            <a:ext cx="3105788" cy="2554545"/>
          </a:xfrm>
          <a:prstGeom prst="rect">
            <a:avLst/>
          </a:prstGeom>
          <a:noFill/>
        </p:spPr>
        <p:txBody>
          <a:bodyPr wrap="square" rtlCol="0">
            <a:spAutoFit/>
          </a:bodyPr>
          <a:lstStyle/>
          <a:p>
            <a:pPr marL="285750" indent="-285750" algn="ctr">
              <a:buFont typeface="Arial" panose="020B0604020202020204" pitchFamily="34" charset="0"/>
              <a:buChar char="•"/>
            </a:pPr>
            <a:r>
              <a:rPr lang="en-US" sz="2000" dirty="0"/>
              <a:t>Empowers the government to mathematically track price manipulation and accessibility issues on remote flight routes (Category II/III Route Dispersal Guidelines)</a:t>
            </a:r>
            <a:endParaRPr lang="en-I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6731-E9AC-0B81-3020-295FC430D46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917C2B-045E-DF1D-480D-820E4DDA1DD2}"/>
              </a:ext>
            </a:extLst>
          </p:cNvPr>
          <p:cNvGrpSpPr/>
          <p:nvPr/>
        </p:nvGrpSpPr>
        <p:grpSpPr>
          <a:xfrm>
            <a:off x="639737" y="0"/>
            <a:ext cx="16459200" cy="1714500"/>
            <a:chOff x="0" y="0"/>
            <a:chExt cx="21945600" cy="2286000"/>
          </a:xfrm>
        </p:grpSpPr>
        <p:sp>
          <p:nvSpPr>
            <p:cNvPr id="3" name="Freeform 3">
              <a:extLst>
                <a:ext uri="{FF2B5EF4-FFF2-40B4-BE49-F238E27FC236}">
                  <a16:creationId xmlns:a16="http://schemas.microsoft.com/office/drawing/2014/main" id="{7BE5D7FA-3930-B06E-273B-7BBB1B06E59C}"/>
                </a:ext>
              </a:extLst>
            </p:cNvPr>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4" name="TextBox 4">
              <a:extLst>
                <a:ext uri="{FF2B5EF4-FFF2-40B4-BE49-F238E27FC236}">
                  <a16:creationId xmlns:a16="http://schemas.microsoft.com/office/drawing/2014/main" id="{04A3DF8D-F3F8-8667-FDF9-58EDE2196A3A}"/>
                </a:ext>
              </a:extLst>
            </p:cNvPr>
            <p:cNvSpPr txBox="1"/>
            <p:nvPr/>
          </p:nvSpPr>
          <p:spPr>
            <a:xfrm>
              <a:off x="0" y="-38100"/>
              <a:ext cx="21945600" cy="2324100"/>
            </a:xfrm>
            <a:prstGeom prst="rect">
              <a:avLst/>
            </a:prstGeom>
          </p:spPr>
          <p:txBody>
            <a:bodyPr lIns="0" tIns="0" rIns="0" bIns="0" rtlCol="0" anchor="ctr"/>
            <a:lstStyle/>
            <a:p>
              <a:pPr algn="ctr">
                <a:lnSpc>
                  <a:spcPts val="7920"/>
                </a:lnSpc>
              </a:pPr>
              <a:r>
                <a:rPr lang="en-US" sz="6600" b="1" dirty="0">
                  <a:solidFill>
                    <a:srgbClr val="00B050"/>
                  </a:solidFill>
                  <a:latin typeface="Arimo Bold"/>
                  <a:ea typeface="Arimo Bold"/>
                  <a:cs typeface="Arimo Bold"/>
                  <a:sym typeface="Arimo Bold"/>
                </a:rPr>
                <a:t>Proof of Concept</a:t>
              </a:r>
            </a:p>
          </p:txBody>
        </p:sp>
      </p:grpSp>
      <p:grpSp>
        <p:nvGrpSpPr>
          <p:cNvPr id="6" name="Group 6">
            <a:extLst>
              <a:ext uri="{FF2B5EF4-FFF2-40B4-BE49-F238E27FC236}">
                <a16:creationId xmlns:a16="http://schemas.microsoft.com/office/drawing/2014/main" id="{A6DDED04-4721-5462-BB58-19B5E899E03D}"/>
              </a:ext>
            </a:extLst>
          </p:cNvPr>
          <p:cNvGrpSpPr/>
          <p:nvPr/>
        </p:nvGrpSpPr>
        <p:grpSpPr>
          <a:xfrm>
            <a:off x="6248400" y="9534525"/>
            <a:ext cx="5791200" cy="547688"/>
            <a:chOff x="0" y="0"/>
            <a:chExt cx="7721600" cy="730250"/>
          </a:xfrm>
        </p:grpSpPr>
        <p:sp>
          <p:nvSpPr>
            <p:cNvPr id="7" name="Freeform 7">
              <a:extLst>
                <a:ext uri="{FF2B5EF4-FFF2-40B4-BE49-F238E27FC236}">
                  <a16:creationId xmlns:a16="http://schemas.microsoft.com/office/drawing/2014/main" id="{6152FBDB-18ED-9D1B-63E7-347407D5CBD8}"/>
                </a:ext>
              </a:extLst>
            </p:cNvPr>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txBody>
            <a:bodyPr/>
            <a:lstStyle/>
            <a:p>
              <a:endParaRPr lang="en-IN" dirty="0"/>
            </a:p>
          </p:txBody>
        </p:sp>
        <p:sp>
          <p:nvSpPr>
            <p:cNvPr id="8" name="TextBox 8">
              <a:extLst>
                <a:ext uri="{FF2B5EF4-FFF2-40B4-BE49-F238E27FC236}">
                  <a16:creationId xmlns:a16="http://schemas.microsoft.com/office/drawing/2014/main" id="{7D96A406-6C13-AAE7-E362-BC8B37DB9790}"/>
                </a:ext>
              </a:extLst>
            </p:cNvPr>
            <p:cNvSpPr txBox="1"/>
            <p:nvPr/>
          </p:nvSpPr>
          <p:spPr>
            <a:xfrm>
              <a:off x="0" y="-19050"/>
              <a:ext cx="7721600" cy="749300"/>
            </a:xfrm>
            <a:prstGeom prst="rect">
              <a:avLst/>
            </a:prstGeom>
          </p:spPr>
          <p:txBody>
            <a:bodyPr lIns="0" tIns="0" rIns="0" bIns="0" rtlCol="0" anchor="ctr"/>
            <a:lstStyle/>
            <a:p>
              <a:pPr algn="ctr">
                <a:lnSpc>
                  <a:spcPts val="2160"/>
                </a:lnSpc>
              </a:pPr>
              <a:r>
                <a:rPr lang="en-US" sz="1800" dirty="0">
                  <a:solidFill>
                    <a:srgbClr val="898989"/>
                  </a:solidFill>
                  <a:latin typeface="Arimo"/>
                  <a:ea typeface="Arimo"/>
                  <a:cs typeface="Arimo"/>
                  <a:sym typeface="Arimo"/>
                </a:rPr>
                <a:t>@SIH Idea submission- Template</a:t>
              </a:r>
            </a:p>
          </p:txBody>
        </p:sp>
      </p:grpSp>
      <p:grpSp>
        <p:nvGrpSpPr>
          <p:cNvPr id="9" name="Group 9">
            <a:extLst>
              <a:ext uri="{FF2B5EF4-FFF2-40B4-BE49-F238E27FC236}">
                <a16:creationId xmlns:a16="http://schemas.microsoft.com/office/drawing/2014/main" id="{8BB5A5B2-98E2-4DEE-9111-92C0167EF863}"/>
              </a:ext>
            </a:extLst>
          </p:cNvPr>
          <p:cNvGrpSpPr/>
          <p:nvPr/>
        </p:nvGrpSpPr>
        <p:grpSpPr>
          <a:xfrm>
            <a:off x="13106400" y="9534525"/>
            <a:ext cx="4267200" cy="547688"/>
            <a:chOff x="0" y="0"/>
            <a:chExt cx="5689600" cy="730250"/>
          </a:xfrm>
        </p:grpSpPr>
        <p:sp>
          <p:nvSpPr>
            <p:cNvPr id="10" name="Freeform 10">
              <a:extLst>
                <a:ext uri="{FF2B5EF4-FFF2-40B4-BE49-F238E27FC236}">
                  <a16:creationId xmlns:a16="http://schemas.microsoft.com/office/drawing/2014/main" id="{485BECC4-3C06-8E56-3818-F603958C9672}"/>
                </a:ext>
              </a:extLst>
            </p:cNvPr>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11" name="TextBox 11">
              <a:extLst>
                <a:ext uri="{FF2B5EF4-FFF2-40B4-BE49-F238E27FC236}">
                  <a16:creationId xmlns:a16="http://schemas.microsoft.com/office/drawing/2014/main" id="{732100B6-97FF-A0D8-2000-3341332FAB8A}"/>
                </a:ext>
              </a:extLst>
            </p:cNvPr>
            <p:cNvSpPr txBox="1"/>
            <p:nvPr/>
          </p:nvSpPr>
          <p:spPr>
            <a:xfrm>
              <a:off x="0" y="-19050"/>
              <a:ext cx="5689600" cy="749300"/>
            </a:xfrm>
            <a:prstGeom prst="rect">
              <a:avLst/>
            </a:prstGeom>
          </p:spPr>
          <p:txBody>
            <a:bodyPr lIns="0" tIns="0" rIns="0" bIns="0" rtlCol="0" anchor="ctr"/>
            <a:lstStyle/>
            <a:p>
              <a:pPr algn="r">
                <a:lnSpc>
                  <a:spcPts val="2160"/>
                </a:lnSpc>
              </a:pPr>
              <a:r>
                <a:rPr lang="en-US" sz="1800" dirty="0">
                  <a:solidFill>
                    <a:srgbClr val="898989"/>
                  </a:solidFill>
                  <a:latin typeface="Arimo"/>
                  <a:ea typeface="Arimo"/>
                  <a:cs typeface="Arimo"/>
                  <a:sym typeface="Arimo"/>
                </a:rPr>
                <a:t>5</a:t>
              </a:r>
            </a:p>
          </p:txBody>
        </p:sp>
      </p:grpSp>
      <p:grpSp>
        <p:nvGrpSpPr>
          <p:cNvPr id="12" name="Group 12">
            <a:extLst>
              <a:ext uri="{FF2B5EF4-FFF2-40B4-BE49-F238E27FC236}">
                <a16:creationId xmlns:a16="http://schemas.microsoft.com/office/drawing/2014/main" id="{FE87452B-F8DD-07E5-AEED-CFA7588146D9}"/>
              </a:ext>
            </a:extLst>
          </p:cNvPr>
          <p:cNvGrpSpPr/>
          <p:nvPr/>
        </p:nvGrpSpPr>
        <p:grpSpPr>
          <a:xfrm>
            <a:off x="0" y="9532144"/>
            <a:ext cx="18288000" cy="754856"/>
            <a:chOff x="0" y="0"/>
            <a:chExt cx="24384000" cy="1006475"/>
          </a:xfrm>
        </p:grpSpPr>
        <p:sp>
          <p:nvSpPr>
            <p:cNvPr id="13" name="Freeform 13">
              <a:extLst>
                <a:ext uri="{FF2B5EF4-FFF2-40B4-BE49-F238E27FC236}">
                  <a16:creationId xmlns:a16="http://schemas.microsoft.com/office/drawing/2014/main" id="{86B84542-9E02-C311-B8E3-5A8884904E77}"/>
                </a:ext>
              </a:extLst>
            </p:cNvPr>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sp>
          <p:nvSpPr>
            <p:cNvPr id="14" name="TextBox 14">
              <a:extLst>
                <a:ext uri="{FF2B5EF4-FFF2-40B4-BE49-F238E27FC236}">
                  <a16:creationId xmlns:a16="http://schemas.microsoft.com/office/drawing/2014/main" id="{A46B18F0-5B07-1E18-054E-CAA35DC5FD53}"/>
                </a:ext>
              </a:extLst>
            </p:cNvPr>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dirty="0">
                  <a:solidFill>
                    <a:srgbClr val="FFFFFF"/>
                  </a:solidFill>
                  <a:latin typeface="Arimo"/>
                  <a:ea typeface="Arimo"/>
                  <a:cs typeface="Arimo"/>
                  <a:sym typeface="Arimo"/>
                </a:rPr>
                <a:t>@SIH Idea submission- Template</a:t>
              </a:r>
            </a:p>
          </p:txBody>
        </p:sp>
      </p:grpSp>
      <p:grpSp>
        <p:nvGrpSpPr>
          <p:cNvPr id="15" name="Group 15">
            <a:extLst>
              <a:ext uri="{FF2B5EF4-FFF2-40B4-BE49-F238E27FC236}">
                <a16:creationId xmlns:a16="http://schemas.microsoft.com/office/drawing/2014/main" id="{6C537072-8EAE-BBFC-AD89-DF270D015230}"/>
              </a:ext>
            </a:extLst>
          </p:cNvPr>
          <p:cNvGrpSpPr/>
          <p:nvPr/>
        </p:nvGrpSpPr>
        <p:grpSpPr>
          <a:xfrm>
            <a:off x="475612" y="359321"/>
            <a:ext cx="1915887" cy="1249099"/>
            <a:chOff x="0" y="0"/>
            <a:chExt cx="2554516" cy="1665465"/>
          </a:xfrm>
        </p:grpSpPr>
        <p:sp>
          <p:nvSpPr>
            <p:cNvPr id="16" name="Freeform 16" descr="Your startup LOGO">
              <a:extLst>
                <a:ext uri="{FF2B5EF4-FFF2-40B4-BE49-F238E27FC236}">
                  <a16:creationId xmlns:a16="http://schemas.microsoft.com/office/drawing/2014/main" id="{ADAA2E15-21AD-256F-EAA0-FCCA481FA891}"/>
                </a:ext>
              </a:extLst>
            </p:cNvPr>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7" name="TextBox 17">
              <a:extLst>
                <a:ext uri="{FF2B5EF4-FFF2-40B4-BE49-F238E27FC236}">
                  <a16:creationId xmlns:a16="http://schemas.microsoft.com/office/drawing/2014/main" id="{83465254-E9C5-B4C9-BEB3-E17BC280A2A9}"/>
                </a:ext>
              </a:extLst>
            </p:cNvPr>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a:t>
              </a:r>
            </a:p>
            <a:p>
              <a:pPr algn="ctr">
                <a:lnSpc>
                  <a:spcPts val="3240"/>
                </a:lnSpc>
              </a:pPr>
              <a:r>
                <a:rPr lang="en-US" sz="2800" dirty="0">
                  <a:solidFill>
                    <a:srgbClr val="000000"/>
                  </a:solidFill>
                  <a:latin typeface="Calibri (MS)"/>
                  <a:ea typeface="Calibri (MS)"/>
                  <a:cs typeface="Calibri (MS)"/>
                  <a:sym typeface="Calibri (MS)"/>
                </a:rPr>
                <a:t>Phantom</a:t>
              </a:r>
            </a:p>
            <a:p>
              <a:pPr algn="ctr">
                <a:lnSpc>
                  <a:spcPts val="3240"/>
                </a:lnSpc>
              </a:pPr>
              <a:r>
                <a:rPr lang="en-US" sz="2800" dirty="0">
                  <a:solidFill>
                    <a:srgbClr val="000000"/>
                  </a:solidFill>
                  <a:latin typeface="Calibri (MS)"/>
                  <a:ea typeface="Calibri (MS)"/>
                  <a:cs typeface="Calibri (MS)"/>
                  <a:sym typeface="Calibri (MS)"/>
                </a:rPr>
                <a:t>Troupe</a:t>
              </a:r>
            </a:p>
          </p:txBody>
        </p:sp>
      </p:grpSp>
      <p:sp>
        <p:nvSpPr>
          <p:cNvPr id="18" name="Freeform 18">
            <a:extLst>
              <a:ext uri="{FF2B5EF4-FFF2-40B4-BE49-F238E27FC236}">
                <a16:creationId xmlns:a16="http://schemas.microsoft.com/office/drawing/2014/main" id="{099D2697-0016-3C7C-4BC2-FC5EF4A7BE75}"/>
              </a:ext>
            </a:extLst>
          </p:cNvPr>
          <p:cNvSpPr/>
          <p:nvPr/>
        </p:nvSpPr>
        <p:spPr>
          <a:xfrm>
            <a:off x="15011453" y="1524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txBody>
          <a:bodyPr/>
          <a:lstStyle/>
          <a:p>
            <a:endParaRPr lang="en-IN" dirty="0"/>
          </a:p>
        </p:txBody>
      </p:sp>
      <p:graphicFrame>
        <p:nvGraphicFramePr>
          <p:cNvPr id="5" name="Diagram 4">
            <a:extLst>
              <a:ext uri="{FF2B5EF4-FFF2-40B4-BE49-F238E27FC236}">
                <a16:creationId xmlns:a16="http://schemas.microsoft.com/office/drawing/2014/main" id="{30F743A2-E132-1FF8-FD01-61E98CAC42A1}"/>
              </a:ext>
            </a:extLst>
          </p:cNvPr>
          <p:cNvGraphicFramePr/>
          <p:nvPr>
            <p:extLst>
              <p:ext uri="{D42A27DB-BD31-4B8C-83A1-F6EECF244321}">
                <p14:modId xmlns:p14="http://schemas.microsoft.com/office/powerpoint/2010/main" val="2913595074"/>
              </p:ext>
            </p:extLst>
          </p:nvPr>
        </p:nvGraphicFramePr>
        <p:xfrm>
          <a:off x="1189089" y="-1017640"/>
          <a:ext cx="15909818" cy="8662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19" name="Diagram 818">
            <a:extLst>
              <a:ext uri="{FF2B5EF4-FFF2-40B4-BE49-F238E27FC236}">
                <a16:creationId xmlns:a16="http://schemas.microsoft.com/office/drawing/2014/main" id="{710C31BE-39D6-9C03-43D5-8D0114DDF866}"/>
              </a:ext>
            </a:extLst>
          </p:cNvPr>
          <p:cNvGraphicFramePr/>
          <p:nvPr>
            <p:extLst>
              <p:ext uri="{D42A27DB-BD31-4B8C-83A1-F6EECF244321}">
                <p14:modId xmlns:p14="http://schemas.microsoft.com/office/powerpoint/2010/main" val="4161102897"/>
              </p:ext>
            </p:extLst>
          </p:nvPr>
        </p:nvGraphicFramePr>
        <p:xfrm>
          <a:off x="1189089" y="2863031"/>
          <a:ext cx="16361489" cy="821116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456003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grpSp>
      <p:grpSp>
        <p:nvGrpSpPr>
          <p:cNvPr id="4" name="Group 4"/>
          <p:cNvGrpSpPr/>
          <p:nvPr/>
        </p:nvGrpSpPr>
        <p:grpSpPr>
          <a:xfrm>
            <a:off x="1341120" y="32193"/>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FEASIBILITY AND VIABILITY</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dirty="0">
                  <a:solidFill>
                    <a:srgbClr val="FFFFFF"/>
                  </a:solidFill>
                  <a:latin typeface="Arimo Bold"/>
                  <a:ea typeface="Arimo Bold"/>
                  <a:cs typeface="Arimo Bold"/>
                  <a:sym typeface="Arimo Bold"/>
                </a:rPr>
                <a:t>6</a:t>
              </a:r>
            </a:p>
          </p:txBody>
        </p:sp>
      </p:grpSp>
      <p:grpSp>
        <p:nvGrpSpPr>
          <p:cNvPr id="10" name="Group 10"/>
          <p:cNvGrpSpPr/>
          <p:nvPr/>
        </p:nvGrpSpPr>
        <p:grpSpPr>
          <a:xfrm>
            <a:off x="6740999"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txBody>
            <a:bodyPr/>
            <a:lstStyle/>
            <a:p>
              <a:endParaRPr lang="en-IN" dirty="0"/>
            </a:p>
          </p:txBody>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dirty="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a:t>
              </a:r>
            </a:p>
            <a:p>
              <a:pPr algn="ctr">
                <a:lnSpc>
                  <a:spcPts val="3240"/>
                </a:lnSpc>
              </a:pPr>
              <a:r>
                <a:rPr lang="en-US" sz="2800" dirty="0">
                  <a:solidFill>
                    <a:srgbClr val="000000"/>
                  </a:solidFill>
                  <a:latin typeface="Calibri (MS)"/>
                  <a:ea typeface="Calibri (MS)"/>
                  <a:cs typeface="Calibri (MS)"/>
                  <a:sym typeface="Calibri (MS)"/>
                </a:rPr>
                <a:t>Phantom</a:t>
              </a:r>
            </a:p>
            <a:p>
              <a:pPr algn="ctr">
                <a:lnSpc>
                  <a:spcPts val="3240"/>
                </a:lnSpc>
              </a:pPr>
              <a:r>
                <a:rPr lang="en-US" sz="2800" dirty="0">
                  <a:solidFill>
                    <a:srgbClr val="000000"/>
                  </a:solidFill>
                  <a:latin typeface="Calibri (MS)"/>
                  <a:ea typeface="Calibri (MS)"/>
                  <a:cs typeface="Calibri (MS)"/>
                  <a:sym typeface="Calibri (MS)"/>
                </a:rPr>
                <a:t>Troupe</a:t>
              </a:r>
            </a:p>
          </p:txBody>
        </p:sp>
      </p:grpSp>
      <p:sp>
        <p:nvSpPr>
          <p:cNvPr id="17" name="Freeform 17"/>
          <p:cNvSpPr/>
          <p:nvPr/>
        </p:nvSpPr>
        <p:spPr>
          <a:xfrm>
            <a:off x="14942787" y="111671"/>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txBody>
          <a:bodyPr/>
          <a:lstStyle/>
          <a:p>
            <a:endParaRPr lang="en-IN" dirty="0"/>
          </a:p>
        </p:txBody>
      </p:sp>
      <p:sp>
        <p:nvSpPr>
          <p:cNvPr id="22" name="Rectangle 21">
            <a:extLst>
              <a:ext uri="{FF2B5EF4-FFF2-40B4-BE49-F238E27FC236}">
                <a16:creationId xmlns:a16="http://schemas.microsoft.com/office/drawing/2014/main" id="{C3490157-2C8D-47FC-E250-E0C20F3753B4}"/>
              </a:ext>
            </a:extLst>
          </p:cNvPr>
          <p:cNvSpPr/>
          <p:nvPr/>
        </p:nvSpPr>
        <p:spPr>
          <a:xfrm>
            <a:off x="1341120" y="2164080"/>
            <a:ext cx="7802880" cy="128714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BA54DCE2-F155-3A91-0BE7-25BB8BB601CA}"/>
              </a:ext>
            </a:extLst>
          </p:cNvPr>
          <p:cNvSpPr/>
          <p:nvPr/>
        </p:nvSpPr>
        <p:spPr>
          <a:xfrm>
            <a:off x="9144000" y="2164079"/>
            <a:ext cx="7802880" cy="12871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0EE0B24-73EE-4A29-AE70-5B07873E9378}"/>
              </a:ext>
            </a:extLst>
          </p:cNvPr>
          <p:cNvSpPr/>
          <p:nvPr/>
        </p:nvSpPr>
        <p:spPr>
          <a:xfrm>
            <a:off x="1341120" y="3451224"/>
            <a:ext cx="7802880" cy="538797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7" name="Rectangle 26">
            <a:extLst>
              <a:ext uri="{FF2B5EF4-FFF2-40B4-BE49-F238E27FC236}">
                <a16:creationId xmlns:a16="http://schemas.microsoft.com/office/drawing/2014/main" id="{147CDABF-8914-5740-92C8-2DB11865D48F}"/>
              </a:ext>
            </a:extLst>
          </p:cNvPr>
          <p:cNvSpPr/>
          <p:nvPr/>
        </p:nvSpPr>
        <p:spPr>
          <a:xfrm>
            <a:off x="9144000" y="3451224"/>
            <a:ext cx="7802880" cy="538797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28" name="TextBox 27">
            <a:extLst>
              <a:ext uri="{FF2B5EF4-FFF2-40B4-BE49-F238E27FC236}">
                <a16:creationId xmlns:a16="http://schemas.microsoft.com/office/drawing/2014/main" id="{0792DCE1-790C-4431-232B-98F8E7E72EC0}"/>
              </a:ext>
            </a:extLst>
          </p:cNvPr>
          <p:cNvSpPr txBox="1"/>
          <p:nvPr/>
        </p:nvSpPr>
        <p:spPr>
          <a:xfrm>
            <a:off x="3747831" y="2392152"/>
            <a:ext cx="2774889" cy="830997"/>
          </a:xfrm>
          <a:prstGeom prst="rect">
            <a:avLst/>
          </a:prstGeom>
          <a:noFill/>
        </p:spPr>
        <p:txBody>
          <a:bodyPr wrap="square" rtlCol="0">
            <a:spAutoFit/>
          </a:bodyPr>
          <a:lstStyle/>
          <a:p>
            <a:r>
              <a:rPr lang="en-IN" sz="4800" dirty="0"/>
              <a:t>Feasibility</a:t>
            </a:r>
          </a:p>
        </p:txBody>
      </p:sp>
      <p:sp>
        <p:nvSpPr>
          <p:cNvPr id="29" name="TextBox 28">
            <a:extLst>
              <a:ext uri="{FF2B5EF4-FFF2-40B4-BE49-F238E27FC236}">
                <a16:creationId xmlns:a16="http://schemas.microsoft.com/office/drawing/2014/main" id="{1A6746DA-E1D1-5F28-631A-32926664BD79}"/>
              </a:ext>
            </a:extLst>
          </p:cNvPr>
          <p:cNvSpPr txBox="1"/>
          <p:nvPr/>
        </p:nvSpPr>
        <p:spPr>
          <a:xfrm>
            <a:off x="11856720" y="2415440"/>
            <a:ext cx="2377439" cy="830997"/>
          </a:xfrm>
          <a:prstGeom prst="rect">
            <a:avLst/>
          </a:prstGeom>
          <a:noFill/>
        </p:spPr>
        <p:txBody>
          <a:bodyPr wrap="square" rtlCol="0">
            <a:spAutoFit/>
          </a:bodyPr>
          <a:lstStyle/>
          <a:p>
            <a:r>
              <a:rPr lang="en-IN" sz="4800" dirty="0"/>
              <a:t>Viability</a:t>
            </a:r>
          </a:p>
        </p:txBody>
      </p:sp>
      <p:sp>
        <p:nvSpPr>
          <p:cNvPr id="30" name="TextBox 29">
            <a:extLst>
              <a:ext uri="{FF2B5EF4-FFF2-40B4-BE49-F238E27FC236}">
                <a16:creationId xmlns:a16="http://schemas.microsoft.com/office/drawing/2014/main" id="{6ADF97C7-4894-AA9B-8A82-6D9C4726C577}"/>
              </a:ext>
            </a:extLst>
          </p:cNvPr>
          <p:cNvSpPr txBox="1"/>
          <p:nvPr/>
        </p:nvSpPr>
        <p:spPr>
          <a:xfrm>
            <a:off x="1341120" y="3870960"/>
            <a:ext cx="7513320" cy="4278094"/>
          </a:xfrm>
          <a:prstGeom prst="rect">
            <a:avLst/>
          </a:prstGeom>
          <a:noFill/>
        </p:spPr>
        <p:txBody>
          <a:bodyPr wrap="square" rtlCol="0">
            <a:spAutoFit/>
          </a:bodyPr>
          <a:lstStyle/>
          <a:p>
            <a:pPr marL="342900" indent="-342900">
              <a:buFont typeface="Arial" panose="020B0604020202020204" pitchFamily="34" charset="0"/>
              <a:buChar char="•"/>
            </a:pPr>
            <a:r>
              <a:rPr lang="en-IN" sz="2400" b="1" dirty="0"/>
              <a:t>WAF Penetration</a:t>
            </a:r>
            <a:r>
              <a:rPr lang="en-IN" dirty="0"/>
              <a:t>: </a:t>
            </a:r>
            <a:r>
              <a:rPr lang="en-IN" sz="2000" dirty="0"/>
              <a:t>Achieving high-frequency data extraction is entirely technically feasible. By bypassing standard HTTP client limitations and utilizing </a:t>
            </a:r>
            <a:r>
              <a:rPr lang="en-IN" sz="2000" dirty="0" err="1"/>
              <a:t>curl_cffi</a:t>
            </a:r>
            <a:r>
              <a:rPr lang="en-IN" sz="2000" dirty="0"/>
              <a:t> for TLS impersonation, the system penetrates enterprise firewalls at the cryptographic level.</a:t>
            </a:r>
          </a:p>
          <a:p>
            <a:pPr marL="342900" indent="-342900">
              <a:buFont typeface="Arial" panose="020B0604020202020204" pitchFamily="34" charset="0"/>
              <a:buChar char="•"/>
            </a:pPr>
            <a:r>
              <a:rPr lang="en-IN" sz="2400" b="1" dirty="0"/>
              <a:t>High-Velocity Processing</a:t>
            </a:r>
            <a:r>
              <a:rPr lang="en-IN" sz="2000" dirty="0"/>
              <a:t>: Handling millions of flight pricing records without system bloat is resolved via </a:t>
            </a:r>
            <a:r>
              <a:rPr lang="en-IN" sz="2000" dirty="0" err="1"/>
              <a:t>TimescaleDB</a:t>
            </a:r>
            <a:r>
              <a:rPr lang="en-IN" sz="2000" dirty="0"/>
              <a:t> </a:t>
            </a:r>
            <a:r>
              <a:rPr lang="en-IN" sz="2000" dirty="0" err="1"/>
              <a:t>hypertables</a:t>
            </a:r>
            <a:r>
              <a:rPr lang="en-IN" sz="2000" dirty="0"/>
              <a:t> and continuous aggregates, ensuring the database scales infinitely while dashboard queries remain instantaneous.</a:t>
            </a:r>
          </a:p>
          <a:p>
            <a:pPr marL="342900" indent="-342900">
              <a:buFont typeface="Arial" panose="020B0604020202020204" pitchFamily="34" charset="0"/>
              <a:buChar char="•"/>
            </a:pPr>
            <a:r>
              <a:rPr lang="en-US" sz="2400" b="1" dirty="0"/>
              <a:t>Econometric Computation</a:t>
            </a:r>
            <a:r>
              <a:rPr lang="en-US" sz="2000" dirty="0"/>
              <a:t>: Implementing the Rolling Year GEKS-</a:t>
            </a:r>
            <a:r>
              <a:rPr lang="en-US" sz="2000" dirty="0" err="1"/>
              <a:t>Törnqvist</a:t>
            </a:r>
            <a:r>
              <a:rPr lang="en-US" sz="2000" dirty="0"/>
              <a:t> (RYGEKS-T) formula in standard Python requires very low compute power compared to heavy machine learning, meaning the real-time index can be generated deterministically on standard government servers.</a:t>
            </a:r>
            <a:endParaRPr lang="en-IN" sz="2000" dirty="0"/>
          </a:p>
        </p:txBody>
      </p:sp>
      <p:sp>
        <p:nvSpPr>
          <p:cNvPr id="31" name="TextBox 30">
            <a:extLst>
              <a:ext uri="{FF2B5EF4-FFF2-40B4-BE49-F238E27FC236}">
                <a16:creationId xmlns:a16="http://schemas.microsoft.com/office/drawing/2014/main" id="{0EF4DAB8-3CAD-C052-8E94-ADFE6D93B967}"/>
              </a:ext>
            </a:extLst>
          </p:cNvPr>
          <p:cNvSpPr txBox="1"/>
          <p:nvPr/>
        </p:nvSpPr>
        <p:spPr>
          <a:xfrm>
            <a:off x="9433560" y="3726120"/>
            <a:ext cx="6675120" cy="5447645"/>
          </a:xfrm>
          <a:prstGeom prst="rect">
            <a:avLst/>
          </a:prstGeom>
          <a:noFill/>
        </p:spPr>
        <p:txBody>
          <a:bodyPr wrap="square" rtlCol="0">
            <a:spAutoFit/>
          </a:bodyPr>
          <a:lstStyle/>
          <a:p>
            <a:pPr marL="342900" indent="-342900">
              <a:buFont typeface="Arial" panose="020B0604020202020204" pitchFamily="34" charset="0"/>
              <a:buChar char="•"/>
            </a:pPr>
            <a:r>
              <a:rPr lang="en-IN" sz="2400" b="1" dirty="0"/>
              <a:t>Challenge</a:t>
            </a:r>
            <a:r>
              <a:rPr lang="en-IN" dirty="0"/>
              <a:t>: </a:t>
            </a:r>
            <a:r>
              <a:rPr lang="en-IN" sz="2000" dirty="0"/>
              <a:t>Continuous WAF Evolution. Airlines constantly deploy updates to bot-mitigation software (e.g., Cloudflare, Akamai). </a:t>
            </a:r>
          </a:p>
          <a:p>
            <a:pPr marL="342900" indent="-342900">
              <a:buFont typeface="Arial" panose="020B0604020202020204" pitchFamily="34" charset="0"/>
              <a:buChar char="•"/>
            </a:pPr>
            <a:r>
              <a:rPr lang="en-US" sz="2000" dirty="0"/>
              <a:t>API and Schema Volatility. Online Travel Aggregators (OTAs)    frequently redesign their interfaces, which traditionally breaks ingestion pipelines.</a:t>
            </a:r>
            <a:endParaRPr lang="en-IN" sz="2000" dirty="0"/>
          </a:p>
          <a:p>
            <a:pPr marL="342900" indent="-342900">
              <a:buFont typeface="Arial" panose="020B0604020202020204" pitchFamily="34" charset="0"/>
              <a:buChar char="•"/>
            </a:pPr>
            <a:r>
              <a:rPr lang="en-US" sz="2400" b="1" dirty="0"/>
              <a:t>Overcoming Strategy</a:t>
            </a:r>
            <a:r>
              <a:rPr lang="en-US" sz="2000" dirty="0"/>
              <a:t>: The impersonation layer is designed to be easily patched. As WAFs evolve, the cryptographic profiles are simply updated to match the exact TLS handshakes of the newest consumer web browsers, maintaining permanent network access.</a:t>
            </a:r>
          </a:p>
          <a:p>
            <a:pPr marL="342900" indent="-342900">
              <a:buFont typeface="Arial" panose="020B0604020202020204" pitchFamily="34" charset="0"/>
              <a:buChar char="•"/>
            </a:pPr>
            <a:r>
              <a:rPr lang="en-US" sz="2000" dirty="0"/>
              <a:t>A strictly decoupled data architecture. The extraction engine is completely isolated from the Polars cleaning pipeline. If an OTA changes its layout, engineers only update a tiny, modular parsing script rather than rebuilding the entire application.</a:t>
            </a:r>
          </a:p>
          <a:p>
            <a:pPr marL="342900" indent="-342900">
              <a:buFont typeface="Arial" panose="020B0604020202020204" pitchFamily="34" charset="0"/>
              <a:buChar char="•"/>
            </a:pP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1145700" y="-67356"/>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IMPACT AND BENEFITS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7</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933150" y="203226"/>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17" name="TextBox 17"/>
          <p:cNvSpPr txBox="1"/>
          <p:nvPr/>
        </p:nvSpPr>
        <p:spPr>
          <a:xfrm>
            <a:off x="956853" y="2395985"/>
            <a:ext cx="6985359" cy="641201"/>
          </a:xfrm>
          <a:prstGeom prst="rect">
            <a:avLst/>
          </a:prstGeom>
        </p:spPr>
        <p:txBody>
          <a:bodyPr lIns="0" tIns="0" rIns="0" bIns="0" rtlCol="0" anchor="t">
            <a:spAutoFit/>
          </a:bodyPr>
          <a:lstStyle/>
          <a:p>
            <a:pPr marL="760095" lvl="1" indent="-380048" algn="just">
              <a:lnSpc>
                <a:spcPts val="5040"/>
              </a:lnSpc>
              <a:buFont typeface="Arial"/>
              <a:buChar char="•"/>
            </a:pPr>
            <a:endParaRPr lang="en-US" sz="4200" dirty="0">
              <a:solidFill>
                <a:srgbClr val="000000"/>
              </a:solidFill>
              <a:latin typeface="Arial"/>
              <a:ea typeface="Arial"/>
              <a:cs typeface="Arial"/>
              <a:sym typeface="Arial"/>
            </a:endParaRPr>
          </a:p>
        </p:txBody>
      </p:sp>
      <p:sp>
        <p:nvSpPr>
          <p:cNvPr id="20" name="Parallelogram 19">
            <a:extLst>
              <a:ext uri="{FF2B5EF4-FFF2-40B4-BE49-F238E27FC236}">
                <a16:creationId xmlns:a16="http://schemas.microsoft.com/office/drawing/2014/main" id="{1459069A-BB54-1DEF-9ED9-7C059FA1EAA9}"/>
              </a:ext>
            </a:extLst>
          </p:cNvPr>
          <p:cNvSpPr/>
          <p:nvPr/>
        </p:nvSpPr>
        <p:spPr>
          <a:xfrm flipV="1">
            <a:off x="777240" y="2251295"/>
            <a:ext cx="7453341" cy="6339840"/>
          </a:xfrm>
          <a:prstGeom prst="parallelogram">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21" name="TextBox 20">
            <a:extLst>
              <a:ext uri="{FF2B5EF4-FFF2-40B4-BE49-F238E27FC236}">
                <a16:creationId xmlns:a16="http://schemas.microsoft.com/office/drawing/2014/main" id="{F8CB05E8-B786-1AA1-2CB2-174D766E3C90}"/>
              </a:ext>
            </a:extLst>
          </p:cNvPr>
          <p:cNvSpPr txBox="1"/>
          <p:nvPr/>
        </p:nvSpPr>
        <p:spPr>
          <a:xfrm>
            <a:off x="1145700" y="2434699"/>
            <a:ext cx="5826600" cy="1231106"/>
          </a:xfrm>
          <a:prstGeom prst="rect">
            <a:avLst/>
          </a:prstGeom>
          <a:noFill/>
        </p:spPr>
        <p:txBody>
          <a:bodyPr wrap="square" rtlCol="0">
            <a:spAutoFit/>
          </a:bodyPr>
          <a:lstStyle/>
          <a:p>
            <a:pPr algn="ctr"/>
            <a:r>
              <a:rPr lang="en-US" sz="2800" b="1" u="sng" dirty="0">
                <a:solidFill>
                  <a:schemeClr val="accent1"/>
                </a:solidFill>
                <a:uFill>
                  <a:solidFill>
                    <a:srgbClr val="244D7D"/>
                  </a:solidFill>
                </a:uFill>
                <a:latin typeface="Arial" pitchFamily="34" charset="0"/>
                <a:ea typeface="Arial" pitchFamily="34" charset="-122"/>
                <a:cs typeface="Arial" pitchFamily="34" charset="-120"/>
              </a:rPr>
              <a:t>Potential impact on the target audience</a:t>
            </a:r>
            <a:r>
              <a:rPr lang="en-US" sz="2800" b="1" dirty="0">
                <a:solidFill>
                  <a:schemeClr val="accent1"/>
                </a:solidFill>
                <a:uFill>
                  <a:solidFill>
                    <a:srgbClr val="244D7D"/>
                  </a:solidFill>
                </a:uFill>
                <a:latin typeface="Arial" pitchFamily="34" charset="0"/>
                <a:ea typeface="Arial" pitchFamily="34" charset="-122"/>
                <a:cs typeface="Arial" pitchFamily="34" charset="-120"/>
              </a:rPr>
              <a:t> </a:t>
            </a:r>
            <a:endParaRPr lang="en-US" sz="2800" b="1" u="sng" dirty="0">
              <a:solidFill>
                <a:schemeClr val="accent1"/>
              </a:solidFill>
              <a:uFill>
                <a:solidFill>
                  <a:srgbClr val="244D7D"/>
                </a:solidFill>
              </a:uFill>
              <a:latin typeface="Arial" pitchFamily="34" charset="0"/>
              <a:ea typeface="Arial" pitchFamily="34" charset="-122"/>
              <a:cs typeface="Arial" pitchFamily="34" charset="-120"/>
            </a:endParaRPr>
          </a:p>
          <a:p>
            <a:endParaRPr lang="en-IN" dirty="0"/>
          </a:p>
        </p:txBody>
      </p:sp>
      <p:sp>
        <p:nvSpPr>
          <p:cNvPr id="27" name="Parallelogram 26">
            <a:extLst>
              <a:ext uri="{FF2B5EF4-FFF2-40B4-BE49-F238E27FC236}">
                <a16:creationId xmlns:a16="http://schemas.microsoft.com/office/drawing/2014/main" id="{7FDD4E7A-817A-C320-63B7-F0D6A2F3526F}"/>
              </a:ext>
            </a:extLst>
          </p:cNvPr>
          <p:cNvSpPr/>
          <p:nvPr/>
        </p:nvSpPr>
        <p:spPr>
          <a:xfrm>
            <a:off x="9688959" y="2249469"/>
            <a:ext cx="7453341" cy="6339840"/>
          </a:xfrm>
          <a:prstGeom prst="parallelogram">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29" name="TextBox 28">
            <a:extLst>
              <a:ext uri="{FF2B5EF4-FFF2-40B4-BE49-F238E27FC236}">
                <a16:creationId xmlns:a16="http://schemas.microsoft.com/office/drawing/2014/main" id="{42BBB92A-507A-D3FF-D405-3D94E8B4C4F3}"/>
              </a:ext>
            </a:extLst>
          </p:cNvPr>
          <p:cNvSpPr txBox="1"/>
          <p:nvPr/>
        </p:nvSpPr>
        <p:spPr>
          <a:xfrm>
            <a:off x="11155680" y="2575560"/>
            <a:ext cx="5638800" cy="800219"/>
          </a:xfrm>
          <a:prstGeom prst="rect">
            <a:avLst/>
          </a:prstGeom>
          <a:noFill/>
        </p:spPr>
        <p:txBody>
          <a:bodyPr wrap="square" rtlCol="0">
            <a:spAutoFit/>
          </a:bodyPr>
          <a:lstStyle/>
          <a:p>
            <a:pPr algn="ctr"/>
            <a:r>
              <a:rPr lang="en-US" sz="2800" b="1" u="sng" dirty="0">
                <a:solidFill>
                  <a:srgbClr val="244D7D"/>
                </a:solidFill>
                <a:uFill>
                  <a:solidFill>
                    <a:srgbClr val="244D7D"/>
                  </a:solidFill>
                </a:uFill>
                <a:latin typeface="Arial" pitchFamily="34" charset="0"/>
                <a:ea typeface="Arial" pitchFamily="34" charset="-122"/>
                <a:cs typeface="Arial" pitchFamily="34" charset="-120"/>
              </a:rPr>
              <a:t>Benefits of the solution</a:t>
            </a:r>
          </a:p>
          <a:p>
            <a:pPr algn="ctr"/>
            <a:endParaRPr lang="en-IN" dirty="0"/>
          </a:p>
        </p:txBody>
      </p:sp>
      <p:sp>
        <p:nvSpPr>
          <p:cNvPr id="30" name="TextBox 29">
            <a:extLst>
              <a:ext uri="{FF2B5EF4-FFF2-40B4-BE49-F238E27FC236}">
                <a16:creationId xmlns:a16="http://schemas.microsoft.com/office/drawing/2014/main" id="{E0EC0BB5-EC46-5B18-DAA4-EC3E1B2DA8A3}"/>
              </a:ext>
            </a:extLst>
          </p:cNvPr>
          <p:cNvSpPr txBox="1"/>
          <p:nvPr/>
        </p:nvSpPr>
        <p:spPr>
          <a:xfrm>
            <a:off x="1392122" y="3591635"/>
            <a:ext cx="5044440" cy="1908215"/>
          </a:xfrm>
          <a:prstGeom prst="rect">
            <a:avLst/>
          </a:prstGeom>
          <a:noFill/>
        </p:spPr>
        <p:txBody>
          <a:bodyPr wrap="square" rtlCol="0">
            <a:spAutoFit/>
          </a:bodyPr>
          <a:lstStyle/>
          <a:p>
            <a:pPr marL="285750" indent="-285750" algn="ctr">
              <a:buFont typeface="Arial" panose="020B0604020202020204" pitchFamily="34" charset="0"/>
              <a:buChar char="•"/>
            </a:pPr>
            <a:r>
              <a:rPr lang="en-US" sz="2000" b="1" dirty="0" err="1">
                <a:latin typeface="Arial Bold" panose="020B0704020202020204" pitchFamily="34" charset="0"/>
                <a:cs typeface="Arial Bold" panose="020B0704020202020204" pitchFamily="34" charset="0"/>
              </a:rPr>
              <a:t>MoSPI</a:t>
            </a:r>
            <a:r>
              <a:rPr lang="en-US" sz="2000" b="1" dirty="0">
                <a:latin typeface="Arial Bold" panose="020B0704020202020204" pitchFamily="34" charset="0"/>
                <a:cs typeface="Arial Bold" panose="020B0704020202020204" pitchFamily="34" charset="0"/>
              </a:rPr>
              <a:t> and RBI economists gain a real-time, non-revisable inflation indicator and a deterministic 14-day statistical outlook with zero manual collection effort.</a:t>
            </a:r>
          </a:p>
          <a:p>
            <a:pPr algn="ctr"/>
            <a:endParaRPr lang="en-IN" dirty="0"/>
          </a:p>
        </p:txBody>
      </p:sp>
      <p:sp>
        <p:nvSpPr>
          <p:cNvPr id="31" name="TextBox 30">
            <a:extLst>
              <a:ext uri="{FF2B5EF4-FFF2-40B4-BE49-F238E27FC236}">
                <a16:creationId xmlns:a16="http://schemas.microsoft.com/office/drawing/2014/main" id="{FAC1B0B7-411D-AB15-DC46-25A69ECF4543}"/>
              </a:ext>
            </a:extLst>
          </p:cNvPr>
          <p:cNvSpPr txBox="1"/>
          <p:nvPr/>
        </p:nvSpPr>
        <p:spPr>
          <a:xfrm>
            <a:off x="2007004" y="5419389"/>
            <a:ext cx="5044440" cy="1292662"/>
          </a:xfrm>
          <a:prstGeom prst="rect">
            <a:avLst/>
          </a:prstGeom>
          <a:noFill/>
        </p:spPr>
        <p:txBody>
          <a:bodyPr wrap="square" rtlCol="0">
            <a:spAutoFit/>
          </a:bodyPr>
          <a:lstStyle/>
          <a:p>
            <a:pPr marL="285750" indent="-285750" algn="ctr">
              <a:buFont typeface="Arial" panose="020B0604020202020204" pitchFamily="34" charset="0"/>
              <a:buChar char="•"/>
            </a:pPr>
            <a:r>
              <a:rPr lang="en-US" sz="2000" b="1" dirty="0">
                <a:solidFill>
                  <a:srgbClr val="111111"/>
                </a:solidFill>
                <a:latin typeface="Arial Bold" panose="020B0704020202020204" pitchFamily="34" charset="0"/>
                <a:ea typeface="Arial" pitchFamily="34" charset="-122"/>
                <a:cs typeface="Arial Bold" panose="020B0704020202020204" pitchFamily="34" charset="0"/>
              </a:rPr>
              <a:t>Policymakers can track price manipulation and accessibility on remote routes.</a:t>
            </a:r>
          </a:p>
          <a:p>
            <a:pPr marL="285750" indent="-285750">
              <a:buFont typeface="Arial" panose="020B0604020202020204" pitchFamily="34" charset="0"/>
              <a:buChar char="•"/>
            </a:pPr>
            <a:endParaRPr lang="en-IN" dirty="0"/>
          </a:p>
        </p:txBody>
      </p:sp>
      <p:sp>
        <p:nvSpPr>
          <p:cNvPr id="32" name="TextBox 31">
            <a:extLst>
              <a:ext uri="{FF2B5EF4-FFF2-40B4-BE49-F238E27FC236}">
                <a16:creationId xmlns:a16="http://schemas.microsoft.com/office/drawing/2014/main" id="{9F049743-C87F-EB90-6C1A-4A2C42E15F3D}"/>
              </a:ext>
            </a:extLst>
          </p:cNvPr>
          <p:cNvSpPr txBox="1"/>
          <p:nvPr/>
        </p:nvSpPr>
        <p:spPr>
          <a:xfrm>
            <a:off x="2775852" y="6754536"/>
            <a:ext cx="5044440" cy="1292662"/>
          </a:xfrm>
          <a:prstGeom prst="rect">
            <a:avLst/>
          </a:prstGeom>
          <a:noFill/>
        </p:spPr>
        <p:txBody>
          <a:bodyPr wrap="square" rtlCol="0">
            <a:spAutoFit/>
          </a:bodyPr>
          <a:lstStyle/>
          <a:p>
            <a:pPr marL="285750" indent="-285750" algn="ctr">
              <a:buFont typeface="Arial" panose="020B0604020202020204" pitchFamily="34" charset="0"/>
              <a:buChar char="•"/>
            </a:pPr>
            <a:r>
              <a:rPr lang="en-US" sz="2000" dirty="0">
                <a:solidFill>
                  <a:srgbClr val="111111"/>
                </a:solidFill>
                <a:latin typeface="Arial Bold" panose="020B0704020202020204" pitchFamily="34" charset="0"/>
                <a:ea typeface="Arial" pitchFamily="34" charset="-122"/>
                <a:cs typeface="Arial Bold" panose="020B0704020202020204" pitchFamily="34" charset="0"/>
              </a:rPr>
              <a:t>Reactive, evidence-based monetary policy strengthens broader economic stability.</a:t>
            </a:r>
            <a:endParaRPr lang="en-US" sz="2000" dirty="0">
              <a:latin typeface="Arial Bold" panose="020B0704020202020204" pitchFamily="34" charset="0"/>
              <a:cs typeface="Arial Bold" panose="020B0704020202020204" pitchFamily="34" charset="0"/>
            </a:endParaRPr>
          </a:p>
          <a:p>
            <a:pPr marL="285750" indent="-285750">
              <a:buFont typeface="Arial" panose="020B0604020202020204" pitchFamily="34" charset="0"/>
              <a:buChar char="•"/>
            </a:pPr>
            <a:endParaRPr lang="en-IN" dirty="0"/>
          </a:p>
        </p:txBody>
      </p:sp>
      <p:sp>
        <p:nvSpPr>
          <p:cNvPr id="33" name="TextBox 32">
            <a:extLst>
              <a:ext uri="{FF2B5EF4-FFF2-40B4-BE49-F238E27FC236}">
                <a16:creationId xmlns:a16="http://schemas.microsoft.com/office/drawing/2014/main" id="{CE82C446-5B32-A224-A99C-4F3B99FE11DA}"/>
              </a:ext>
            </a:extLst>
          </p:cNvPr>
          <p:cNvSpPr txBox="1"/>
          <p:nvPr/>
        </p:nvSpPr>
        <p:spPr>
          <a:xfrm>
            <a:off x="10942320" y="3538582"/>
            <a:ext cx="5638800" cy="984885"/>
          </a:xfrm>
          <a:prstGeom prst="rect">
            <a:avLst/>
          </a:prstGeom>
          <a:noFill/>
        </p:spPr>
        <p:txBody>
          <a:bodyPr wrap="square" rtlCol="0">
            <a:spAutoFit/>
          </a:bodyPr>
          <a:lstStyle/>
          <a:p>
            <a:pPr marL="342900" indent="-342900" algn="ctr">
              <a:buFont typeface="Arial" panose="020B0604020202020204" pitchFamily="34" charset="0"/>
              <a:buChar char="•"/>
            </a:pPr>
            <a:r>
              <a:rPr lang="en-US" sz="2000" b="1" u="sng" dirty="0">
                <a:solidFill>
                  <a:srgbClr val="000000"/>
                </a:solidFill>
                <a:latin typeface="Arial Bold" panose="020B0704020202020204" pitchFamily="34" charset="0"/>
                <a:ea typeface="Arial"/>
                <a:cs typeface="Arial Bold" panose="020B0704020202020204" pitchFamily="34" charset="0"/>
                <a:sym typeface="Arial"/>
              </a:rPr>
              <a:t>Economic</a:t>
            </a:r>
            <a:r>
              <a:rPr lang="en-US" sz="2000" b="1" dirty="0">
                <a:solidFill>
                  <a:srgbClr val="000000"/>
                </a:solidFill>
                <a:latin typeface="Arial Bold" panose="020B0704020202020204" pitchFamily="34" charset="0"/>
                <a:ea typeface="Arial"/>
                <a:cs typeface="Arial Bold" panose="020B0704020202020204" pitchFamily="34" charset="0"/>
                <a:sym typeface="Arial"/>
              </a:rPr>
              <a:t>:</a:t>
            </a:r>
            <a:r>
              <a:rPr lang="en-US" sz="2000" dirty="0">
                <a:solidFill>
                  <a:srgbClr val="000000"/>
                </a:solidFill>
                <a:latin typeface="Arial Bold" panose="020B0704020202020204" pitchFamily="34" charset="0"/>
                <a:ea typeface="Arial"/>
                <a:cs typeface="Arial Bold" panose="020B0704020202020204" pitchFamily="34" charset="0"/>
                <a:sym typeface="Arial"/>
              </a:rPr>
              <a:t> Upgrades inflation tracking to international apex statistical standards.</a:t>
            </a:r>
          </a:p>
          <a:p>
            <a:endParaRPr lang="en-IN" dirty="0"/>
          </a:p>
        </p:txBody>
      </p:sp>
      <p:sp>
        <p:nvSpPr>
          <p:cNvPr id="34" name="TextBox 33">
            <a:extLst>
              <a:ext uri="{FF2B5EF4-FFF2-40B4-BE49-F238E27FC236}">
                <a16:creationId xmlns:a16="http://schemas.microsoft.com/office/drawing/2014/main" id="{14A85B3C-30B7-0849-C1D8-60A96A980F4A}"/>
              </a:ext>
            </a:extLst>
          </p:cNvPr>
          <p:cNvSpPr txBox="1"/>
          <p:nvPr/>
        </p:nvSpPr>
        <p:spPr>
          <a:xfrm>
            <a:off x="10104120" y="5143500"/>
            <a:ext cx="5958840" cy="1908215"/>
          </a:xfrm>
          <a:prstGeom prst="rect">
            <a:avLst/>
          </a:prstGeom>
          <a:noFill/>
        </p:spPr>
        <p:txBody>
          <a:bodyPr wrap="square" rtlCol="0">
            <a:spAutoFit/>
          </a:bodyPr>
          <a:lstStyle/>
          <a:p>
            <a:pPr marL="342900" indent="-342900" algn="ctr">
              <a:buFont typeface="Arial" panose="020B0604020202020204" pitchFamily="34" charset="0"/>
              <a:buChar char="•"/>
            </a:pPr>
            <a:r>
              <a:rPr lang="en-US" sz="2000" b="1" u="sng" dirty="0">
                <a:solidFill>
                  <a:srgbClr val="000000"/>
                </a:solidFill>
                <a:latin typeface="Arial Bold" panose="020B0704020202020204" pitchFamily="34" charset="0"/>
                <a:ea typeface="Arial"/>
                <a:cs typeface="Arial Bold" panose="020B0704020202020204" pitchFamily="34" charset="0"/>
                <a:sym typeface="Arial"/>
              </a:rPr>
              <a:t>Analytical</a:t>
            </a:r>
            <a:r>
              <a:rPr lang="en-US" sz="2000" b="1" dirty="0">
                <a:solidFill>
                  <a:srgbClr val="000000"/>
                </a:solidFill>
                <a:latin typeface="Arial Bold" panose="020B0704020202020204" pitchFamily="34" charset="0"/>
                <a:ea typeface="Arial"/>
                <a:cs typeface="Arial Bold" panose="020B0704020202020204" pitchFamily="34" charset="0"/>
                <a:sym typeface="Arial"/>
              </a:rPr>
              <a:t>: Features a deterministic algebraic simulator. You can input a 10% aviation fuel tax hike and instantly see the proportional mathematical transmission into the base fare index.</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0100" y="-106080"/>
            <a:ext cx="16459200" cy="1714500"/>
            <a:chOff x="0" y="0"/>
            <a:chExt cx="21945600" cy="2286000"/>
          </a:xfrm>
        </p:grpSpPr>
        <p:sp>
          <p:nvSpPr>
            <p:cNvPr id="3" name="Freeform 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txBody>
            <a:bodyPr/>
            <a:lstStyle/>
            <a:p>
              <a:endParaRPr lang="en-IN" dirty="0"/>
            </a:p>
          </p:txBody>
        </p:sp>
        <p:sp>
          <p:nvSpPr>
            <p:cNvPr id="4" name="TextBox 4"/>
            <p:cNvSpPr txBox="1"/>
            <p:nvPr/>
          </p:nvSpPr>
          <p:spPr>
            <a:xfrm>
              <a:off x="0" y="-28575"/>
              <a:ext cx="21945600" cy="2314575"/>
            </a:xfrm>
            <a:prstGeom prst="rect">
              <a:avLst/>
            </a:prstGeom>
          </p:spPr>
          <p:txBody>
            <a:bodyPr lIns="0" tIns="0" rIns="0" bIns="0" rtlCol="0" anchor="ctr"/>
            <a:lstStyle/>
            <a:p>
              <a:pPr algn="ctr">
                <a:lnSpc>
                  <a:spcPts val="6480"/>
                </a:lnSpc>
              </a:pPr>
              <a:r>
                <a:rPr lang="en-US" sz="5400" b="1" dirty="0">
                  <a:solidFill>
                    <a:srgbClr val="000000"/>
                  </a:solidFill>
                  <a:latin typeface="Times New Roman Bold"/>
                  <a:ea typeface="Times New Roman Bold"/>
                  <a:cs typeface="Times New Roman Bold"/>
                  <a:sym typeface="Times New Roman Bold"/>
                </a:rPr>
                <a:t>Business Model Canvas</a:t>
              </a:r>
            </a:p>
          </p:txBody>
        </p:sp>
      </p:grpSp>
      <p:grpSp>
        <p:nvGrpSpPr>
          <p:cNvPr id="5" name="Group 5"/>
          <p:cNvGrpSpPr/>
          <p:nvPr/>
        </p:nvGrpSpPr>
        <p:grpSpPr>
          <a:xfrm>
            <a:off x="1" y="1800149"/>
            <a:ext cx="18294201" cy="7527217"/>
            <a:chOff x="0" y="0"/>
            <a:chExt cx="24392268" cy="10036289"/>
          </a:xfrm>
        </p:grpSpPr>
        <p:sp>
          <p:nvSpPr>
            <p:cNvPr id="6" name="Freeform 6"/>
            <p:cNvSpPr/>
            <p:nvPr/>
          </p:nvSpPr>
          <p:spPr>
            <a:xfrm>
              <a:off x="0" y="0"/>
              <a:ext cx="24392255" cy="10036302"/>
            </a:xfrm>
            <a:custGeom>
              <a:avLst/>
              <a:gdLst/>
              <a:ahLst/>
              <a:cxnLst/>
              <a:rect l="l" t="t" r="r" b="b"/>
              <a:pathLst>
                <a:path w="24392255" h="10036302">
                  <a:moveTo>
                    <a:pt x="0" y="0"/>
                  </a:moveTo>
                  <a:lnTo>
                    <a:pt x="24392255" y="0"/>
                  </a:lnTo>
                  <a:lnTo>
                    <a:pt x="24392255" y="10036302"/>
                  </a:lnTo>
                  <a:lnTo>
                    <a:pt x="0" y="10036302"/>
                  </a:lnTo>
                  <a:lnTo>
                    <a:pt x="0" y="0"/>
                  </a:lnTo>
                  <a:close/>
                </a:path>
              </a:pathLst>
            </a:custGeom>
            <a:blipFill>
              <a:blip r:embed="rId3">
                <a:extLst>
                  <a:ext uri="{BEBA8EAE-BF5A-486C-A8C5-ECC9F3942E4B}">
                    <a14:imgProps xmlns:a14="http://schemas.microsoft.com/office/drawing/2010/main">
                      <a14:imgLayer r:embed="rId4">
                        <a14:imgEffect>
                          <a14:colorTemperature colorTemp="5300"/>
                        </a14:imgEffect>
                      </a14:imgLayer>
                    </a14:imgProps>
                  </a:ext>
                </a:extLst>
              </a:blip>
              <a:stretch>
                <a:fillRect b="-69724"/>
              </a:stretch>
            </a:blipFill>
          </p:spPr>
          <p:txBody>
            <a:bodyPr/>
            <a:lstStyle/>
            <a:p>
              <a:endParaRPr lang="en-IN" dirty="0"/>
            </a:p>
          </p:txBody>
        </p:sp>
      </p:grpSp>
      <p:grpSp>
        <p:nvGrpSpPr>
          <p:cNvPr id="7" name="Group 7"/>
          <p:cNvGrpSpPr/>
          <p:nvPr/>
        </p:nvGrpSpPr>
        <p:grpSpPr>
          <a:xfrm>
            <a:off x="6248400" y="9534525"/>
            <a:ext cx="5791200" cy="547688"/>
            <a:chOff x="0" y="0"/>
            <a:chExt cx="7721600" cy="730250"/>
          </a:xfrm>
        </p:grpSpPr>
        <p:sp>
          <p:nvSpPr>
            <p:cNvPr id="8" name="Freeform 8"/>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txBody>
            <a:bodyPr/>
            <a:lstStyle/>
            <a:p>
              <a:endParaRPr lang="en-IN" dirty="0"/>
            </a:p>
          </p:txBody>
        </p:sp>
        <p:sp>
          <p:nvSpPr>
            <p:cNvPr id="9" name="TextBox 9"/>
            <p:cNvSpPr txBox="1"/>
            <p:nvPr/>
          </p:nvSpPr>
          <p:spPr>
            <a:xfrm>
              <a:off x="0" y="-19050"/>
              <a:ext cx="7721600" cy="749300"/>
            </a:xfrm>
            <a:prstGeom prst="rect">
              <a:avLst/>
            </a:prstGeom>
          </p:spPr>
          <p:txBody>
            <a:bodyPr lIns="0" tIns="0" rIns="0" bIns="0" rtlCol="0" anchor="ctr"/>
            <a:lstStyle/>
            <a:p>
              <a:pPr algn="ctr">
                <a:lnSpc>
                  <a:spcPts val="2160"/>
                </a:lnSpc>
              </a:pPr>
              <a:r>
                <a:rPr lang="en-US" sz="1800" dirty="0">
                  <a:solidFill>
                    <a:srgbClr val="898989"/>
                  </a:solidFill>
                  <a:latin typeface="Arimo"/>
                  <a:ea typeface="Arimo"/>
                  <a:cs typeface="Arimo"/>
                  <a:sym typeface="Arimo"/>
                </a:rPr>
                <a:t>@SIH Idea submission- Template</a:t>
              </a:r>
            </a:p>
          </p:txBody>
        </p:sp>
      </p:grpSp>
      <p:grpSp>
        <p:nvGrpSpPr>
          <p:cNvPr id="10" name="Group 10"/>
          <p:cNvGrpSpPr/>
          <p:nvPr/>
        </p:nvGrpSpPr>
        <p:grpSpPr>
          <a:xfrm>
            <a:off x="13106400" y="9534525"/>
            <a:ext cx="4267200" cy="547688"/>
            <a:chOff x="0" y="0"/>
            <a:chExt cx="5689600" cy="730250"/>
          </a:xfrm>
        </p:grpSpPr>
        <p:sp>
          <p:nvSpPr>
            <p:cNvPr id="11" name="Freeform 11"/>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txBody>
            <a:bodyPr/>
            <a:lstStyle/>
            <a:p>
              <a:endParaRPr lang="en-IN" dirty="0"/>
            </a:p>
          </p:txBody>
        </p:sp>
        <p:sp>
          <p:nvSpPr>
            <p:cNvPr id="12" name="TextBox 12"/>
            <p:cNvSpPr txBox="1"/>
            <p:nvPr/>
          </p:nvSpPr>
          <p:spPr>
            <a:xfrm>
              <a:off x="0" y="-19050"/>
              <a:ext cx="5689600" cy="749300"/>
            </a:xfrm>
            <a:prstGeom prst="rect">
              <a:avLst/>
            </a:prstGeom>
          </p:spPr>
          <p:txBody>
            <a:bodyPr lIns="0" tIns="0" rIns="0" bIns="0" rtlCol="0" anchor="ctr"/>
            <a:lstStyle/>
            <a:p>
              <a:pPr algn="r">
                <a:lnSpc>
                  <a:spcPts val="2160"/>
                </a:lnSpc>
              </a:pPr>
              <a:r>
                <a:rPr lang="en-US" sz="1800" dirty="0">
                  <a:solidFill>
                    <a:srgbClr val="898989"/>
                  </a:solidFill>
                  <a:latin typeface="Arimo"/>
                  <a:ea typeface="Arimo"/>
                  <a:cs typeface="Arimo"/>
                  <a:sym typeface="Arimo"/>
                </a:rPr>
                <a:t>8</a:t>
              </a:r>
            </a:p>
          </p:txBody>
        </p:sp>
      </p:grpSp>
      <p:grpSp>
        <p:nvGrpSpPr>
          <p:cNvPr id="13" name="Group 13"/>
          <p:cNvGrpSpPr/>
          <p:nvPr/>
        </p:nvGrpSpPr>
        <p:grpSpPr>
          <a:xfrm>
            <a:off x="0" y="9532144"/>
            <a:ext cx="18288000" cy="754856"/>
            <a:chOff x="0" y="0"/>
            <a:chExt cx="24384000" cy="1006475"/>
          </a:xfrm>
        </p:grpSpPr>
        <p:sp>
          <p:nvSpPr>
            <p:cNvPr id="14" name="Freeform 14"/>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txBody>
            <a:bodyPr/>
            <a:lstStyle/>
            <a:p>
              <a:endParaRPr lang="en-IN" dirty="0"/>
            </a:p>
          </p:txBody>
        </p:sp>
        <p:sp>
          <p:nvSpPr>
            <p:cNvPr id="15" name="TextBox 15"/>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dirty="0">
                  <a:solidFill>
                    <a:srgbClr val="FFFFFF"/>
                  </a:solidFill>
                  <a:latin typeface="Arimo"/>
                  <a:ea typeface="Arimo"/>
                  <a:cs typeface="Arimo"/>
                  <a:sym typeface="Arimo"/>
                </a:rPr>
                <a:t>@SIH Idea submission- Template</a:t>
              </a:r>
            </a:p>
          </p:txBody>
        </p:sp>
      </p:grpSp>
      <p:grpSp>
        <p:nvGrpSpPr>
          <p:cNvPr id="16" name="Group 16"/>
          <p:cNvGrpSpPr/>
          <p:nvPr/>
        </p:nvGrpSpPr>
        <p:grpSpPr>
          <a:xfrm>
            <a:off x="475612" y="359321"/>
            <a:ext cx="1915887" cy="1249099"/>
            <a:chOff x="0" y="0"/>
            <a:chExt cx="2554516" cy="1665465"/>
          </a:xfrm>
        </p:grpSpPr>
        <p:sp>
          <p:nvSpPr>
            <p:cNvPr id="17" name="Freeform 17"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txBody>
            <a:bodyPr/>
            <a:lstStyle/>
            <a:p>
              <a:endParaRPr lang="en-IN" dirty="0"/>
            </a:p>
          </p:txBody>
        </p:sp>
        <p:sp>
          <p:nvSpPr>
            <p:cNvPr id="18" name="TextBox 18"/>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The</a:t>
              </a:r>
            </a:p>
            <a:p>
              <a:pPr algn="ctr">
                <a:lnSpc>
                  <a:spcPts val="3240"/>
                </a:lnSpc>
              </a:pPr>
              <a:r>
                <a:rPr lang="en-US" sz="2700" dirty="0">
                  <a:solidFill>
                    <a:srgbClr val="000000"/>
                  </a:solidFill>
                  <a:latin typeface="Calibri (MS)"/>
                  <a:ea typeface="Calibri (MS)"/>
                  <a:cs typeface="Calibri (MS)"/>
                  <a:sym typeface="Calibri (MS)"/>
                </a:rPr>
                <a:t>Phantom</a:t>
              </a:r>
            </a:p>
            <a:p>
              <a:pPr algn="ctr">
                <a:lnSpc>
                  <a:spcPts val="3240"/>
                </a:lnSpc>
              </a:pPr>
              <a:r>
                <a:rPr lang="en-US" sz="2700" dirty="0">
                  <a:solidFill>
                    <a:srgbClr val="000000"/>
                  </a:solidFill>
                  <a:latin typeface="Calibri (MS)"/>
                  <a:ea typeface="Calibri (MS)"/>
                  <a:cs typeface="Calibri (MS)"/>
                  <a:sym typeface="Calibri (MS)"/>
                </a:rPr>
                <a:t>Troupe</a:t>
              </a:r>
            </a:p>
          </p:txBody>
        </p:sp>
      </p:grpSp>
      <p:sp>
        <p:nvSpPr>
          <p:cNvPr id="19" name="Freeform 19"/>
          <p:cNvSpPr/>
          <p:nvPr/>
        </p:nvSpPr>
        <p:spPr>
          <a:xfrm>
            <a:off x="14919899"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5"/>
            <a:stretch>
              <a:fillRect/>
            </a:stretch>
          </a:blipFill>
        </p:spPr>
        <p:txBody>
          <a:bodyPr/>
          <a:lstStyle/>
          <a:p>
            <a:endParaRPr lang="en-IN" dirty="0"/>
          </a:p>
        </p:txBody>
      </p:sp>
      <p:sp>
        <p:nvSpPr>
          <p:cNvPr id="20" name="TextBox 19">
            <a:extLst>
              <a:ext uri="{FF2B5EF4-FFF2-40B4-BE49-F238E27FC236}">
                <a16:creationId xmlns:a16="http://schemas.microsoft.com/office/drawing/2014/main" id="{8CF0858D-DE8A-F785-109D-44CE8C648B1A}"/>
              </a:ext>
            </a:extLst>
          </p:cNvPr>
          <p:cNvSpPr txBox="1"/>
          <p:nvPr/>
        </p:nvSpPr>
        <p:spPr>
          <a:xfrm>
            <a:off x="958418" y="4120766"/>
            <a:ext cx="2866821" cy="1815882"/>
          </a:xfrm>
          <a:prstGeom prst="rect">
            <a:avLst/>
          </a:prstGeom>
          <a:noFill/>
        </p:spPr>
        <p:txBody>
          <a:bodyPr wrap="square" rtlCol="0">
            <a:spAutoFit/>
          </a:bodyPr>
          <a:lstStyle/>
          <a:p>
            <a:r>
              <a:rPr lang="en-US" sz="2800" dirty="0"/>
              <a:t>MoSPI (National Statistical Office), DGCA, Ministry of Civil Aviation.</a:t>
            </a:r>
            <a:endParaRPr lang="en-IN" sz="2800" dirty="0"/>
          </a:p>
        </p:txBody>
      </p:sp>
      <p:sp>
        <p:nvSpPr>
          <p:cNvPr id="21" name="TextBox 20">
            <a:extLst>
              <a:ext uri="{FF2B5EF4-FFF2-40B4-BE49-F238E27FC236}">
                <a16:creationId xmlns:a16="http://schemas.microsoft.com/office/drawing/2014/main" id="{5ECBCFBC-AB54-3482-E5CB-41F79F8E50DA}"/>
              </a:ext>
            </a:extLst>
          </p:cNvPr>
          <p:cNvSpPr txBox="1"/>
          <p:nvPr/>
        </p:nvSpPr>
        <p:spPr>
          <a:xfrm>
            <a:off x="4326521" y="4120766"/>
            <a:ext cx="2541668" cy="2246769"/>
          </a:xfrm>
          <a:prstGeom prst="rect">
            <a:avLst/>
          </a:prstGeom>
          <a:noFill/>
        </p:spPr>
        <p:txBody>
          <a:bodyPr wrap="square" rtlCol="0">
            <a:spAutoFit/>
          </a:bodyPr>
          <a:lstStyle/>
          <a:p>
            <a:r>
              <a:rPr lang="en-US" sz="2800" dirty="0"/>
              <a:t>High-frequency web extraction, econometric processing, API hosting.</a:t>
            </a:r>
            <a:endParaRPr lang="en-IN" sz="2800" dirty="0"/>
          </a:p>
        </p:txBody>
      </p:sp>
      <p:sp>
        <p:nvSpPr>
          <p:cNvPr id="22" name="TextBox 21">
            <a:extLst>
              <a:ext uri="{FF2B5EF4-FFF2-40B4-BE49-F238E27FC236}">
                <a16:creationId xmlns:a16="http://schemas.microsoft.com/office/drawing/2014/main" id="{BC39D5C1-C0FE-C994-716E-6E3F2D769E12}"/>
              </a:ext>
            </a:extLst>
          </p:cNvPr>
          <p:cNvSpPr txBox="1"/>
          <p:nvPr/>
        </p:nvSpPr>
        <p:spPr>
          <a:xfrm>
            <a:off x="7824497" y="4120766"/>
            <a:ext cx="2538919" cy="3539430"/>
          </a:xfrm>
          <a:prstGeom prst="rect">
            <a:avLst/>
          </a:prstGeom>
          <a:noFill/>
        </p:spPr>
        <p:txBody>
          <a:bodyPr wrap="square" rtlCol="0">
            <a:spAutoFit/>
          </a:bodyPr>
          <a:lstStyle/>
          <a:p>
            <a:r>
              <a:rPr lang="en-US" sz="2800" dirty="0"/>
              <a:t>Real-time, mathematically drift-free airfare inflation tracking and deterministic policy simulation.</a:t>
            </a:r>
            <a:endParaRPr lang="en-IN" sz="2800" dirty="0"/>
          </a:p>
        </p:txBody>
      </p:sp>
      <p:sp>
        <p:nvSpPr>
          <p:cNvPr id="23" name="TextBox 22">
            <a:extLst>
              <a:ext uri="{FF2B5EF4-FFF2-40B4-BE49-F238E27FC236}">
                <a16:creationId xmlns:a16="http://schemas.microsoft.com/office/drawing/2014/main" id="{7CC14FA8-0245-7779-1060-74186CF1F552}"/>
              </a:ext>
            </a:extLst>
          </p:cNvPr>
          <p:cNvSpPr txBox="1"/>
          <p:nvPr/>
        </p:nvSpPr>
        <p:spPr>
          <a:xfrm>
            <a:off x="11189850" y="4120766"/>
            <a:ext cx="2391877" cy="2677656"/>
          </a:xfrm>
          <a:prstGeom prst="rect">
            <a:avLst/>
          </a:prstGeom>
          <a:noFill/>
        </p:spPr>
        <p:txBody>
          <a:bodyPr wrap="square" rtlCol="0">
            <a:spAutoFit/>
          </a:bodyPr>
          <a:lstStyle/>
          <a:p>
            <a:r>
              <a:rPr lang="en-US" sz="2800" dirty="0"/>
              <a:t>B2G (Business to Government), seamless integration via FastAPI.</a:t>
            </a:r>
            <a:endParaRPr lang="en-IN" sz="2800" dirty="0"/>
          </a:p>
        </p:txBody>
      </p:sp>
      <p:sp>
        <p:nvSpPr>
          <p:cNvPr id="24" name="TextBox 23">
            <a:extLst>
              <a:ext uri="{FF2B5EF4-FFF2-40B4-BE49-F238E27FC236}">
                <a16:creationId xmlns:a16="http://schemas.microsoft.com/office/drawing/2014/main" id="{FFFD28BE-0EFF-EC50-306E-F9C16FD4AAF1}"/>
              </a:ext>
            </a:extLst>
          </p:cNvPr>
          <p:cNvSpPr txBox="1"/>
          <p:nvPr/>
        </p:nvSpPr>
        <p:spPr>
          <a:xfrm>
            <a:off x="14538035" y="4120766"/>
            <a:ext cx="2538919" cy="2246769"/>
          </a:xfrm>
          <a:prstGeom prst="rect">
            <a:avLst/>
          </a:prstGeom>
          <a:noFill/>
        </p:spPr>
        <p:txBody>
          <a:bodyPr wrap="square" rtlCol="0">
            <a:spAutoFit/>
          </a:bodyPr>
          <a:lstStyle/>
          <a:p>
            <a:r>
              <a:rPr lang="en-US" sz="2800" dirty="0"/>
              <a:t>Government policymakers, NSO statisticians, RBI analysts.</a:t>
            </a:r>
            <a:endParaRPr lang="en-IN" sz="2800" dirty="0"/>
          </a:p>
        </p:txBody>
      </p:sp>
      <p:sp>
        <p:nvSpPr>
          <p:cNvPr id="25" name="TextBox 24">
            <a:extLst>
              <a:ext uri="{FF2B5EF4-FFF2-40B4-BE49-F238E27FC236}">
                <a16:creationId xmlns:a16="http://schemas.microsoft.com/office/drawing/2014/main" id="{D9E4C008-1DA2-1042-9D23-BF1C50B67805}"/>
              </a:ext>
            </a:extLst>
          </p:cNvPr>
          <p:cNvSpPr txBox="1"/>
          <p:nvPr/>
        </p:nvSpPr>
        <p:spPr>
          <a:xfrm>
            <a:off x="4254052" y="7595545"/>
            <a:ext cx="2991750" cy="1569660"/>
          </a:xfrm>
          <a:prstGeom prst="rect">
            <a:avLst/>
          </a:prstGeom>
          <a:noFill/>
        </p:spPr>
        <p:txBody>
          <a:bodyPr wrap="square" rtlCol="0">
            <a:spAutoFit/>
          </a:bodyPr>
          <a:lstStyle/>
          <a:p>
            <a:r>
              <a:rPr lang="en-US" sz="2400" dirty="0"/>
              <a:t>Residential IP proxies, time-series database infrastructure, custom econometric scripts.</a:t>
            </a:r>
            <a:endParaRPr lang="en-IN" sz="2400" dirty="0"/>
          </a:p>
        </p:txBody>
      </p:sp>
      <p:sp>
        <p:nvSpPr>
          <p:cNvPr id="27" name="TextBox 26">
            <a:extLst>
              <a:ext uri="{FF2B5EF4-FFF2-40B4-BE49-F238E27FC236}">
                <a16:creationId xmlns:a16="http://schemas.microsoft.com/office/drawing/2014/main" id="{24D749AE-0451-BE66-644B-7C6376235A91}"/>
              </a:ext>
            </a:extLst>
          </p:cNvPr>
          <p:cNvSpPr txBox="1"/>
          <p:nvPr/>
        </p:nvSpPr>
        <p:spPr>
          <a:xfrm>
            <a:off x="11189849" y="7595545"/>
            <a:ext cx="2681793" cy="1200329"/>
          </a:xfrm>
          <a:prstGeom prst="rect">
            <a:avLst/>
          </a:prstGeom>
          <a:noFill/>
        </p:spPr>
        <p:txBody>
          <a:bodyPr wrap="square" rtlCol="0">
            <a:spAutoFit/>
          </a:bodyPr>
          <a:lstStyle/>
          <a:p>
            <a:r>
              <a:rPr lang="en-US" sz="2400" dirty="0"/>
              <a:t>Direct deployment to MoSPI intranet, secure API gateway.</a:t>
            </a:r>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5612" y="-25717"/>
            <a:ext cx="16459200" cy="1714500"/>
            <a:chOff x="0" y="0"/>
            <a:chExt cx="21945600" cy="2286000"/>
          </a:xfrm>
        </p:grpSpPr>
        <p:sp>
          <p:nvSpPr>
            <p:cNvPr id="3" name="Freeform 3"/>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4" name="TextBox 4"/>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National Scheme Alignments</a:t>
              </a:r>
            </a:p>
          </p:txBody>
        </p:sp>
      </p:grpSp>
      <p:sp>
        <p:nvSpPr>
          <p:cNvPr id="5" name="TextBox 5"/>
          <p:cNvSpPr txBox="1"/>
          <p:nvPr/>
        </p:nvSpPr>
        <p:spPr>
          <a:xfrm>
            <a:off x="1005840" y="1669733"/>
            <a:ext cx="16276320" cy="7473791"/>
          </a:xfrm>
          <a:prstGeom prst="rect">
            <a:avLst/>
          </a:prstGeom>
        </p:spPr>
        <p:txBody>
          <a:bodyPr lIns="0" tIns="0" rIns="0" bIns="0" rtlCol="0" anchor="t">
            <a:spAutoFit/>
          </a:bodyPr>
          <a:lstStyle/>
          <a:p>
            <a:pPr algn="l">
              <a:lnSpc>
                <a:spcPts val="5759"/>
              </a:lnSpc>
            </a:pPr>
            <a:r>
              <a:rPr lang="en-US" sz="4800">
                <a:solidFill>
                  <a:srgbClr val="000000"/>
                </a:solidFill>
                <a:latin typeface="Arimo"/>
                <a:ea typeface="Arimo"/>
                <a:cs typeface="Arimo"/>
                <a:sym typeface="Arimo"/>
              </a:rPr>
              <a:t>1. Government / National Alignment	</a:t>
            </a:r>
          </a:p>
          <a:p>
            <a:pPr algn="l">
              <a:lnSpc>
                <a:spcPts val="5759"/>
              </a:lnSpc>
            </a:pPr>
            <a:r>
              <a:rPr lang="en-US" sz="4800">
                <a:solidFill>
                  <a:srgbClr val="000000"/>
                </a:solidFill>
                <a:latin typeface="Arimo"/>
                <a:ea typeface="Arimo"/>
                <a:cs typeface="Arimo"/>
                <a:sym typeface="Arimo"/>
              </a:rPr>
              <a:t>•	Connect your solution with national missions:	</a:t>
            </a:r>
          </a:p>
          <a:p>
            <a:pPr algn="l">
              <a:lnSpc>
                <a:spcPts val="5759"/>
              </a:lnSpc>
            </a:pPr>
            <a:r>
              <a:rPr lang="en-US" sz="4800">
                <a:solidFill>
                  <a:srgbClr val="000000"/>
                </a:solidFill>
                <a:latin typeface="Arimo"/>
                <a:ea typeface="Arimo"/>
                <a:cs typeface="Arimo"/>
                <a:sym typeface="Arimo"/>
              </a:rPr>
              <a:t>•	Digital India	</a:t>
            </a:r>
          </a:p>
          <a:p>
            <a:pPr algn="l">
              <a:lnSpc>
                <a:spcPts val="5759"/>
              </a:lnSpc>
            </a:pPr>
            <a:r>
              <a:rPr lang="en-US" sz="4800">
                <a:solidFill>
                  <a:srgbClr val="000000"/>
                </a:solidFill>
                <a:latin typeface="Arimo"/>
                <a:ea typeface="Arimo"/>
                <a:cs typeface="Arimo"/>
                <a:sym typeface="Arimo"/>
              </a:rPr>
              <a:t>•	Smart Cities Mission</a:t>
            </a:r>
          </a:p>
          <a:p>
            <a:pPr algn="l">
              <a:lnSpc>
                <a:spcPts val="5759"/>
              </a:lnSpc>
            </a:pPr>
            <a:r>
              <a:rPr lang="en-US" sz="4800">
                <a:solidFill>
                  <a:srgbClr val="000000"/>
                </a:solidFill>
                <a:latin typeface="Arimo"/>
                <a:ea typeface="Arimo"/>
                <a:cs typeface="Arimo"/>
                <a:sym typeface="Arimo"/>
              </a:rPr>
              <a:t>•	Atmanirbhar Bharat	</a:t>
            </a:r>
          </a:p>
          <a:p>
            <a:pPr algn="l">
              <a:lnSpc>
                <a:spcPts val="5759"/>
              </a:lnSpc>
            </a:pPr>
            <a:r>
              <a:rPr lang="en-US" sz="4800">
                <a:solidFill>
                  <a:srgbClr val="000000"/>
                </a:solidFill>
                <a:latin typeface="Arimo"/>
                <a:ea typeface="Arimo"/>
                <a:cs typeface="Arimo"/>
                <a:sym typeface="Arimo"/>
              </a:rPr>
              <a:t>•	Swachh Bharat / Green India	</a:t>
            </a:r>
          </a:p>
          <a:p>
            <a:pPr algn="l">
              <a:lnSpc>
                <a:spcPts val="5759"/>
              </a:lnSpc>
            </a:pPr>
            <a:r>
              <a:rPr lang="en-US" sz="4800">
                <a:solidFill>
                  <a:srgbClr val="000000"/>
                </a:solidFill>
                <a:latin typeface="Arimo"/>
                <a:ea typeface="Arimo"/>
                <a:cs typeface="Arimo"/>
                <a:sym typeface="Arimo"/>
              </a:rPr>
              <a:t>•	AI for India 2.0</a:t>
            </a:r>
          </a:p>
        </p:txBody>
      </p:sp>
      <p:grpSp>
        <p:nvGrpSpPr>
          <p:cNvPr id="6" name="Group 6"/>
          <p:cNvGrpSpPr/>
          <p:nvPr/>
        </p:nvGrpSpPr>
        <p:grpSpPr>
          <a:xfrm>
            <a:off x="6248400" y="9534525"/>
            <a:ext cx="5791200" cy="547688"/>
            <a:chOff x="0" y="0"/>
            <a:chExt cx="7721600" cy="730250"/>
          </a:xfrm>
        </p:grpSpPr>
        <p:sp>
          <p:nvSpPr>
            <p:cNvPr id="7" name="Freeform 7"/>
            <p:cNvSpPr/>
            <p:nvPr/>
          </p:nvSpPr>
          <p:spPr>
            <a:xfrm>
              <a:off x="0" y="0"/>
              <a:ext cx="7721600" cy="730250"/>
            </a:xfrm>
            <a:custGeom>
              <a:avLst/>
              <a:gdLst/>
              <a:ahLst/>
              <a:cxnLst/>
              <a:rect l="l" t="t" r="r" b="b"/>
              <a:pathLst>
                <a:path w="7721600" h="730250">
                  <a:moveTo>
                    <a:pt x="0" y="0"/>
                  </a:moveTo>
                  <a:lnTo>
                    <a:pt x="7721600" y="0"/>
                  </a:lnTo>
                  <a:lnTo>
                    <a:pt x="7721600" y="730250"/>
                  </a:lnTo>
                  <a:lnTo>
                    <a:pt x="0" y="730250"/>
                  </a:lnTo>
                  <a:close/>
                </a:path>
              </a:pathLst>
            </a:custGeom>
            <a:blipFill>
              <a:blip r:embed="rId2">
                <a:alphaModFix amt="0"/>
              </a:blip>
              <a:stretch>
                <a:fillRect t="-156033" b="-156033"/>
              </a:stretch>
            </a:blipFill>
          </p:spPr>
        </p:sp>
        <p:sp>
          <p:nvSpPr>
            <p:cNvPr id="8" name="TextBox 8"/>
            <p:cNvSpPr txBox="1"/>
            <p:nvPr/>
          </p:nvSpPr>
          <p:spPr>
            <a:xfrm>
              <a:off x="0" y="-19050"/>
              <a:ext cx="7721600" cy="749300"/>
            </a:xfrm>
            <a:prstGeom prst="rect">
              <a:avLst/>
            </a:prstGeom>
          </p:spPr>
          <p:txBody>
            <a:bodyPr lIns="0" tIns="0" rIns="0" bIns="0" rtlCol="0" anchor="ctr"/>
            <a:lstStyle/>
            <a:p>
              <a:pPr algn="ctr">
                <a:lnSpc>
                  <a:spcPts val="2160"/>
                </a:lnSpc>
              </a:pPr>
              <a:r>
                <a:rPr lang="en-US" sz="1800">
                  <a:solidFill>
                    <a:srgbClr val="898989"/>
                  </a:solidFill>
                  <a:latin typeface="Arimo"/>
                  <a:ea typeface="Arimo"/>
                  <a:cs typeface="Arimo"/>
                  <a:sym typeface="Arimo"/>
                </a:rPr>
                <a:t>@SIH Idea submission- Template</a:t>
              </a:r>
            </a:p>
          </p:txBody>
        </p:sp>
      </p:grpSp>
      <p:grpSp>
        <p:nvGrpSpPr>
          <p:cNvPr id="9" name="Group 9"/>
          <p:cNvGrpSpPr/>
          <p:nvPr/>
        </p:nvGrpSpPr>
        <p:grpSpPr>
          <a:xfrm>
            <a:off x="13106400" y="9534525"/>
            <a:ext cx="4267200" cy="547688"/>
            <a:chOff x="0" y="0"/>
            <a:chExt cx="5689600" cy="730250"/>
          </a:xfrm>
        </p:grpSpPr>
        <p:sp>
          <p:nvSpPr>
            <p:cNvPr id="10" name="Freeform 10"/>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11" name="TextBox 11"/>
            <p:cNvSpPr txBox="1"/>
            <p:nvPr/>
          </p:nvSpPr>
          <p:spPr>
            <a:xfrm>
              <a:off x="0" y="-19050"/>
              <a:ext cx="5689600" cy="749300"/>
            </a:xfrm>
            <a:prstGeom prst="rect">
              <a:avLst/>
            </a:prstGeom>
          </p:spPr>
          <p:txBody>
            <a:bodyPr lIns="0" tIns="0" rIns="0" bIns="0" rtlCol="0" anchor="ctr"/>
            <a:lstStyle/>
            <a:p>
              <a:pPr algn="r">
                <a:lnSpc>
                  <a:spcPts val="2160"/>
                </a:lnSpc>
              </a:pPr>
              <a:r>
                <a:rPr lang="en-US" sz="1800">
                  <a:solidFill>
                    <a:srgbClr val="898989"/>
                  </a:solidFill>
                  <a:latin typeface="Arimo"/>
                  <a:ea typeface="Arimo"/>
                  <a:cs typeface="Arimo"/>
                  <a:sym typeface="Arimo"/>
                </a:rPr>
                <a:t>9</a:t>
              </a:r>
            </a:p>
          </p:txBody>
        </p:sp>
      </p:grpSp>
      <p:grpSp>
        <p:nvGrpSpPr>
          <p:cNvPr id="12" name="Group 12"/>
          <p:cNvGrpSpPr/>
          <p:nvPr/>
        </p:nvGrpSpPr>
        <p:grpSpPr>
          <a:xfrm>
            <a:off x="0" y="9532144"/>
            <a:ext cx="18288000" cy="754856"/>
            <a:chOff x="0" y="0"/>
            <a:chExt cx="24384000" cy="1006475"/>
          </a:xfrm>
        </p:grpSpPr>
        <p:sp>
          <p:nvSpPr>
            <p:cNvPr id="13" name="Freeform 1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sp>
          <p:nvSpPr>
            <p:cNvPr id="14" name="TextBox 14"/>
            <p:cNvSpPr txBox="1"/>
            <p:nvPr/>
          </p:nvSpPr>
          <p:spPr>
            <a:xfrm>
              <a:off x="0" y="-19050"/>
              <a:ext cx="24384000" cy="1025525"/>
            </a:xfrm>
            <a:prstGeom prst="rect">
              <a:avLst/>
            </a:prstGeom>
          </p:spPr>
          <p:txBody>
            <a:bodyPr lIns="50800" tIns="50800" rIns="50800" bIns="50800" rtlCol="0" anchor="ctr"/>
            <a:lstStyle/>
            <a:p>
              <a:pPr algn="ctr">
                <a:lnSpc>
                  <a:spcPts val="3240"/>
                </a:lnSpc>
              </a:pPr>
              <a:r>
                <a:rPr lang="en-US" sz="2700">
                  <a:solidFill>
                    <a:srgbClr val="FFFFFF"/>
                  </a:solidFill>
                  <a:latin typeface="Arimo"/>
                  <a:ea typeface="Arimo"/>
                  <a:cs typeface="Arimo"/>
                  <a:sym typeface="Arimo"/>
                </a:rPr>
                <a:t>@SIH Idea submission- Template</a:t>
              </a:r>
            </a:p>
          </p:txBody>
        </p:sp>
      </p:grpSp>
      <p:grpSp>
        <p:nvGrpSpPr>
          <p:cNvPr id="15" name="Group 15"/>
          <p:cNvGrpSpPr/>
          <p:nvPr/>
        </p:nvGrpSpPr>
        <p:grpSpPr>
          <a:xfrm>
            <a:off x="475612" y="359321"/>
            <a:ext cx="1915887" cy="1249099"/>
            <a:chOff x="0" y="0"/>
            <a:chExt cx="2554516" cy="1665465"/>
          </a:xfrm>
        </p:grpSpPr>
        <p:sp>
          <p:nvSpPr>
            <p:cNvPr id="16" name="Freeform 16"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7" name="TextBox 17"/>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8" name="Freeform 18"/>
          <p:cNvSpPr/>
          <p:nvPr/>
        </p:nvSpPr>
        <p:spPr>
          <a:xfrm>
            <a:off x="14874122" y="86742"/>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32144"/>
            <a:ext cx="18288000" cy="754856"/>
            <a:chOff x="0" y="0"/>
            <a:chExt cx="24384000" cy="1006475"/>
          </a:xfrm>
        </p:grpSpPr>
        <p:sp>
          <p:nvSpPr>
            <p:cNvPr id="3" name="Freeform 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4" name="Group 4"/>
          <p:cNvGrpSpPr/>
          <p:nvPr/>
        </p:nvGrpSpPr>
        <p:grpSpPr>
          <a:xfrm>
            <a:off x="475612" y="0"/>
            <a:ext cx="16459200" cy="1714500"/>
            <a:chOff x="0" y="0"/>
            <a:chExt cx="21945600" cy="2286000"/>
          </a:xfrm>
        </p:grpSpPr>
        <p:sp>
          <p:nvSpPr>
            <p:cNvPr id="5" name="Freeform 5"/>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2">
                <a:alphaModFix amt="0"/>
              </a:blip>
              <a:stretch>
                <a:fillRect t="-137056" b="-137056"/>
              </a:stretch>
            </a:blipFill>
          </p:spPr>
        </p:sp>
        <p:sp>
          <p:nvSpPr>
            <p:cNvPr id="6" name="TextBox 6"/>
            <p:cNvSpPr txBox="1"/>
            <p:nvPr/>
          </p:nvSpPr>
          <p:spPr>
            <a:xfrm>
              <a:off x="0" y="-28575"/>
              <a:ext cx="21945600" cy="2314575"/>
            </a:xfrm>
            <a:prstGeom prst="rect">
              <a:avLst/>
            </a:prstGeom>
          </p:spPr>
          <p:txBody>
            <a:bodyPr lIns="0" tIns="0" rIns="0" bIns="0" rtlCol="0" anchor="ctr"/>
            <a:lstStyle/>
            <a:p>
              <a:pPr algn="ctr">
                <a:lnSpc>
                  <a:spcPts val="6480"/>
                </a:lnSpc>
              </a:pPr>
              <a:r>
                <a:rPr lang="en-US" sz="5400" b="1">
                  <a:solidFill>
                    <a:srgbClr val="000000"/>
                  </a:solidFill>
                  <a:latin typeface="Times New Roman Bold"/>
                  <a:ea typeface="Times New Roman Bold"/>
                  <a:cs typeface="Times New Roman Bold"/>
                  <a:sym typeface="Times New Roman Bold"/>
                </a:rPr>
                <a:t>RESEARCH  AND REFERENCES</a:t>
              </a:r>
            </a:p>
          </p:txBody>
        </p:sp>
      </p:grpSp>
      <p:grpSp>
        <p:nvGrpSpPr>
          <p:cNvPr id="7" name="Group 7"/>
          <p:cNvGrpSpPr/>
          <p:nvPr/>
        </p:nvGrpSpPr>
        <p:grpSpPr>
          <a:xfrm>
            <a:off x="13106400" y="9534525"/>
            <a:ext cx="4267200" cy="547688"/>
            <a:chOff x="0" y="0"/>
            <a:chExt cx="5689600" cy="730250"/>
          </a:xfrm>
        </p:grpSpPr>
        <p:sp>
          <p:nvSpPr>
            <p:cNvPr id="8" name="Freeform 8"/>
            <p:cNvSpPr/>
            <p:nvPr/>
          </p:nvSpPr>
          <p:spPr>
            <a:xfrm>
              <a:off x="0" y="0"/>
              <a:ext cx="5689600" cy="730250"/>
            </a:xfrm>
            <a:custGeom>
              <a:avLst/>
              <a:gdLst/>
              <a:ahLst/>
              <a:cxnLst/>
              <a:rect l="l" t="t" r="r" b="b"/>
              <a:pathLst>
                <a:path w="5689600" h="730250">
                  <a:moveTo>
                    <a:pt x="0" y="0"/>
                  </a:moveTo>
                  <a:lnTo>
                    <a:pt x="5689600" y="0"/>
                  </a:lnTo>
                  <a:lnTo>
                    <a:pt x="5689600" y="730250"/>
                  </a:lnTo>
                  <a:lnTo>
                    <a:pt x="0" y="730250"/>
                  </a:lnTo>
                  <a:close/>
                </a:path>
              </a:pathLst>
            </a:custGeom>
            <a:blipFill>
              <a:blip r:embed="rId2">
                <a:alphaModFix amt="0"/>
              </a:blip>
              <a:stretch>
                <a:fillRect t="-101813" b="-101813"/>
              </a:stretch>
            </a:blipFill>
          </p:spPr>
        </p:sp>
        <p:sp>
          <p:nvSpPr>
            <p:cNvPr id="9" name="TextBox 9"/>
            <p:cNvSpPr txBox="1"/>
            <p:nvPr/>
          </p:nvSpPr>
          <p:spPr>
            <a:xfrm>
              <a:off x="0" y="-19050"/>
              <a:ext cx="5689600" cy="749300"/>
            </a:xfrm>
            <a:prstGeom prst="rect">
              <a:avLst/>
            </a:prstGeom>
          </p:spPr>
          <p:txBody>
            <a:bodyPr lIns="0" tIns="0" rIns="0" bIns="0" rtlCol="0" anchor="ctr"/>
            <a:lstStyle/>
            <a:p>
              <a:pPr algn="r">
                <a:lnSpc>
                  <a:spcPts val="2160"/>
                </a:lnSpc>
              </a:pPr>
              <a:r>
                <a:rPr lang="en-US" sz="1800" b="1">
                  <a:solidFill>
                    <a:srgbClr val="FFFFFF"/>
                  </a:solidFill>
                  <a:latin typeface="Arimo Bold"/>
                  <a:ea typeface="Arimo Bold"/>
                  <a:cs typeface="Arimo Bold"/>
                  <a:sym typeface="Arimo Bold"/>
                </a:rPr>
                <a:t>10</a:t>
              </a:r>
            </a:p>
          </p:txBody>
        </p:sp>
      </p:grpSp>
      <p:grpSp>
        <p:nvGrpSpPr>
          <p:cNvPr id="10" name="Group 10"/>
          <p:cNvGrpSpPr/>
          <p:nvPr/>
        </p:nvGrpSpPr>
        <p:grpSpPr>
          <a:xfrm>
            <a:off x="6972300" y="9534525"/>
            <a:ext cx="4806001" cy="547688"/>
            <a:chOff x="0" y="0"/>
            <a:chExt cx="6408001" cy="730250"/>
          </a:xfrm>
        </p:grpSpPr>
        <p:sp>
          <p:nvSpPr>
            <p:cNvPr id="11" name="Freeform 11"/>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2" name="TextBox 12"/>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3" name="Group 13"/>
          <p:cNvGrpSpPr/>
          <p:nvPr/>
        </p:nvGrpSpPr>
        <p:grpSpPr>
          <a:xfrm>
            <a:off x="475612" y="359321"/>
            <a:ext cx="1915887" cy="1249099"/>
            <a:chOff x="0" y="0"/>
            <a:chExt cx="2554516" cy="1665465"/>
          </a:xfrm>
        </p:grpSpPr>
        <p:sp>
          <p:nvSpPr>
            <p:cNvPr id="14" name="Freeform 14" descr="Your startup LOGO"/>
            <p:cNvSpPr/>
            <p:nvPr/>
          </p:nvSpPr>
          <p:spPr>
            <a:xfrm>
              <a:off x="0" y="0"/>
              <a:ext cx="2554478" cy="1665478"/>
            </a:xfrm>
            <a:custGeom>
              <a:avLst/>
              <a:gdLst/>
              <a:ahLst/>
              <a:cxnLst/>
              <a:rect l="l" t="t" r="r" b="b"/>
              <a:pathLst>
                <a:path w="2554478" h="1665478">
                  <a:moveTo>
                    <a:pt x="0" y="832739"/>
                  </a:moveTo>
                  <a:cubicBezTo>
                    <a:pt x="0" y="372872"/>
                    <a:pt x="571881" y="0"/>
                    <a:pt x="1277239" y="0"/>
                  </a:cubicBezTo>
                  <a:cubicBezTo>
                    <a:pt x="1982597" y="0"/>
                    <a:pt x="2554478" y="372872"/>
                    <a:pt x="2554478" y="832739"/>
                  </a:cubicBezTo>
                  <a:cubicBezTo>
                    <a:pt x="2554478" y="1292606"/>
                    <a:pt x="1982597" y="1665478"/>
                    <a:pt x="1277239" y="1665478"/>
                  </a:cubicBezTo>
                  <a:cubicBezTo>
                    <a:pt x="571881" y="1665478"/>
                    <a:pt x="0" y="1292606"/>
                    <a:pt x="0" y="832739"/>
                  </a:cubicBezTo>
                  <a:close/>
                </a:path>
              </a:pathLst>
            </a:custGeom>
            <a:solidFill>
              <a:srgbClr val="FFFFFF"/>
            </a:solidFill>
            <a:ln w="38100" cap="sq">
              <a:solidFill>
                <a:srgbClr val="8064A2"/>
              </a:solidFill>
              <a:prstDash val="solid"/>
              <a:miter/>
            </a:ln>
          </p:spPr>
        </p:sp>
        <p:sp>
          <p:nvSpPr>
            <p:cNvPr id="15" name="TextBox 15"/>
            <p:cNvSpPr txBox="1"/>
            <p:nvPr/>
          </p:nvSpPr>
          <p:spPr>
            <a:xfrm>
              <a:off x="0" y="-57150"/>
              <a:ext cx="2554516" cy="1722615"/>
            </a:xfrm>
            <a:prstGeom prst="rect">
              <a:avLst/>
            </a:prstGeom>
          </p:spPr>
          <p:txBody>
            <a:bodyPr lIns="50800" tIns="50800" rIns="50800" bIns="50800" rtlCol="0" anchor="ctr"/>
            <a:lstStyle/>
            <a:p>
              <a:pPr algn="ctr">
                <a:lnSpc>
                  <a:spcPts val="3240"/>
                </a:lnSpc>
              </a:pPr>
              <a:r>
                <a:rPr lang="en-US" sz="2800" dirty="0">
                  <a:solidFill>
                    <a:srgbClr val="000000"/>
                  </a:solidFill>
                  <a:latin typeface="Calibri (MS)"/>
                  <a:ea typeface="Calibri (MS)"/>
                  <a:cs typeface="Calibri (MS)"/>
                  <a:sym typeface="Calibri (MS)"/>
                </a:rPr>
                <a:t>The Phantom Troupe</a:t>
              </a:r>
            </a:p>
          </p:txBody>
        </p:sp>
      </p:grpSp>
      <p:sp>
        <p:nvSpPr>
          <p:cNvPr id="16" name="Freeform 16"/>
          <p:cNvSpPr/>
          <p:nvPr/>
        </p:nvSpPr>
        <p:spPr>
          <a:xfrm>
            <a:off x="14900910" y="0"/>
            <a:ext cx="3051136" cy="1443918"/>
          </a:xfrm>
          <a:custGeom>
            <a:avLst/>
            <a:gdLst/>
            <a:ahLst/>
            <a:cxnLst/>
            <a:rect l="l" t="t" r="r" b="b"/>
            <a:pathLst>
              <a:path w="3051136" h="1443918">
                <a:moveTo>
                  <a:pt x="0" y="0"/>
                </a:moveTo>
                <a:lnTo>
                  <a:pt x="3051136" y="0"/>
                </a:lnTo>
                <a:lnTo>
                  <a:pt x="3051136" y="1443918"/>
                </a:lnTo>
                <a:lnTo>
                  <a:pt x="0" y="1443918"/>
                </a:lnTo>
                <a:lnTo>
                  <a:pt x="0" y="0"/>
                </a:lnTo>
                <a:close/>
              </a:path>
            </a:pathLst>
          </a:custGeom>
          <a:blipFill>
            <a:blip r:embed="rId3"/>
            <a:stretch>
              <a:fillRect/>
            </a:stretch>
          </a:blipFill>
        </p:spPr>
      </p:sp>
      <p:sp>
        <p:nvSpPr>
          <p:cNvPr id="17" name="TextBox 17"/>
          <p:cNvSpPr txBox="1"/>
          <p:nvPr/>
        </p:nvSpPr>
        <p:spPr>
          <a:xfrm>
            <a:off x="1005840" y="4219565"/>
            <a:ext cx="13895070" cy="712441"/>
          </a:xfrm>
          <a:prstGeom prst="rect">
            <a:avLst/>
          </a:prstGeom>
        </p:spPr>
        <p:txBody>
          <a:bodyPr lIns="0" tIns="0" rIns="0" bIns="0" rtlCol="0" anchor="t">
            <a:spAutoFit/>
          </a:bodyPr>
          <a:lstStyle/>
          <a:p>
            <a:pPr marL="760095" lvl="1" indent="-380048" algn="just">
              <a:lnSpc>
                <a:spcPts val="5040"/>
              </a:lnSpc>
              <a:buFont typeface="Arial"/>
              <a:buChar char="•"/>
            </a:pPr>
            <a:r>
              <a:rPr lang="en-US" sz="4200">
                <a:solidFill>
                  <a:srgbClr val="000000"/>
                </a:solidFill>
                <a:latin typeface="Arial"/>
                <a:ea typeface="Arial"/>
                <a:cs typeface="Arial"/>
                <a:sym typeface="Arial"/>
              </a:rPr>
              <a:t>Details / Links of the reference and research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916</Words>
  <Application>Microsoft Office PowerPoint</Application>
  <PresentationFormat>Custom</PresentationFormat>
  <Paragraphs>125</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Arial Bold</vt:lpstr>
      <vt:lpstr>Arimo</vt:lpstr>
      <vt:lpstr>Arimo Bold</vt:lpstr>
      <vt:lpstr>Calibri</vt:lpstr>
      <vt:lpstr>Calibri (MS)</vt:lpstr>
      <vt:lpstr>Garamond Bold</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Ratna Lokrey</dc:creator>
  <cp:lastModifiedBy>Ratna Lokrey</cp:lastModifiedBy>
  <cp:revision>214</cp:revision>
  <dcterms:modified xsi:type="dcterms:W3CDTF">2026-09-21T14:24:09Z</dcterms:modified>
</cp:coreProperties>
</file>